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f4fbbe1-4278-8ccb-2cd5-ecd58b4255dd}">
          <p14:sldIdLst>
            <p14:sldId id="256"/>
            <p14:sldId id="257"/>
          </p14:sldIdLst>
        </p14:section>
        <p14:section name="Architecture" id="{2e29fff4-ce5d-9d96-6a0c-1d186ed39d13}">
          <p14:sldIdLst>
            <p14:sldId id="258"/>
          </p14:sldIdLst>
        </p14:section>
        <p14:section name="How each phase works" id="{8367c337-a529-7826-e7c2-d120f52ac36c}">
          <p14:sldIdLst>
            <p14:sldId id="259"/>
            <p14:sldId id="260"/>
            <p14:sldId id="261"/>
            <p14:sldId id="262"/>
          </p14:sldIdLst>
        </p14:section>
        <p14:section name="The error engine" id="{09029e81-e40c-ad74-9fa1-4ee954fad1c6}">
          <p14:sldIdLst>
            <p14:sldId id="263"/>
            <p14:sldId id="264"/>
            <p14:sldId id="265"/>
          </p14:sldIdLst>
        </p14:section>
        <p14:section name="Results" id="{ba16e48c-92de-4031-9eb5-f3ed02cc812a}">
          <p14:sldIdLst>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EF0F3"/>
                </a:solidFill>
                <a:latin typeface="+mn-lt"/>
              </a:defRPr>
            </a:pPr>
            <a:r>
              <a:rPr sz="1400" b="0" i="0" u="none" strike="noStrike">
                <a:solidFill>
                  <a:srgbClr val="EEF0F3"/>
                </a:solidFill>
                <a:latin typeface="+mn-lt"/>
              </a:rPr>
              <a:t>Hint policies on 23 typo cases</a:t>
            </a:r>
          </a:p>
        </c:rich>
      </c:tx>
      <c:layout/>
      <c:overlay val="0"/>
    </c:title>
    <c:autoTitleDeleted val="0"/>
    <c:plotArea>
      <c:layout/>
      <c:barChart>
        <c:barDir val="col"/>
        <c:grouping val="clustered"/>
        <c:varyColors val="0"/>
        <c:ser>
          <c:idx val="0"/>
          <c:order val="0"/>
          <c:tx>
            <c:strRef>
              <c:f>Sheet1!$B$1</c:f>
              <c:strCache>
                <c:ptCount val="1"/>
                <c:pt idx="0">
                  <c:v>Right suggestion</c:v>
                </c:pt>
              </c:strCache>
            </c:strRef>
          </c:tx>
          <c:spPr>
            <a:solidFill>
              <a:srgbClr val="4CC38A"/>
            </a:solidFill>
            <a:effectLst/>
          </c:spPr>
          <c:invertIfNegative val="0"/>
          <c:dLbls>
            <c:numFmt formatCode="#,##0" sourceLinked="0"/>
            <c:txPr>
              <a:bodyPr/>
              <a:lstStyle/>
              <a:p>
                <a:pPr>
                  <a:defRPr b="0" i="0" strike="noStrike" sz="1200" u="none">
                    <a:solidFill>
                      <a:srgbClr val="EEF0F3"/>
                    </a:solidFill>
                    <a:latin typeface="+mn-lt"/>
                  </a:defRPr>
                </a:pPr>
              </a:p>
            </c:txPr>
            <c:showLegendKey val="0"/>
            <c:showVal val="1"/>
            <c:showCatName val="0"/>
            <c:showSerName val="0"/>
            <c:showPercent val="0"/>
            <c:showBubbleSize val="0"/>
            <c:showLeaderLines val="0"/>
          </c:dLbls>
          <c:cat>
            <c:multiLvlStrRef>
              <c:f>Sheet1!$A$2:$A$5</c:f>
              <c:multiLvlStrCache>
                <c:ptCount val="4"/>
                <c:lvl>
                  <c:pt idx="0">
                    <c:v>1 edit</c:v>
                  </c:pt>
                  <c:pt idx="1">
                    <c:v>Shipped</c:v>
                  </c:pt>
                  <c:pt idx="2">
                    <c:v>2 edits</c:v>
                  </c:pt>
                  <c:pt idx="3">
                    <c:v>3 edits</c:v>
                  </c:pt>
                </c:lvl>
              </c:multiLvlStrCache>
            </c:multiLvlStrRef>
          </c:cat>
          <c:val>
            <c:numRef>
              <c:f>Sheet1!$B$2:$B$5</c:f>
              <c:numCache>
                <c:formatCode>General</c:formatCode>
                <c:ptCount val="4"/>
                <c:pt idx="0">
                  <c:v>10</c:v>
                </c:pt>
                <c:pt idx="1">
                  <c:v>12</c:v>
                </c:pt>
                <c:pt idx="2">
                  <c:v>13</c:v>
                </c:pt>
                <c:pt idx="3">
                  <c:v>13</c:v>
                </c:pt>
              </c:numCache>
            </c:numRef>
          </c:val>
        </c:ser>
        <c:ser>
          <c:idx val="1"/>
          <c:order val="1"/>
          <c:tx>
            <c:strRef>
              <c:f>Sheet1!$C$1</c:f>
              <c:strCache>
                <c:ptCount val="1"/>
                <c:pt idx="0">
                  <c:v>Wrong suggestion</c:v>
                </c:pt>
              </c:strCache>
            </c:strRef>
          </c:tx>
          <c:spPr>
            <a:solidFill>
              <a:srgbClr val="EF6F5E"/>
            </a:solidFill>
            <a:effectLst/>
          </c:spPr>
          <c:invertIfNegative val="0"/>
          <c:dLbls>
            <c:numFmt formatCode="#,##0" sourceLinked="0"/>
            <c:txPr>
              <a:bodyPr/>
              <a:lstStyle/>
              <a:p>
                <a:pPr>
                  <a:defRPr b="0" i="0" strike="noStrike" sz="1200" u="none">
                    <a:solidFill>
                      <a:srgbClr val="EEF0F3"/>
                    </a:solidFill>
                    <a:latin typeface="+mn-lt"/>
                  </a:defRPr>
                </a:pPr>
              </a:p>
            </c:txPr>
            <c:showLegendKey val="0"/>
            <c:showVal val="1"/>
            <c:showCatName val="0"/>
            <c:showSerName val="0"/>
            <c:showPercent val="0"/>
            <c:showBubbleSize val="0"/>
            <c:showLeaderLines val="0"/>
          </c:dLbls>
          <c:cat>
            <c:multiLvlStrRef>
              <c:f>Sheet1!$A$2:$A$5</c:f>
              <c:multiLvlStrCache>
                <c:ptCount val="4"/>
                <c:lvl>
                  <c:pt idx="0">
                    <c:v>1 edit</c:v>
                  </c:pt>
                  <c:pt idx="1">
                    <c:v>Shipped</c:v>
                  </c:pt>
                  <c:pt idx="2">
                    <c:v>2 edits</c:v>
                  </c:pt>
                  <c:pt idx="3">
                    <c:v>3 edits</c:v>
                  </c:pt>
                </c:lvl>
              </c:multiLvlStrCache>
            </c:multiLvlStrRef>
          </c:cat>
          <c:val>
            <c:numRef>
              <c:f>Sheet1!$C$2:$C$5</c:f>
              <c:numCache>
                <c:formatCode>General</c:formatCode>
                <c:ptCount val="4"/>
                <c:pt idx="0">
                  <c:v>8</c:v>
                </c:pt>
                <c:pt idx="1">
                  <c:v>6</c:v>
                </c:pt>
                <c:pt idx="2">
                  <c:v>9</c:v>
                </c:pt>
                <c:pt idx="3">
                  <c:v>10</c:v>
                </c:pt>
              </c:numCache>
            </c:numRef>
          </c:val>
        </c:ser>
        <c:dLbls>
          <c:numFmt formatCode="#,##0" sourceLinked="0"/>
          <c:txPr>
            <a:bodyPr/>
            <a:lstStyle/>
            <a:p>
              <a:pPr>
                <a:defRPr b="0" i="0" strike="noStrike" sz="1200" u="none">
                  <a:solidFill>
                    <a:srgbClr val="EEF0F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AA1AD"/>
                </a:solidFill>
                <a:latin typeface="+mn-lt"/>
              </a:defRPr>
            </a:pPr>
            <a:endParaRPr lang="en-US"/>
          </a:p>
        </c:txPr>
        <c:crossAx val="2094734552"/>
        <c:crosses val="autoZero"/>
        <c:auto val="1"/>
        <c:lblAlgn val="ctr"/>
        <c:noMultiLvlLbl val="1"/>
      </c:catAx>
      <c:valAx>
        <c:axId val="2094734552"/>
        <c:scaling>
          <c:orientation val="minMax"/>
          <c:max val="14"/>
        </c:scaling>
        <c:delete val="0"/>
        <c:axPos val="l"/>
        <c:majorGridlines>
          <c:spPr>
            <a:ln w="9525" cap="flat">
              <a:solidFill>
                <a:srgbClr val="2E344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9AA1AD"/>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EEF0F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EF0F3"/>
                </a:solidFill>
                <a:latin typeface="+mn-lt"/>
              </a:defRPr>
            </a:pPr>
            <a:r>
              <a:rPr sz="1400" b="0" i="0" u="none" strike="noStrike">
                <a:solidFill>
                  <a:srgbClr val="EEF0F3"/>
                </a:solidFill>
                <a:latin typeface="+mn-lt"/>
              </a:rPr>
              <a:t>Mistakes reported on the exact fix line (of 24)</a:t>
            </a:r>
          </a:p>
        </c:rich>
      </c:tx>
      <c:layout/>
      <c:overlay val="0"/>
    </c:title>
    <c:autoTitleDeleted val="0"/>
    <c:plotArea>
      <c:layout/>
      <c:barChart>
        <c:barDir val="bar"/>
        <c:grouping val="clustered"/>
        <c:varyColors val="0"/>
        <c:ser>
          <c:idx val="0"/>
          <c:order val="0"/>
          <c:tx>
            <c:strRef>
              <c:f>Sheet1!$B$1</c:f>
              <c:strCache>
                <c:ptCount val="1"/>
                <c:pt idx="0">
                  <c:v>Exact line</c:v>
                </c:pt>
              </c:strCache>
            </c:strRef>
          </c:tx>
          <c:spPr>
            <a:solidFill>
              <a:srgbClr val="9AA1AD"/>
            </a:solidFill>
            <a:effectLst/>
          </c:spPr>
          <c:invertIfNegative val="0"/>
          <c:dLbls>
            <c:numFmt formatCode="#,##0" sourceLinked="0"/>
            <c:txPr>
              <a:bodyPr/>
              <a:lstStyle/>
              <a:p>
                <a:pPr>
                  <a:defRPr b="0" i="0" strike="noStrike" sz="1400" u="none">
                    <a:solidFill>
                      <a:srgbClr val="EEF0F3"/>
                    </a:solidFill>
                    <a:latin typeface="+mn-lt"/>
                  </a:defRPr>
                </a:pPr>
              </a:p>
            </c:txPr>
            <c:showLegendKey val="0"/>
            <c:showVal val="1"/>
            <c:showCatName val="0"/>
            <c:showSerName val="0"/>
            <c:showPercent val="0"/>
            <c:showBubbleSize val="0"/>
            <c:showLeaderLines val="0"/>
          </c:dLbls>
          <c:dPt>
            <c:idx val="0"/>
            <c:invertIfNegative val="0"/>
            <c:bubble3D val="0"/>
            <c:spPr>
              <a:solidFill>
                <a:srgbClr val="9AA1AD"/>
              </a:solidFill>
              <a:effectLst/>
            </c:spPr>
          </c:dPt>
          <c:dPt>
            <c:idx val="1"/>
            <c:invertIfNegative val="0"/>
            <c:bubble3D val="0"/>
            <c:spPr>
              <a:solidFill>
                <a:srgbClr val="9AA1AD"/>
              </a:solidFill>
              <a:effectLst/>
            </c:spPr>
          </c:dPt>
          <c:dPt>
            <c:idx val="2"/>
            <c:invertIfNegative val="0"/>
            <c:bubble3D val="0"/>
            <c:spPr>
              <a:solidFill>
                <a:srgbClr val="4CC38A"/>
              </a:solidFill>
              <a:effectLst/>
            </c:spPr>
          </c:dPt>
          <c:cat>
            <c:multiLvlStrRef>
              <c:f>Sheet1!$A$2:$A$4</c:f>
              <c:multiLvlStrCache>
                <c:ptCount val="3"/>
                <c:lvl>
                  <c:pt idx="0">
                    <c:v>gcc 11.4</c:v>
                  </c:pt>
                  <c:pt idx="1">
                    <c:v>ErrorBuddy, detection point</c:v>
                  </c:pt>
                  <c:pt idx="2">
                    <c:v>ErrorBuddy, fix point (shipped)</c:v>
                  </c:pt>
                </c:lvl>
              </c:multiLvlStrCache>
            </c:multiLvlStrRef>
          </c:cat>
          <c:val>
            <c:numRef>
              <c:f>Sheet1!$B$2:$B$4</c:f>
              <c:numCache>
                <c:formatCode>General</c:formatCode>
                <c:ptCount val="3"/>
                <c:pt idx="0">
                  <c:v>20</c:v>
                </c:pt>
                <c:pt idx="1">
                  <c:v>21</c:v>
                </c:pt>
                <c:pt idx="2">
                  <c:v>24</c:v>
                </c:pt>
              </c:numCache>
            </c:numRef>
          </c:val>
        </c:ser>
        <c:dLbls>
          <c:numFmt formatCode="#,##0" sourceLinked="0"/>
          <c:txPr>
            <a:bodyPr/>
            <a:lstStyle/>
            <a:p>
              <a:pPr>
                <a:defRPr b="0" i="0" strike="noStrike" sz="1400" u="none">
                  <a:solidFill>
                    <a:srgbClr val="EEF0F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EEF0F3"/>
                </a:solidFill>
                <a:latin typeface="+mn-lt"/>
              </a:defRPr>
            </a:pPr>
            <a:endParaRPr lang="en-US"/>
          </a:p>
        </c:txPr>
        <c:crossAx val="2094734552"/>
        <c:crosses val="autoZero"/>
        <c:auto val="1"/>
        <c:lblAlgn val="ctr"/>
        <c:noMultiLvlLbl val="1"/>
      </c:catAx>
      <c:valAx>
        <c:axId val="2094734552"/>
        <c:scaling>
          <c:orientation val="minMax"/>
          <c:max val="24"/>
          <c:min val="0"/>
        </c:scaling>
        <c:delete val="0"/>
        <c:axPos val="b"/>
        <c:majorGridlines>
          <c:spPr>
            <a:ln w="9525" cap="flat">
              <a:solidFill>
                <a:srgbClr val="2E344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9AA1AD"/>
                </a:solidFill>
                <a:latin typeface="+mn-lt"/>
              </a:defRPr>
            </a:pPr>
            <a:endParaRPr lang="en-US"/>
          </a:p>
        </c:txPr>
        <c:crossAx val="2094734554"/>
        <c:crosses val="autoZero"/>
        <c:crossBetween val="between"/>
        <c:majorUnit val="4"/>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ErrorBuddy compiles a small beginner language into three-address code. This deck covers the architecture (which file does what) and how each phase works, ending with the case-study results and what is built versus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Beginners lose time on messages that point to the next line and use parser vocabulary. ErrorBuddy's whole design is organised around producing the message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three C++ files. The lexer is separate; the parser does syntax, semantic checks and code generation together (syntax-directed translation). Errors travel on one channel: a CompileError struct defined in lexer.h, thrown by any phase and caught once in main.cpp.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hand-written scanner. Line numbers recorded here are what later make accurate error lines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grammar rule is a C++ function. expression() calls term(), term() calls factor(). Writing it by hand gives full control over each error message, which is the point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Semantic checks run inside the parser at the moment each name or operator is seen. Values are tracked alongside declarations, which is only possible because the language has no input or loops.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output for examples/valid.txt: 12 instructions. Parentheses change grouping only and produce no instructions. Code for each statement is emitted as soon as it is parsed, so TAC stays in source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CompileError is defined in lexer.h so every phase can use it. The four fields are what make the output teachable: where, which phase, what, and how to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factorError() and unknownStatementError() follow the same idea: look at the previous and next token to name the likely cause instead of printing a generic syntax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Looser limits find more right answers but also more wrong ones. The shipped rule gives the fewest wrong suggestions (6) while still getting 12 right. Wrong means it suggested a name other than the intended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case_study/run_study.py runs 24 classic mistakes through gcc (equivalent C, -Wall -Wextra, first diagnostic) and through two ErrorBuddy variants. Reporting the line of the previous token for a missing semicolon is what moves ErrorBuddy from 21 to 24 exact lines. gcc missed division by a variable that is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playground does not reimplement anything; it shells out to the same compiler binary and recompiles as you type. Example buttons load the programs from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proposal targeted a beginner-C subset. What is implemented now is a smaller language (int, arithmetic, print) so every phase could be done properly. The right-hand column is planned work,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B Title">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B 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latin typeface="Courier New" pitchFamily="34" charset="0"/>
                <a:ea typeface="Courier New" pitchFamily="34" charset="-122"/>
                <a:cs typeface="Courier New" pitchFamily="34" charset="-120"/>
              </a:rPr>
              <a:t>ErrorBuddy · architecture &amp; working</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731520" y="1828800"/>
            <a:ext cx="5852160" cy="1097280"/>
          </a:xfrm>
          <a:prstGeom prst="rect">
            <a:avLst/>
          </a:prstGeom>
          <a:noFill/>
          <a:ln/>
        </p:spPr>
        <p:txBody>
          <a:bodyPr wrap="square" lIns="0" tIns="0" rIns="0" bIns="0" rtlCol="0" anchor="t"/>
          <a:lstStyle/>
          <a:p>
            <a:pPr indent="0" marL="0">
              <a:buNone/>
            </a:pPr>
            <a:r>
              <a:rPr lang="en-US" sz="6600" b="1" dirty="0">
                <a:solidFill>
                  <a:schemeClr val="tx1"/>
                </a:solidFill>
                <a:latin typeface="Cambria" pitchFamily="34" charset="0"/>
                <a:ea typeface="Cambria" pitchFamily="34" charset="-122"/>
                <a:cs typeface="Cambria" pitchFamily="34" charset="-120"/>
              </a:rPr>
              <a:t>Error</a:t>
            </a:r>
            <a:pPr indent="0" marL="0">
              <a:buNone/>
            </a:pPr>
            <a:r>
              <a:rPr lang="en-US" sz="6600" b="1" dirty="0">
                <a:solidFill>
                  <a:schemeClr val="accent1"/>
                </a:solidFill>
                <a:latin typeface="Cambria" pitchFamily="34" charset="0"/>
                <a:ea typeface="Cambria" pitchFamily="34" charset="-122"/>
                <a:cs typeface="Cambria" pitchFamily="34" charset="-120"/>
              </a:rPr>
              <a:t>Buddy</a:t>
            </a:r>
            <a:endParaRPr lang="en-US" sz="6600" dirty="0"/>
          </a:p>
        </p:txBody>
      </p:sp>
      <p:sp>
        <p:nvSpPr>
          <p:cNvPr id="3" name="text-2"/>
          <p:cNvSpPr txBox="1"/>
          <p:nvPr/>
        </p:nvSpPr>
        <p:spPr>
          <a:xfrm>
            <a:off x="731520" y="3017520"/>
            <a:ext cx="5486400" cy="914400"/>
          </a:xfrm>
          <a:prstGeom prst="rect">
            <a:avLst/>
          </a:prstGeom>
          <a:noFill/>
          <a:ln/>
        </p:spPr>
        <p:txBody>
          <a:bodyPr wrap="square" lIns="0" tIns="0" rIns="0" bIns="0" rtlCol="0" anchor="t"/>
          <a:lstStyle/>
          <a:p>
            <a:pPr indent="0" marL="0">
              <a:buNone/>
            </a:pPr>
            <a:r>
              <a:rPr lang="en-US" sz="2200" dirty="0">
                <a:solidFill>
                  <a:schemeClr val="tx2"/>
                </a:solidFill>
              </a:rPr>
              <a:t>How a beginner-friendly compiler is built, and how it works</a:t>
            </a:r>
            <a:endParaRPr lang="en-US" sz="2200" dirty="0"/>
          </a:p>
        </p:txBody>
      </p:sp>
      <p:sp>
        <p:nvSpPr>
          <p:cNvPr id="4" name="text-3"/>
          <p:cNvSpPr txBox="1"/>
          <p:nvPr/>
        </p:nvSpPr>
        <p:spPr>
          <a:xfrm>
            <a:off x="731520" y="4206240"/>
            <a:ext cx="5852160" cy="365760"/>
          </a:xfrm>
          <a:prstGeom prst="rect">
            <a:avLst/>
          </a:prstGeom>
          <a:noFill/>
          <a:ln/>
        </p:spPr>
        <p:txBody>
          <a:bodyPr wrap="square" lIns="0" tIns="0" rIns="0" bIns="0" rtlCol="0" anchor="t"/>
          <a:lstStyle/>
          <a:p>
            <a:pPr indent="0" marL="0">
              <a:buNone/>
            </a:pPr>
            <a:r>
              <a:rPr lang="en-US" sz="1300" dirty="0">
                <a:solidFill>
                  <a:schemeClr val="tx2"/>
                </a:solidFill>
                <a:latin typeface="Courier New" pitchFamily="34" charset="0"/>
                <a:ea typeface="Courier New" pitchFamily="34" charset="-122"/>
                <a:cs typeface="Courier New" pitchFamily="34" charset="-120"/>
              </a:rPr>
              <a:t>C++17 · standard library only · 5 phases · ~1,100 lines</a:t>
            </a:r>
            <a:endParaRPr lang="en-US" sz="1300" dirty="0"/>
          </a:p>
        </p:txBody>
      </p:sp>
      <p:sp>
        <p:nvSpPr>
          <p:cNvPr id="5" name="panel-4"/>
          <p:cNvSpPr/>
          <p:nvPr/>
        </p:nvSpPr>
        <p:spPr>
          <a:xfrm>
            <a:off x="6858000" y="1737360"/>
            <a:ext cx="4754880" cy="3200400"/>
          </a:xfrm>
          <a:prstGeom prst="roundRect">
            <a:avLst>
              <a:gd name="adj" fmla="val 2286"/>
            </a:avLst>
          </a:prstGeom>
          <a:solidFill>
            <a:srgbClr val="0B0D11"/>
          </a:solidFill>
          <a:ln w="12700">
            <a:solidFill>
              <a:schemeClr val="accent5"/>
            </a:solidFill>
            <a:prstDash val="solid"/>
          </a:ln>
        </p:spPr>
      </p:sp>
      <p:sp>
        <p:nvSpPr>
          <p:cNvPr id="6" name="text-5"/>
          <p:cNvSpPr txBox="1"/>
          <p:nvPr/>
        </p:nvSpPr>
        <p:spPr>
          <a:xfrm>
            <a:off x="7086600" y="1920240"/>
            <a:ext cx="4297680" cy="2834640"/>
          </a:xfrm>
          <a:prstGeom prst="rect">
            <a:avLst/>
          </a:prstGeom>
          <a:noFill/>
          <a:ln/>
        </p:spPr>
        <p:txBody>
          <a:bodyPr wrap="square" lIns="0" tIns="0" rIns="0" bIns="0" rtlCol="0" anchor="t"/>
          <a:lstStyle/>
          <a:p>
            <a:pPr indent="0" marL="0">
              <a:spcAft>
                <a:spcPts val="300"/>
              </a:spcAft>
              <a:buNone/>
            </a:pPr>
            <a:r>
              <a:rPr lang="en-US" sz="1400" dirty="0">
                <a:solidFill>
                  <a:schemeClr val="tx2"/>
                </a:solidFill>
                <a:latin typeface="Courier New" pitchFamily="34" charset="0"/>
                <a:ea typeface="Courier New" pitchFamily="34" charset="-122"/>
                <a:cs typeface="Courier New" pitchFamily="34" charset="-120"/>
              </a:rPr>
              <a:t>$ ./errorbuddy missing_semicolon.txt</a:t>
            </a:r>
            <a:endParaRPr lang="en-US" sz="1400" dirty="0"/>
          </a:p>
          <a:p>
            <a:pPr indent="0" marL="0">
              <a:spcAft>
                <a:spcPts val="300"/>
              </a:spcAft>
              <a:buNone/>
            </a:pPr>
            <a:r>
              <a:rPr lang="en-US" sz="1400" dirty="0">
                <a:solidFill>
                  <a:schemeClr val="tx1"/>
                </a:solidFill>
                <a:latin typeface="Courier New" pitchFamily="34" charset="0"/>
                <a:ea typeface="Courier New" pitchFamily="34" charset="-122"/>
                <a:cs typeface="Courier New" pitchFamily="34" charset="-120"/>
              </a:rPr>
              <a:t> </a:t>
            </a:r>
            <a:endParaRPr lang="en-US" sz="1400" dirty="0"/>
          </a:p>
          <a:p>
            <a:pPr indent="0" marL="0">
              <a:spcAft>
                <a:spcPts val="300"/>
              </a:spcAft>
              <a:buNone/>
            </a:pPr>
            <a:r>
              <a:rPr lang="en-US" sz="1400" b="1" dirty="0">
                <a:solidFill>
                  <a:schemeClr val="accent1"/>
                </a:solidFill>
                <a:latin typeface="Courier New" pitchFamily="34" charset="0"/>
                <a:ea typeface="Courier New" pitchFamily="34" charset="-122"/>
                <a:cs typeface="Courier New" pitchFamily="34" charset="-120"/>
              </a:rPr>
              <a:t>Error on line 2:</a:t>
            </a:r>
            <a:endParaRPr lang="en-US" sz="1400" dirty="0"/>
          </a:p>
          <a:p>
            <a:pPr indent="0" marL="0">
              <a:spcAft>
                <a:spcPts val="300"/>
              </a:spcAft>
              <a:buNone/>
            </a:pPr>
            <a:r>
              <a:rPr lang="en-US" sz="1400" dirty="0">
                <a:solidFill>
                  <a:schemeClr val="tx1"/>
                </a:solidFill>
                <a:latin typeface="Courier New" pitchFamily="34" charset="0"/>
                <a:ea typeface="Courier New" pitchFamily="34" charset="-122"/>
                <a:cs typeface="Courier New" pitchFamily="34" charset="-120"/>
              </a:rPr>
              <a:t>Expected ';' at the end of the statement.</a:t>
            </a:r>
            <a:endParaRPr lang="en-US" sz="1400" dirty="0"/>
          </a:p>
          <a:p>
            <a:pPr indent="0" marL="0">
              <a:spcAft>
                <a:spcPts val="300"/>
              </a:spcAft>
              <a:buNone/>
            </a:pPr>
            <a:r>
              <a:rPr lang="en-US" sz="1400" dirty="0">
                <a:solidFill>
                  <a:schemeClr val="accent3"/>
                </a:solidFill>
                <a:latin typeface="Courier New" pitchFamily="34" charset="0"/>
                <a:ea typeface="Courier New" pitchFamily="34" charset="-122"/>
                <a:cs typeface="Courier New" pitchFamily="34" charset="-120"/>
              </a:rPr>
              <a:t>Suggestion: </a:t>
            </a:r>
            <a:pPr indent="0" marL="0">
              <a:spcAft>
                <a:spcPts val="300"/>
              </a:spcAft>
              <a:buNone/>
            </a:pPr>
            <a:r>
              <a:rPr lang="en-US" sz="1400" dirty="0">
                <a:solidFill>
                  <a:schemeClr val="tx1"/>
                </a:solidFill>
                <a:latin typeface="Courier New" pitchFamily="34" charset="0"/>
                <a:ea typeface="Courier New" pitchFamily="34" charset="-122"/>
                <a:cs typeface="Courier New" pitchFamily="34" charset="-120"/>
              </a:rPr>
              <a:t>Add a semicolon after '10'.</a:t>
            </a:r>
            <a:endParaRPr lang="en-US" sz="1400" dirty="0"/>
          </a:p>
          <a:p>
            <a:pPr indent="0" marL="0">
              <a:spcAft>
                <a:spcPts val="300"/>
              </a:spcAft>
              <a:buNone/>
            </a:pPr>
            <a:r>
              <a:rPr lang="en-US" sz="1400" dirty="0">
                <a:solidFill>
                  <a:schemeClr val="tx1"/>
                </a:solidFill>
                <a:latin typeface="Courier New" pitchFamily="34" charset="0"/>
                <a:ea typeface="Courier New" pitchFamily="34" charset="-122"/>
                <a:cs typeface="Courier New" pitchFamily="34" charset="-120"/>
              </a:rPr>
              <a:t> </a:t>
            </a:r>
            <a:endParaRPr lang="en-US" sz="1400" dirty="0"/>
          </a:p>
          <a:p>
            <a:pPr indent="0" marL="0">
              <a:spcAft>
                <a:spcPts val="300"/>
              </a:spcAft>
              <a:buNone/>
            </a:pPr>
            <a:r>
              <a:rPr lang="en-US" sz="1400" dirty="0">
                <a:solidFill>
                  <a:schemeClr val="tx2"/>
                </a:solidFill>
                <a:latin typeface="Courier New" pitchFamily="34" charset="0"/>
                <a:ea typeface="Courier New" pitchFamily="34" charset="-122"/>
                <a:cs typeface="Courier New" pitchFamily="34" charset="-120"/>
              </a:rPr>
              <a:t>(Found during: Syntax Analysis)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Compiler errors talk like grammars</a:t>
            </a:r>
            <a:endParaRPr lang="en-US" sz="3200" dirty="0"/>
          </a:p>
        </p:txBody>
      </p:sp>
      <p:sp>
        <p:nvSpPr>
          <p:cNvPr id="3" name="text-6"/>
          <p:cNvSpPr txBox="1"/>
          <p:nvPr/>
        </p:nvSpPr>
        <p:spPr>
          <a:xfrm>
            <a:off x="548640" y="1371600"/>
            <a:ext cx="5486400" cy="274320"/>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TYPICAL COMPILER (gcc on the equivalent C)</a:t>
            </a:r>
            <a:endParaRPr lang="en-US" sz="1100" dirty="0"/>
          </a:p>
        </p:txBody>
      </p:sp>
      <p:sp>
        <p:nvSpPr>
          <p:cNvPr id="4" name="panel-7"/>
          <p:cNvSpPr/>
          <p:nvPr/>
        </p:nvSpPr>
        <p:spPr>
          <a:xfrm>
            <a:off x="548640" y="1737360"/>
            <a:ext cx="5349240" cy="3017520"/>
          </a:xfrm>
          <a:prstGeom prst="roundRect">
            <a:avLst>
              <a:gd name="adj" fmla="val 2424"/>
            </a:avLst>
          </a:prstGeom>
          <a:solidFill>
            <a:srgbClr val="0B0D11"/>
          </a:solidFill>
          <a:ln w="12700">
            <a:solidFill>
              <a:schemeClr val="accent5"/>
            </a:solidFill>
            <a:prstDash val="solid"/>
          </a:ln>
        </p:spPr>
      </p:sp>
      <p:sp>
        <p:nvSpPr>
          <p:cNvPr id="5" name="text-8"/>
          <p:cNvSpPr txBox="1"/>
          <p:nvPr/>
        </p:nvSpPr>
        <p:spPr>
          <a:xfrm>
            <a:off x="777240" y="1920240"/>
            <a:ext cx="4892040" cy="2651760"/>
          </a:xfrm>
          <a:prstGeom prst="rect">
            <a:avLst/>
          </a:prstGeom>
          <a:noFill/>
          <a:ln/>
        </p:spPr>
        <p:txBody>
          <a:bodyPr wrap="square" lIns="0" tIns="0" rIns="0" bIns="0" rtlCol="0" anchor="t"/>
          <a:lstStyle/>
          <a:p>
            <a:pPr indent="0" marL="0">
              <a:spcAft>
                <a:spcPts val="300"/>
              </a:spcAft>
              <a:buNone/>
            </a:pPr>
            <a:r>
              <a:rPr lang="en-US" sz="1500" dirty="0">
                <a:solidFill>
                  <a:schemeClr val="tx2"/>
                </a:solidFill>
                <a:latin typeface="Courier New" pitchFamily="34" charset="0"/>
                <a:ea typeface="Courier New" pitchFamily="34" charset="-122"/>
                <a:cs typeface="Courier New" pitchFamily="34" charset="-120"/>
              </a:rPr>
              <a:t>1  </a:t>
            </a:r>
            <a:pPr indent="0" marL="0">
              <a:spcAft>
                <a:spcPts val="300"/>
              </a:spcAft>
              <a:buNone/>
            </a:pPr>
            <a:r>
              <a:rPr lang="en-US" sz="1500" dirty="0">
                <a:solidFill>
                  <a:schemeClr val="tx1"/>
                </a:solidFill>
                <a:latin typeface="Courier New" pitchFamily="34" charset="0"/>
                <a:ea typeface="Courier New" pitchFamily="34" charset="-122"/>
                <a:cs typeface="Courier New" pitchFamily="34" charset="-120"/>
              </a:rPr>
              <a:t>int a = 5;</a:t>
            </a:r>
            <a:endParaRPr lang="en-US" sz="1500" dirty="0"/>
          </a:p>
          <a:p>
            <a:pPr indent="0" marL="0">
              <a:spcAft>
                <a:spcPts val="300"/>
              </a:spcAft>
              <a:buNone/>
            </a:pPr>
            <a:r>
              <a:rPr lang="en-US" sz="1500" dirty="0">
                <a:solidFill>
                  <a:schemeClr val="tx2"/>
                </a:solidFill>
                <a:latin typeface="Courier New" pitchFamily="34" charset="0"/>
                <a:ea typeface="Courier New" pitchFamily="34" charset="-122"/>
                <a:cs typeface="Courier New" pitchFamily="34" charset="-120"/>
              </a:rPr>
              <a:t>2  </a:t>
            </a:r>
            <a:pPr indent="0" marL="0">
              <a:spcAft>
                <a:spcPts val="300"/>
              </a:spcAft>
              <a:buNone/>
            </a:pPr>
            <a:r>
              <a:rPr lang="en-US" sz="1500" dirty="0">
                <a:solidFill>
                  <a:schemeClr val="tx1"/>
                </a:solidFill>
                <a:latin typeface="Courier New" pitchFamily="34" charset="0"/>
                <a:ea typeface="Courier New" pitchFamily="34" charset="-122"/>
                <a:cs typeface="Courier New" pitchFamily="34" charset="-120"/>
              </a:rPr>
              <a:t>int b = 10</a:t>
            </a:r>
            <a:endParaRPr lang="en-US" sz="1500" dirty="0"/>
          </a:p>
          <a:p>
            <a:pPr indent="0" marL="0">
              <a:spcAft>
                <a:spcPts val="300"/>
              </a:spcAft>
              <a:buNone/>
            </a:pPr>
            <a:r>
              <a:rPr lang="en-US" sz="1500" dirty="0">
                <a:solidFill>
                  <a:schemeClr val="tx2"/>
                </a:solidFill>
                <a:latin typeface="Courier New" pitchFamily="34" charset="0"/>
                <a:ea typeface="Courier New" pitchFamily="34" charset="-122"/>
                <a:cs typeface="Courier New" pitchFamily="34" charset="-120"/>
              </a:rPr>
              <a:t>3  </a:t>
            </a:r>
            <a:pPr indent="0" marL="0">
              <a:spcAft>
                <a:spcPts val="300"/>
              </a:spcAft>
              <a:buNone/>
            </a:pPr>
            <a:r>
              <a:rPr lang="en-US" sz="1500" dirty="0">
                <a:solidFill>
                  <a:schemeClr val="tx1"/>
                </a:solidFill>
                <a:latin typeface="Courier New" pitchFamily="34" charset="0"/>
                <a:ea typeface="Courier New" pitchFamily="34" charset="-122"/>
                <a:cs typeface="Courier New" pitchFamily="34" charset="-120"/>
              </a:rPr>
              <a:t>printf("%d", a + b);</a:t>
            </a:r>
            <a:endParaRPr lang="en-US" sz="1500" dirty="0"/>
          </a:p>
          <a:p>
            <a:pPr indent="0" marL="0">
              <a:spcAft>
                <a:spcPts val="300"/>
              </a:spcAft>
              <a:buNone/>
            </a:pPr>
            <a:r>
              <a:rPr lang="en-US" sz="1500" dirty="0">
                <a:solidFill>
                  <a:schemeClr val="tx1"/>
                </a:solidFill>
                <a:latin typeface="Courier New" pitchFamily="34" charset="0"/>
                <a:ea typeface="Courier New" pitchFamily="34" charset="-122"/>
                <a:cs typeface="Courier New" pitchFamily="34" charset="-120"/>
              </a:rPr>
              <a:t> </a:t>
            </a:r>
            <a:endParaRPr lang="en-US" sz="1500" dirty="0"/>
          </a:p>
          <a:p>
            <a:pPr indent="0" marL="0">
              <a:spcAft>
                <a:spcPts val="300"/>
              </a:spcAft>
              <a:buNone/>
            </a:pPr>
            <a:r>
              <a:rPr lang="en-US" sz="1500" dirty="0">
                <a:solidFill>
                  <a:schemeClr val="accent1"/>
                </a:solidFill>
                <a:latin typeface="Courier New" pitchFamily="34" charset="0"/>
                <a:ea typeface="Courier New" pitchFamily="34" charset="-122"/>
                <a:cs typeface="Courier New" pitchFamily="34" charset="-120"/>
              </a:rPr>
              <a:t>program.c:3:5: error:</a:t>
            </a:r>
            <a:endParaRPr lang="en-US" sz="1500" dirty="0"/>
          </a:p>
          <a:p>
            <a:pPr indent="0" marL="0">
              <a:spcAft>
                <a:spcPts val="300"/>
              </a:spcAft>
              <a:buNone/>
            </a:pPr>
            <a:r>
              <a:rPr lang="en-US" sz="1500" dirty="0">
                <a:solidFill>
                  <a:schemeClr val="tx1"/>
                </a:solidFill>
                <a:latin typeface="Courier New" pitchFamily="34" charset="0"/>
                <a:ea typeface="Courier New" pitchFamily="34" charset="-122"/>
                <a:cs typeface="Courier New" pitchFamily="34" charset="-120"/>
              </a:rPr>
              <a:t>expected ',' or ';' before 'printf'</a:t>
            </a:r>
            <a:endParaRPr lang="en-US" sz="1500" dirty="0"/>
          </a:p>
        </p:txBody>
      </p:sp>
      <p:sp>
        <p:nvSpPr>
          <p:cNvPr id="6" name="text-9"/>
          <p:cNvSpPr txBox="1"/>
          <p:nvPr/>
        </p:nvSpPr>
        <p:spPr>
          <a:xfrm>
            <a:off x="6291072" y="1371600"/>
            <a:ext cx="5486400" cy="274320"/>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ERRORBUDDY</a:t>
            </a:r>
            <a:endParaRPr lang="en-US" sz="1100" dirty="0"/>
          </a:p>
        </p:txBody>
      </p:sp>
      <p:sp>
        <p:nvSpPr>
          <p:cNvPr id="7" name="panel-10"/>
          <p:cNvSpPr/>
          <p:nvPr/>
        </p:nvSpPr>
        <p:spPr>
          <a:xfrm>
            <a:off x="6291072" y="1737360"/>
            <a:ext cx="5349240" cy="3017520"/>
          </a:xfrm>
          <a:prstGeom prst="roundRect">
            <a:avLst>
              <a:gd name="adj" fmla="val 2424"/>
            </a:avLst>
          </a:prstGeom>
          <a:solidFill>
            <a:srgbClr val="0B0D11"/>
          </a:solidFill>
          <a:ln w="12700">
            <a:solidFill>
              <a:schemeClr val="accent5"/>
            </a:solidFill>
            <a:prstDash val="solid"/>
          </a:ln>
        </p:spPr>
      </p:sp>
      <p:sp>
        <p:nvSpPr>
          <p:cNvPr id="8" name="text-11"/>
          <p:cNvSpPr txBox="1"/>
          <p:nvPr/>
        </p:nvSpPr>
        <p:spPr>
          <a:xfrm>
            <a:off x="6519672" y="1920240"/>
            <a:ext cx="4892040" cy="2651760"/>
          </a:xfrm>
          <a:prstGeom prst="rect">
            <a:avLst/>
          </a:prstGeom>
          <a:noFill/>
          <a:ln/>
        </p:spPr>
        <p:txBody>
          <a:bodyPr wrap="square" lIns="0" tIns="0" rIns="0" bIns="0" rtlCol="0" anchor="t"/>
          <a:lstStyle/>
          <a:p>
            <a:pPr indent="0" marL="0">
              <a:spcAft>
                <a:spcPts val="300"/>
              </a:spcAft>
              <a:buNone/>
            </a:pPr>
            <a:r>
              <a:rPr lang="en-US" sz="1500" b="1" dirty="0">
                <a:solidFill>
                  <a:schemeClr val="accent1"/>
                </a:solidFill>
                <a:latin typeface="Courier New" pitchFamily="34" charset="0"/>
                <a:ea typeface="Courier New" pitchFamily="34" charset="-122"/>
                <a:cs typeface="Courier New" pitchFamily="34" charset="-120"/>
              </a:rPr>
              <a:t>Error on line 2:</a:t>
            </a:r>
            <a:endParaRPr lang="en-US" sz="1500" dirty="0"/>
          </a:p>
          <a:p>
            <a:pPr indent="0" marL="0">
              <a:spcAft>
                <a:spcPts val="300"/>
              </a:spcAft>
              <a:buNone/>
            </a:pPr>
            <a:r>
              <a:rPr lang="en-US" sz="1500" dirty="0">
                <a:solidFill>
                  <a:schemeClr val="tx1"/>
                </a:solidFill>
                <a:latin typeface="Courier New" pitchFamily="34" charset="0"/>
                <a:ea typeface="Courier New" pitchFamily="34" charset="-122"/>
                <a:cs typeface="Courier New" pitchFamily="34" charset="-120"/>
              </a:rPr>
              <a:t>Expected ';' at the end of the</a:t>
            </a:r>
            <a:endParaRPr lang="en-US" sz="1500" dirty="0"/>
          </a:p>
          <a:p>
            <a:pPr indent="0" marL="0">
              <a:spcAft>
                <a:spcPts val="300"/>
              </a:spcAft>
              <a:buNone/>
            </a:pPr>
            <a:r>
              <a:rPr lang="en-US" sz="1500" dirty="0">
                <a:solidFill>
                  <a:schemeClr val="tx1"/>
                </a:solidFill>
                <a:latin typeface="Courier New" pitchFamily="34" charset="0"/>
                <a:ea typeface="Courier New" pitchFamily="34" charset="-122"/>
                <a:cs typeface="Courier New" pitchFamily="34" charset="-120"/>
              </a:rPr>
              <a:t>statement.</a:t>
            </a:r>
            <a:endParaRPr lang="en-US" sz="1500" dirty="0"/>
          </a:p>
          <a:p>
            <a:pPr indent="0" marL="0">
              <a:spcAft>
                <a:spcPts val="300"/>
              </a:spcAft>
              <a:buNone/>
            </a:pPr>
            <a:r>
              <a:rPr lang="en-US" sz="1500" dirty="0">
                <a:solidFill>
                  <a:schemeClr val="accent3"/>
                </a:solidFill>
                <a:latin typeface="Courier New" pitchFamily="34" charset="0"/>
                <a:ea typeface="Courier New" pitchFamily="34" charset="-122"/>
                <a:cs typeface="Courier New" pitchFamily="34" charset="-120"/>
              </a:rPr>
              <a:t>Suggestion: </a:t>
            </a:r>
            <a:pPr indent="0" marL="0">
              <a:spcAft>
                <a:spcPts val="300"/>
              </a:spcAft>
              <a:buNone/>
            </a:pPr>
            <a:r>
              <a:rPr lang="en-US" sz="1500" dirty="0">
                <a:solidFill>
                  <a:schemeClr val="tx1"/>
                </a:solidFill>
                <a:latin typeface="Courier New" pitchFamily="34" charset="0"/>
                <a:ea typeface="Courier New" pitchFamily="34" charset="-122"/>
                <a:cs typeface="Courier New" pitchFamily="34" charset="-120"/>
              </a:rPr>
              <a:t>Add a semicolon</a:t>
            </a:r>
            <a:endParaRPr lang="en-US" sz="1500" dirty="0"/>
          </a:p>
          <a:p>
            <a:pPr indent="0" marL="0">
              <a:spcAft>
                <a:spcPts val="300"/>
              </a:spcAft>
              <a:buNone/>
            </a:pPr>
            <a:r>
              <a:rPr lang="en-US" sz="1500" dirty="0">
                <a:solidFill>
                  <a:schemeClr val="tx1"/>
                </a:solidFill>
                <a:latin typeface="Courier New" pitchFamily="34" charset="0"/>
                <a:ea typeface="Courier New" pitchFamily="34" charset="-122"/>
                <a:cs typeface="Courier New" pitchFamily="34" charset="-120"/>
              </a:rPr>
              <a:t>after '10'.</a:t>
            </a:r>
            <a:endParaRPr lang="en-US" sz="1500" dirty="0"/>
          </a:p>
          <a:p>
            <a:pPr indent="0" marL="0">
              <a:spcAft>
                <a:spcPts val="300"/>
              </a:spcAft>
              <a:buNone/>
            </a:pPr>
            <a:r>
              <a:rPr lang="en-US" sz="1500" dirty="0">
                <a:solidFill>
                  <a:schemeClr val="tx2"/>
                </a:solidFill>
                <a:latin typeface="Courier New" pitchFamily="34" charset="0"/>
                <a:ea typeface="Courier New" pitchFamily="34" charset="-122"/>
                <a:cs typeface="Courier New" pitchFamily="34" charset="-120"/>
              </a:rPr>
              <a:t>(Found during: Syntax Analysis)</a:t>
            </a:r>
            <a:endParaRPr lang="en-US" sz="1500" dirty="0"/>
          </a:p>
        </p:txBody>
      </p:sp>
      <p:sp>
        <p:nvSpPr>
          <p:cNvPr id="9" name="pill-12"/>
          <p:cNvSpPr/>
          <p:nvPr/>
        </p:nvSpPr>
        <p:spPr>
          <a:xfrm>
            <a:off x="548640" y="5074920"/>
            <a:ext cx="3566160" cy="365760"/>
          </a:xfrm>
          <a:prstGeom prst="roundRect">
            <a:avLst>
              <a:gd name="adj" fmla="val 50000"/>
            </a:avLst>
          </a:prstGeom>
          <a:solidFill>
            <a:schemeClr val="bg2"/>
          </a:solidFill>
          <a:ln w="12700">
            <a:solidFill>
              <a:schemeClr val="accent5"/>
            </a:solidFill>
            <a:prstDash val="solid"/>
          </a:ln>
        </p:spPr>
      </p:sp>
      <p:sp>
        <p:nvSpPr>
          <p:cNvPr id="10" name="dot-13"/>
          <p:cNvSpPr/>
          <p:nvPr/>
        </p:nvSpPr>
        <p:spPr>
          <a:xfrm>
            <a:off x="694944" y="5212080"/>
            <a:ext cx="91440" cy="91440"/>
          </a:xfrm>
          <a:prstGeom prst="ellipse">
            <a:avLst/>
          </a:prstGeom>
          <a:solidFill>
            <a:schemeClr val="accent1"/>
          </a:solidFill>
          <a:ln w="12700">
            <a:solidFill>
              <a:schemeClr val="accent1"/>
            </a:solidFill>
            <a:prstDash val="solid"/>
          </a:ln>
        </p:spPr>
      </p:sp>
      <p:sp>
        <p:nvSpPr>
          <p:cNvPr id="11" name="text-14"/>
          <p:cNvSpPr txBox="1"/>
          <p:nvPr/>
        </p:nvSpPr>
        <p:spPr>
          <a:xfrm>
            <a:off x="877824" y="5074920"/>
            <a:ext cx="3154680" cy="365760"/>
          </a:xfrm>
          <a:prstGeom prst="rect">
            <a:avLst/>
          </a:prstGeom>
          <a:noFill/>
          <a:ln/>
        </p:spPr>
        <p:txBody>
          <a:bodyPr wrap="square" lIns="0" tIns="0" rIns="0" bIns="0" rtlCol="0" anchor="ctr"/>
          <a:lstStyle/>
          <a:p>
            <a:pPr indent="0" marL="0">
              <a:buNone/>
            </a:pPr>
            <a:r>
              <a:rPr lang="en-US" sz="1200" dirty="0">
                <a:solidFill>
                  <a:schemeClr val="tx1"/>
                </a:solidFill>
              </a:rPr>
              <a:t>Wrong line: points after the mistake</a:t>
            </a:r>
            <a:endParaRPr lang="en-US" sz="1200" dirty="0"/>
          </a:p>
        </p:txBody>
      </p:sp>
      <p:sp>
        <p:nvSpPr>
          <p:cNvPr id="12" name="pill-15"/>
          <p:cNvSpPr/>
          <p:nvPr/>
        </p:nvSpPr>
        <p:spPr>
          <a:xfrm>
            <a:off x="548640" y="5532120"/>
            <a:ext cx="3566160" cy="365760"/>
          </a:xfrm>
          <a:prstGeom prst="roundRect">
            <a:avLst>
              <a:gd name="adj" fmla="val 50000"/>
            </a:avLst>
          </a:prstGeom>
          <a:solidFill>
            <a:schemeClr val="bg2"/>
          </a:solidFill>
          <a:ln w="12700">
            <a:solidFill>
              <a:schemeClr val="accent5"/>
            </a:solidFill>
            <a:prstDash val="solid"/>
          </a:ln>
        </p:spPr>
      </p:sp>
      <p:sp>
        <p:nvSpPr>
          <p:cNvPr id="13" name="dot-16"/>
          <p:cNvSpPr/>
          <p:nvPr/>
        </p:nvSpPr>
        <p:spPr>
          <a:xfrm>
            <a:off x="694944" y="5669280"/>
            <a:ext cx="91440" cy="91440"/>
          </a:xfrm>
          <a:prstGeom prst="ellipse">
            <a:avLst/>
          </a:prstGeom>
          <a:solidFill>
            <a:schemeClr val="accent1"/>
          </a:solidFill>
          <a:ln w="12700">
            <a:solidFill>
              <a:schemeClr val="accent1"/>
            </a:solidFill>
            <a:prstDash val="solid"/>
          </a:ln>
        </p:spPr>
      </p:sp>
      <p:sp>
        <p:nvSpPr>
          <p:cNvPr id="14" name="text-17"/>
          <p:cNvSpPr txBox="1"/>
          <p:nvPr/>
        </p:nvSpPr>
        <p:spPr>
          <a:xfrm>
            <a:off x="877824" y="5532120"/>
            <a:ext cx="3154680" cy="365760"/>
          </a:xfrm>
          <a:prstGeom prst="rect">
            <a:avLst/>
          </a:prstGeom>
          <a:noFill/>
          <a:ln/>
        </p:spPr>
        <p:txBody>
          <a:bodyPr wrap="square" lIns="0" tIns="0" rIns="0" bIns="0" rtlCol="0" anchor="ctr"/>
          <a:lstStyle/>
          <a:p>
            <a:pPr indent="0" marL="0">
              <a:buNone/>
            </a:pPr>
            <a:r>
              <a:rPr lang="en-US" sz="1200" dirty="0">
                <a:solidFill>
                  <a:schemeClr val="tx1"/>
                </a:solidFill>
              </a:rPr>
              <a:t>Grammar words: "expected … before"</a:t>
            </a:r>
            <a:endParaRPr lang="en-US" sz="1200" dirty="0"/>
          </a:p>
        </p:txBody>
      </p:sp>
      <p:sp>
        <p:nvSpPr>
          <p:cNvPr id="15" name="pill-18"/>
          <p:cNvSpPr/>
          <p:nvPr/>
        </p:nvSpPr>
        <p:spPr>
          <a:xfrm>
            <a:off x="6291072" y="5074920"/>
            <a:ext cx="3108960" cy="365760"/>
          </a:xfrm>
          <a:prstGeom prst="roundRect">
            <a:avLst>
              <a:gd name="adj" fmla="val 50000"/>
            </a:avLst>
          </a:prstGeom>
          <a:solidFill>
            <a:schemeClr val="bg2"/>
          </a:solidFill>
          <a:ln w="12700">
            <a:solidFill>
              <a:schemeClr val="accent5"/>
            </a:solidFill>
            <a:prstDash val="solid"/>
          </a:ln>
        </p:spPr>
      </p:sp>
      <p:sp>
        <p:nvSpPr>
          <p:cNvPr id="16" name="dot-19"/>
          <p:cNvSpPr/>
          <p:nvPr/>
        </p:nvSpPr>
        <p:spPr>
          <a:xfrm>
            <a:off x="6437376" y="5212080"/>
            <a:ext cx="91440" cy="91440"/>
          </a:xfrm>
          <a:prstGeom prst="ellipse">
            <a:avLst/>
          </a:prstGeom>
          <a:solidFill>
            <a:schemeClr val="accent2"/>
          </a:solidFill>
          <a:ln w="12700">
            <a:solidFill>
              <a:schemeClr val="accent2"/>
            </a:solidFill>
            <a:prstDash val="solid"/>
          </a:ln>
        </p:spPr>
      </p:sp>
      <p:sp>
        <p:nvSpPr>
          <p:cNvPr id="17" name="text-20"/>
          <p:cNvSpPr txBox="1"/>
          <p:nvPr/>
        </p:nvSpPr>
        <p:spPr>
          <a:xfrm>
            <a:off x="6620256" y="5074920"/>
            <a:ext cx="2697480" cy="365760"/>
          </a:xfrm>
          <a:prstGeom prst="rect">
            <a:avLst/>
          </a:prstGeom>
          <a:noFill/>
          <a:ln/>
        </p:spPr>
        <p:txBody>
          <a:bodyPr wrap="square" lIns="0" tIns="0" rIns="0" bIns="0" rtlCol="0" anchor="ctr"/>
          <a:lstStyle/>
          <a:p>
            <a:pPr indent="0" marL="0">
              <a:buNone/>
            </a:pPr>
            <a:r>
              <a:rPr lang="en-US" sz="1200" dirty="0">
                <a:solidFill>
                  <a:schemeClr val="tx1"/>
                </a:solidFill>
              </a:rPr>
              <a:t>Line where the fix belongs</a:t>
            </a:r>
            <a:endParaRPr lang="en-US" sz="1200" dirty="0"/>
          </a:p>
        </p:txBody>
      </p:sp>
      <p:sp>
        <p:nvSpPr>
          <p:cNvPr id="18" name="pill-21"/>
          <p:cNvSpPr/>
          <p:nvPr/>
        </p:nvSpPr>
        <p:spPr>
          <a:xfrm>
            <a:off x="6291072" y="5532120"/>
            <a:ext cx="3108960" cy="365760"/>
          </a:xfrm>
          <a:prstGeom prst="roundRect">
            <a:avLst>
              <a:gd name="adj" fmla="val 50000"/>
            </a:avLst>
          </a:prstGeom>
          <a:solidFill>
            <a:schemeClr val="bg2"/>
          </a:solidFill>
          <a:ln w="12700">
            <a:solidFill>
              <a:schemeClr val="accent5"/>
            </a:solidFill>
            <a:prstDash val="solid"/>
          </a:ln>
        </p:spPr>
      </p:sp>
      <p:sp>
        <p:nvSpPr>
          <p:cNvPr id="19" name="dot-22"/>
          <p:cNvSpPr/>
          <p:nvPr/>
        </p:nvSpPr>
        <p:spPr>
          <a:xfrm>
            <a:off x="6437376" y="5669280"/>
            <a:ext cx="91440" cy="91440"/>
          </a:xfrm>
          <a:prstGeom prst="ellipse">
            <a:avLst/>
          </a:prstGeom>
          <a:solidFill>
            <a:schemeClr val="accent2"/>
          </a:solidFill>
          <a:ln w="12700">
            <a:solidFill>
              <a:schemeClr val="accent2"/>
            </a:solidFill>
            <a:prstDash val="solid"/>
          </a:ln>
        </p:spPr>
      </p:sp>
      <p:sp>
        <p:nvSpPr>
          <p:cNvPr id="20" name="text-23"/>
          <p:cNvSpPr txBox="1"/>
          <p:nvPr/>
        </p:nvSpPr>
        <p:spPr>
          <a:xfrm>
            <a:off x="6620256" y="5532120"/>
            <a:ext cx="2697480" cy="365760"/>
          </a:xfrm>
          <a:prstGeom prst="rect">
            <a:avLst/>
          </a:prstGeom>
          <a:noFill/>
          <a:ln/>
        </p:spPr>
        <p:txBody>
          <a:bodyPr wrap="square" lIns="0" tIns="0" rIns="0" bIns="0" rtlCol="0" anchor="ctr"/>
          <a:lstStyle/>
          <a:p>
            <a:pPr indent="0" marL="0">
              <a:buNone/>
            </a:pPr>
            <a:r>
              <a:rPr lang="en-US" sz="1200" dirty="0">
                <a:solidFill>
                  <a:schemeClr val="tx1"/>
                </a:solidFill>
              </a:rPr>
              <a:t>Plain English + one concrete fix</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Architecture: five phases in three source files</a:t>
            </a:r>
            <a:endParaRPr lang="en-US" sz="3200" dirty="0"/>
          </a:p>
        </p:txBody>
      </p:sp>
      <p:sp>
        <p:nvSpPr>
          <p:cNvPr id="3" name="panel-24"/>
          <p:cNvSpPr/>
          <p:nvPr/>
        </p:nvSpPr>
        <p:spPr>
          <a:xfrm>
            <a:off x="548640" y="1508760"/>
            <a:ext cx="1737360" cy="1828800"/>
          </a:xfrm>
          <a:prstGeom prst="roundRect">
            <a:avLst>
              <a:gd name="adj" fmla="val 4211"/>
            </a:avLst>
          </a:prstGeom>
          <a:solidFill>
            <a:schemeClr val="bg2"/>
          </a:solidFill>
          <a:ln w="12700">
            <a:solidFill>
              <a:schemeClr val="accent5"/>
            </a:solidFill>
            <a:prstDash val="solid"/>
          </a:ln>
        </p:spPr>
      </p:sp>
      <p:sp>
        <p:nvSpPr>
          <p:cNvPr id="4" name="text-25"/>
          <p:cNvSpPr txBox="1"/>
          <p:nvPr/>
        </p:nvSpPr>
        <p:spPr>
          <a:xfrm>
            <a:off x="731520" y="1691640"/>
            <a:ext cx="1371600" cy="274320"/>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program.txt</a:t>
            </a:r>
            <a:endParaRPr lang="en-US" sz="1100" dirty="0"/>
          </a:p>
        </p:txBody>
      </p:sp>
      <p:sp>
        <p:nvSpPr>
          <p:cNvPr id="5" name="text-26"/>
          <p:cNvSpPr txBox="1"/>
          <p:nvPr/>
        </p:nvSpPr>
        <p:spPr>
          <a:xfrm>
            <a:off x="731520" y="2011680"/>
            <a:ext cx="1371600" cy="365760"/>
          </a:xfrm>
          <a:prstGeom prst="rect">
            <a:avLst/>
          </a:prstGeom>
          <a:noFill/>
          <a:ln/>
        </p:spPr>
        <p:txBody>
          <a:bodyPr wrap="square" lIns="0" tIns="0" rIns="0" bIns="0" rtlCol="0" anchor="t"/>
          <a:lstStyle/>
          <a:p>
            <a:pPr indent="0" marL="0">
              <a:buNone/>
            </a:pPr>
            <a:r>
              <a:rPr lang="en-US" sz="1600" b="1" dirty="0">
                <a:solidFill>
                  <a:schemeClr val="tx1"/>
                </a:solidFill>
              </a:rPr>
              <a:t>Source</a:t>
            </a:r>
            <a:endParaRPr lang="en-US" sz="1600" dirty="0"/>
          </a:p>
        </p:txBody>
      </p:sp>
      <p:sp>
        <p:nvSpPr>
          <p:cNvPr id="6" name="text-27"/>
          <p:cNvSpPr txBox="1"/>
          <p:nvPr/>
        </p:nvSpPr>
        <p:spPr>
          <a:xfrm>
            <a:off x="731520" y="2423160"/>
            <a:ext cx="1371600" cy="822960"/>
          </a:xfrm>
          <a:prstGeom prst="rect">
            <a:avLst/>
          </a:prstGeom>
          <a:noFill/>
          <a:ln/>
        </p:spPr>
        <p:txBody>
          <a:bodyPr wrap="square" lIns="0" tIns="0" rIns="0" bIns="0" rtlCol="0" anchor="t"/>
          <a:lstStyle/>
          <a:p>
            <a:pPr indent="0" marL="0">
              <a:buNone/>
            </a:pPr>
            <a:r>
              <a:rPr lang="en-US" sz="1300" dirty="0">
                <a:solidFill>
                  <a:schemeClr val="tx2"/>
                </a:solidFill>
              </a:rPr>
              <a:t>Plain text, read in one go by main.cpp</a:t>
            </a:r>
            <a:endParaRPr lang="en-US" sz="1300" dirty="0"/>
          </a:p>
        </p:txBody>
      </p:sp>
      <p:sp>
        <p:nvSpPr>
          <p:cNvPr id="7" name="panel-28"/>
          <p:cNvSpPr/>
          <p:nvPr/>
        </p:nvSpPr>
        <p:spPr>
          <a:xfrm>
            <a:off x="2743200" y="1508760"/>
            <a:ext cx="2331720" cy="1828800"/>
          </a:xfrm>
          <a:prstGeom prst="roundRect">
            <a:avLst>
              <a:gd name="adj" fmla="val 4000"/>
            </a:avLst>
          </a:prstGeom>
          <a:solidFill>
            <a:schemeClr val="bg2"/>
          </a:solidFill>
          <a:ln w="12700">
            <a:solidFill>
              <a:schemeClr val="accent5"/>
            </a:solidFill>
            <a:prstDash val="solid"/>
          </a:ln>
        </p:spPr>
      </p:sp>
      <p:sp>
        <p:nvSpPr>
          <p:cNvPr id="8" name="text-29"/>
          <p:cNvSpPr txBox="1"/>
          <p:nvPr/>
        </p:nvSpPr>
        <p:spPr>
          <a:xfrm>
            <a:off x="2926080" y="1691640"/>
            <a:ext cx="1965960" cy="274320"/>
          </a:xfrm>
          <a:prstGeom prst="rect">
            <a:avLst/>
          </a:prstGeom>
          <a:noFill/>
          <a:ln/>
        </p:spPr>
        <p:txBody>
          <a:bodyPr wrap="square" lIns="0" tIns="0" rIns="0" bIns="0" rtlCol="0" anchor="t"/>
          <a:lstStyle/>
          <a:p>
            <a:pPr indent="0" marL="0">
              <a:buNone/>
            </a:pPr>
            <a:r>
              <a:rPr lang="en-US" sz="1100" spc="100" kern="0" dirty="0">
                <a:solidFill>
                  <a:schemeClr val="accent4"/>
                </a:solidFill>
                <a:latin typeface="Courier New" pitchFamily="34" charset="0"/>
                <a:ea typeface="Courier New" pitchFamily="34" charset="-122"/>
                <a:cs typeface="Courier New" pitchFamily="34" charset="-120"/>
              </a:rPr>
              <a:t>lexer.cpp</a:t>
            </a:r>
            <a:endParaRPr lang="en-US" sz="1100" dirty="0"/>
          </a:p>
        </p:txBody>
      </p:sp>
      <p:sp>
        <p:nvSpPr>
          <p:cNvPr id="9" name="text-30"/>
          <p:cNvSpPr txBox="1"/>
          <p:nvPr/>
        </p:nvSpPr>
        <p:spPr>
          <a:xfrm>
            <a:off x="2926080" y="2011680"/>
            <a:ext cx="1965960" cy="365760"/>
          </a:xfrm>
          <a:prstGeom prst="rect">
            <a:avLst/>
          </a:prstGeom>
          <a:noFill/>
          <a:ln/>
        </p:spPr>
        <p:txBody>
          <a:bodyPr wrap="square" lIns="0" tIns="0" rIns="0" bIns="0" rtlCol="0" anchor="t"/>
          <a:lstStyle/>
          <a:p>
            <a:pPr indent="0" marL="0">
              <a:buNone/>
            </a:pPr>
            <a:r>
              <a:rPr lang="en-US" sz="1600" b="1" dirty="0">
                <a:solidFill>
                  <a:schemeClr val="tx1"/>
                </a:solidFill>
              </a:rPr>
              <a:t>Phase 1 · Lexer</a:t>
            </a:r>
            <a:endParaRPr lang="en-US" sz="1600" dirty="0"/>
          </a:p>
        </p:txBody>
      </p:sp>
      <p:sp>
        <p:nvSpPr>
          <p:cNvPr id="10" name="text-31"/>
          <p:cNvSpPr txBox="1"/>
          <p:nvPr/>
        </p:nvSpPr>
        <p:spPr>
          <a:xfrm>
            <a:off x="2926080" y="2423160"/>
            <a:ext cx="1965960" cy="822960"/>
          </a:xfrm>
          <a:prstGeom prst="rect">
            <a:avLst/>
          </a:prstGeom>
          <a:noFill/>
          <a:ln/>
        </p:spPr>
        <p:txBody>
          <a:bodyPr wrap="square" lIns="0" tIns="0" rIns="0" bIns="0" rtlCol="0" anchor="t"/>
          <a:lstStyle/>
          <a:p>
            <a:pPr indent="0" marL="0">
              <a:buNone/>
            </a:pPr>
            <a:r>
              <a:rPr lang="en-US" sz="1300" dirty="0">
                <a:solidFill>
                  <a:schemeClr val="tx2"/>
                </a:solidFill>
              </a:rPr>
              <a:t>tokenize() → vector&lt;Token&gt; (type, text, line)</a:t>
            </a:r>
            <a:endParaRPr lang="en-US" sz="1300" dirty="0"/>
          </a:p>
        </p:txBody>
      </p:sp>
      <p:sp>
        <p:nvSpPr>
          <p:cNvPr id="11" name="panel-32"/>
          <p:cNvSpPr/>
          <p:nvPr/>
        </p:nvSpPr>
        <p:spPr>
          <a:xfrm>
            <a:off x="5532120" y="1508760"/>
            <a:ext cx="3246120" cy="1828800"/>
          </a:xfrm>
          <a:prstGeom prst="roundRect">
            <a:avLst>
              <a:gd name="adj" fmla="val 4000"/>
            </a:avLst>
          </a:prstGeom>
          <a:solidFill>
            <a:schemeClr val="bg2"/>
          </a:solidFill>
          <a:ln w="12700">
            <a:solidFill>
              <a:schemeClr val="accent5"/>
            </a:solidFill>
            <a:prstDash val="solid"/>
          </a:ln>
        </p:spPr>
      </p:sp>
      <p:sp>
        <p:nvSpPr>
          <p:cNvPr id="12" name="text-33"/>
          <p:cNvSpPr txBox="1"/>
          <p:nvPr/>
        </p:nvSpPr>
        <p:spPr>
          <a:xfrm>
            <a:off x="5715000" y="1691640"/>
            <a:ext cx="2880360" cy="274320"/>
          </a:xfrm>
          <a:prstGeom prst="rect">
            <a:avLst/>
          </a:prstGeom>
          <a:noFill/>
          <a:ln/>
        </p:spPr>
        <p:txBody>
          <a:bodyPr wrap="square" lIns="0" tIns="0" rIns="0" bIns="0" rtlCol="0" anchor="t"/>
          <a:lstStyle/>
          <a:p>
            <a:pPr indent="0" marL="0">
              <a:buNone/>
            </a:pPr>
            <a:r>
              <a:rPr lang="en-US" sz="1100" spc="100" kern="0" dirty="0">
                <a:solidFill>
                  <a:schemeClr val="accent2"/>
                </a:solidFill>
                <a:latin typeface="Courier New" pitchFamily="34" charset="0"/>
                <a:ea typeface="Courier New" pitchFamily="34" charset="-122"/>
                <a:cs typeface="Courier New" pitchFamily="34" charset="-120"/>
              </a:rPr>
              <a:t>parser.cpp</a:t>
            </a:r>
            <a:endParaRPr lang="en-US" sz="1100" dirty="0"/>
          </a:p>
        </p:txBody>
      </p:sp>
      <p:sp>
        <p:nvSpPr>
          <p:cNvPr id="13" name="text-34"/>
          <p:cNvSpPr txBox="1"/>
          <p:nvPr/>
        </p:nvSpPr>
        <p:spPr>
          <a:xfrm>
            <a:off x="5715000" y="2011680"/>
            <a:ext cx="2880360" cy="365760"/>
          </a:xfrm>
          <a:prstGeom prst="rect">
            <a:avLst/>
          </a:prstGeom>
          <a:noFill/>
          <a:ln/>
        </p:spPr>
        <p:txBody>
          <a:bodyPr wrap="square" lIns="0" tIns="0" rIns="0" bIns="0" rtlCol="0" anchor="t"/>
          <a:lstStyle/>
          <a:p>
            <a:pPr indent="0" marL="0">
              <a:buNone/>
            </a:pPr>
            <a:r>
              <a:rPr lang="en-US" sz="1600" b="1" dirty="0">
                <a:solidFill>
                  <a:schemeClr val="tx1"/>
                </a:solidFill>
              </a:rPr>
              <a:t>Phases 2–4, one pass</a:t>
            </a:r>
            <a:endParaRPr lang="en-US" sz="1600" dirty="0"/>
          </a:p>
        </p:txBody>
      </p:sp>
      <p:sp>
        <p:nvSpPr>
          <p:cNvPr id="14" name="text-35"/>
          <p:cNvSpPr txBox="1"/>
          <p:nvPr/>
        </p:nvSpPr>
        <p:spPr>
          <a:xfrm>
            <a:off x="5715000" y="2423160"/>
            <a:ext cx="2880360" cy="822960"/>
          </a:xfrm>
          <a:prstGeom prst="rect">
            <a:avLst/>
          </a:prstGeom>
          <a:noFill/>
          <a:ln/>
        </p:spPr>
        <p:txBody>
          <a:bodyPr wrap="square" lIns="0" tIns="0" rIns="0" bIns="0" rtlCol="0" anchor="t"/>
          <a:lstStyle/>
          <a:p>
            <a:pPr indent="0" marL="0">
              <a:buNone/>
            </a:pPr>
            <a:endParaRPr lang="en-US" sz="1300" dirty="0"/>
          </a:p>
        </p:txBody>
      </p:sp>
      <p:sp>
        <p:nvSpPr>
          <p:cNvPr id="15" name="pill-36"/>
          <p:cNvSpPr/>
          <p:nvPr/>
        </p:nvSpPr>
        <p:spPr>
          <a:xfrm>
            <a:off x="5715000" y="2404872"/>
            <a:ext cx="2880360" cy="365760"/>
          </a:xfrm>
          <a:prstGeom prst="roundRect">
            <a:avLst>
              <a:gd name="adj" fmla="val 50000"/>
            </a:avLst>
          </a:prstGeom>
          <a:solidFill>
            <a:schemeClr val="bg2"/>
          </a:solidFill>
          <a:ln w="12700">
            <a:solidFill>
              <a:schemeClr val="accent5"/>
            </a:solidFill>
            <a:prstDash val="solid"/>
          </a:ln>
        </p:spPr>
      </p:sp>
      <p:sp>
        <p:nvSpPr>
          <p:cNvPr id="16" name="dot-37"/>
          <p:cNvSpPr/>
          <p:nvPr/>
        </p:nvSpPr>
        <p:spPr>
          <a:xfrm>
            <a:off x="5861304" y="2542032"/>
            <a:ext cx="91440" cy="91440"/>
          </a:xfrm>
          <a:prstGeom prst="ellipse">
            <a:avLst/>
          </a:prstGeom>
          <a:solidFill>
            <a:schemeClr val="accent2"/>
          </a:solidFill>
          <a:ln w="12700">
            <a:solidFill>
              <a:schemeClr val="accent2"/>
            </a:solidFill>
            <a:prstDash val="solid"/>
          </a:ln>
        </p:spPr>
      </p:sp>
      <p:sp>
        <p:nvSpPr>
          <p:cNvPr id="17" name="text-38"/>
          <p:cNvSpPr txBox="1"/>
          <p:nvPr/>
        </p:nvSpPr>
        <p:spPr>
          <a:xfrm>
            <a:off x="6044184" y="2404872"/>
            <a:ext cx="2468880" cy="365760"/>
          </a:xfrm>
          <a:prstGeom prst="rect">
            <a:avLst/>
          </a:prstGeom>
          <a:noFill/>
          <a:ln/>
        </p:spPr>
        <p:txBody>
          <a:bodyPr wrap="square" lIns="0" tIns="0" rIns="0" bIns="0" rtlCol="0" anchor="ctr"/>
          <a:lstStyle/>
          <a:p>
            <a:pPr indent="0" marL="0">
              <a:buNone/>
            </a:pPr>
            <a:r>
              <a:rPr lang="en-US" sz="1100" dirty="0">
                <a:solidFill>
                  <a:schemeClr val="tx1"/>
                </a:solidFill>
              </a:rPr>
              <a:t>Syntax  · recursive descent</a:t>
            </a:r>
            <a:endParaRPr lang="en-US" sz="1100" dirty="0"/>
          </a:p>
        </p:txBody>
      </p:sp>
      <p:sp>
        <p:nvSpPr>
          <p:cNvPr id="18" name="pill-39"/>
          <p:cNvSpPr/>
          <p:nvPr/>
        </p:nvSpPr>
        <p:spPr>
          <a:xfrm>
            <a:off x="5715000" y="2697480"/>
            <a:ext cx="2880360" cy="365760"/>
          </a:xfrm>
          <a:prstGeom prst="roundRect">
            <a:avLst>
              <a:gd name="adj" fmla="val 50000"/>
            </a:avLst>
          </a:prstGeom>
          <a:solidFill>
            <a:schemeClr val="bg2"/>
          </a:solidFill>
          <a:ln w="12700">
            <a:solidFill>
              <a:schemeClr val="accent5"/>
            </a:solidFill>
            <a:prstDash val="solid"/>
          </a:ln>
        </p:spPr>
      </p:sp>
      <p:sp>
        <p:nvSpPr>
          <p:cNvPr id="19" name="dot-40"/>
          <p:cNvSpPr/>
          <p:nvPr/>
        </p:nvSpPr>
        <p:spPr>
          <a:xfrm>
            <a:off x="5861304" y="2834640"/>
            <a:ext cx="91440" cy="91440"/>
          </a:xfrm>
          <a:prstGeom prst="ellipse">
            <a:avLst/>
          </a:prstGeom>
          <a:solidFill>
            <a:schemeClr val="accent3"/>
          </a:solidFill>
          <a:ln w="12700">
            <a:solidFill>
              <a:schemeClr val="accent3"/>
            </a:solidFill>
            <a:prstDash val="solid"/>
          </a:ln>
        </p:spPr>
      </p:sp>
      <p:sp>
        <p:nvSpPr>
          <p:cNvPr id="20" name="text-41"/>
          <p:cNvSpPr txBox="1"/>
          <p:nvPr/>
        </p:nvSpPr>
        <p:spPr>
          <a:xfrm>
            <a:off x="6044184" y="2697480"/>
            <a:ext cx="2468880" cy="365760"/>
          </a:xfrm>
          <a:prstGeom prst="rect">
            <a:avLst/>
          </a:prstGeom>
          <a:noFill/>
          <a:ln/>
        </p:spPr>
        <p:txBody>
          <a:bodyPr wrap="square" lIns="0" tIns="0" rIns="0" bIns="0" rtlCol="0" anchor="ctr"/>
          <a:lstStyle/>
          <a:p>
            <a:pPr indent="0" marL="0">
              <a:buNone/>
            </a:pPr>
            <a:r>
              <a:rPr lang="en-US" sz="1100" dirty="0">
                <a:solidFill>
                  <a:schemeClr val="tx1"/>
                </a:solidFill>
              </a:rPr>
              <a:t>Semantic · symbol table</a:t>
            </a:r>
            <a:endParaRPr lang="en-US" sz="1100" dirty="0"/>
          </a:p>
        </p:txBody>
      </p:sp>
      <p:sp>
        <p:nvSpPr>
          <p:cNvPr id="21" name="pill-42"/>
          <p:cNvSpPr/>
          <p:nvPr/>
        </p:nvSpPr>
        <p:spPr>
          <a:xfrm>
            <a:off x="5715000" y="2990088"/>
            <a:ext cx="2880360" cy="365760"/>
          </a:xfrm>
          <a:prstGeom prst="roundRect">
            <a:avLst>
              <a:gd name="adj" fmla="val 50000"/>
            </a:avLst>
          </a:prstGeom>
          <a:solidFill>
            <a:schemeClr val="bg2"/>
          </a:solidFill>
          <a:ln w="12700">
            <a:solidFill>
              <a:schemeClr val="accent5"/>
            </a:solidFill>
            <a:prstDash val="solid"/>
          </a:ln>
        </p:spPr>
      </p:sp>
      <p:sp>
        <p:nvSpPr>
          <p:cNvPr id="22" name="dot-43"/>
          <p:cNvSpPr/>
          <p:nvPr/>
        </p:nvSpPr>
        <p:spPr>
          <a:xfrm>
            <a:off x="5861304" y="3127248"/>
            <a:ext cx="91440" cy="91440"/>
          </a:xfrm>
          <a:prstGeom prst="ellipse">
            <a:avLst/>
          </a:prstGeom>
          <a:solidFill>
            <a:schemeClr val="accent6"/>
          </a:solidFill>
          <a:ln w="12700">
            <a:solidFill>
              <a:schemeClr val="accent6"/>
            </a:solidFill>
            <a:prstDash val="solid"/>
          </a:ln>
        </p:spPr>
      </p:sp>
      <p:sp>
        <p:nvSpPr>
          <p:cNvPr id="23" name="text-44"/>
          <p:cNvSpPr txBox="1"/>
          <p:nvPr/>
        </p:nvSpPr>
        <p:spPr>
          <a:xfrm>
            <a:off x="6044184" y="2990088"/>
            <a:ext cx="2468880" cy="365760"/>
          </a:xfrm>
          <a:prstGeom prst="rect">
            <a:avLst/>
          </a:prstGeom>
          <a:noFill/>
          <a:ln/>
        </p:spPr>
        <p:txBody>
          <a:bodyPr wrap="square" lIns="0" tIns="0" rIns="0" bIns="0" rtlCol="0" anchor="ctr"/>
          <a:lstStyle/>
          <a:p>
            <a:pPr indent="0" marL="0">
              <a:buNone/>
            </a:pPr>
            <a:r>
              <a:rPr lang="en-US" sz="1100" dirty="0">
                <a:solidFill>
                  <a:schemeClr val="tx1"/>
                </a:solidFill>
              </a:rPr>
              <a:t>TAC  · emit t1 = a op b</a:t>
            </a:r>
            <a:endParaRPr lang="en-US" sz="1100" dirty="0"/>
          </a:p>
        </p:txBody>
      </p:sp>
      <p:sp>
        <p:nvSpPr>
          <p:cNvPr id="24" name="panel-45"/>
          <p:cNvSpPr/>
          <p:nvPr/>
        </p:nvSpPr>
        <p:spPr>
          <a:xfrm>
            <a:off x="9235440" y="1508760"/>
            <a:ext cx="2404872" cy="1828800"/>
          </a:xfrm>
          <a:prstGeom prst="roundRect">
            <a:avLst>
              <a:gd name="adj" fmla="val 4000"/>
            </a:avLst>
          </a:prstGeom>
          <a:solidFill>
            <a:schemeClr val="bg2"/>
          </a:solidFill>
          <a:ln w="12700">
            <a:solidFill>
              <a:schemeClr val="accent5"/>
            </a:solidFill>
            <a:prstDash val="solid"/>
          </a:ln>
        </p:spPr>
      </p:sp>
      <p:sp>
        <p:nvSpPr>
          <p:cNvPr id="25" name="text-46"/>
          <p:cNvSpPr txBox="1"/>
          <p:nvPr/>
        </p:nvSpPr>
        <p:spPr>
          <a:xfrm>
            <a:off x="9418320" y="1691640"/>
            <a:ext cx="2039112" cy="274320"/>
          </a:xfrm>
          <a:prstGeom prst="rect">
            <a:avLst/>
          </a:prstGeom>
          <a:noFill/>
          <a:ln/>
        </p:spPr>
        <p:txBody>
          <a:bodyPr wrap="square" lIns="0" tIns="0" rIns="0" bIns="0" rtlCol="0" anchor="t"/>
          <a:lstStyle/>
          <a:p>
            <a:pPr indent="0" marL="0">
              <a:buNone/>
            </a:pPr>
            <a:r>
              <a:rPr lang="en-US" sz="1100" spc="100" kern="0" dirty="0">
                <a:solidFill>
                  <a:schemeClr val="tx1"/>
                </a:solidFill>
                <a:latin typeface="Courier New" pitchFamily="34" charset="0"/>
                <a:ea typeface="Courier New" pitchFamily="34" charset="-122"/>
                <a:cs typeface="Courier New" pitchFamily="34" charset="-120"/>
              </a:rPr>
              <a:t>main.cpp</a:t>
            </a:r>
            <a:endParaRPr lang="en-US" sz="1100" dirty="0"/>
          </a:p>
        </p:txBody>
      </p:sp>
      <p:sp>
        <p:nvSpPr>
          <p:cNvPr id="26" name="text-47"/>
          <p:cNvSpPr txBox="1"/>
          <p:nvPr/>
        </p:nvSpPr>
        <p:spPr>
          <a:xfrm>
            <a:off x="9418320" y="2011680"/>
            <a:ext cx="2039112" cy="365760"/>
          </a:xfrm>
          <a:prstGeom prst="rect">
            <a:avLst/>
          </a:prstGeom>
          <a:noFill/>
          <a:ln/>
        </p:spPr>
        <p:txBody>
          <a:bodyPr wrap="square" lIns="0" tIns="0" rIns="0" bIns="0" rtlCol="0" anchor="t"/>
          <a:lstStyle/>
          <a:p>
            <a:pPr indent="0" marL="0">
              <a:buNone/>
            </a:pPr>
            <a:r>
              <a:rPr lang="en-US" sz="1600" b="1" dirty="0">
                <a:solidFill>
                  <a:schemeClr val="tx1"/>
                </a:solidFill>
              </a:rPr>
              <a:t>Driver</a:t>
            </a:r>
            <a:endParaRPr lang="en-US" sz="1600" dirty="0"/>
          </a:p>
        </p:txBody>
      </p:sp>
      <p:sp>
        <p:nvSpPr>
          <p:cNvPr id="27" name="text-48"/>
          <p:cNvSpPr txBox="1"/>
          <p:nvPr/>
        </p:nvSpPr>
        <p:spPr>
          <a:xfrm>
            <a:off x="9418320" y="2423160"/>
            <a:ext cx="2039112" cy="822960"/>
          </a:xfrm>
          <a:prstGeom prst="rect">
            <a:avLst/>
          </a:prstGeom>
          <a:noFill/>
          <a:ln/>
        </p:spPr>
        <p:txBody>
          <a:bodyPr wrap="square" lIns="0" tIns="0" rIns="0" bIns="0" rtlCol="0" anchor="t"/>
          <a:lstStyle/>
          <a:p>
            <a:pPr indent="0" marL="0">
              <a:buNone/>
            </a:pPr>
            <a:r>
              <a:rPr lang="en-US" sz="1300" dirty="0">
                <a:solidFill>
                  <a:schemeClr val="tx2"/>
                </a:solidFill>
              </a:rPr>
              <a:t>Prints TAC, symbol table and phase summary</a:t>
            </a:r>
            <a:endParaRPr lang="en-US" sz="1300" dirty="0"/>
          </a:p>
        </p:txBody>
      </p:sp>
      <p:sp>
        <p:nvSpPr>
          <p:cNvPr id="28" name="arrow-49"/>
          <p:cNvSpPr/>
          <p:nvPr/>
        </p:nvSpPr>
        <p:spPr>
          <a:xfrm>
            <a:off x="2286000" y="2423160"/>
            <a:ext cx="457200" cy="0"/>
          </a:xfrm>
          <a:prstGeom prst="line">
            <a:avLst/>
          </a:prstGeom>
          <a:noFill/>
          <a:ln w="22225">
            <a:solidFill>
              <a:schemeClr val="tx2"/>
            </a:solidFill>
            <a:prstDash val="solid"/>
            <a:tailEnd type="triangle"/>
          </a:ln>
        </p:spPr>
      </p:sp>
      <p:sp>
        <p:nvSpPr>
          <p:cNvPr id="29" name="arrow-50"/>
          <p:cNvSpPr/>
          <p:nvPr/>
        </p:nvSpPr>
        <p:spPr>
          <a:xfrm>
            <a:off x="5074920" y="2423160"/>
            <a:ext cx="457200" cy="0"/>
          </a:xfrm>
          <a:prstGeom prst="line">
            <a:avLst/>
          </a:prstGeom>
          <a:noFill/>
          <a:ln w="22225">
            <a:solidFill>
              <a:schemeClr val="tx2"/>
            </a:solidFill>
            <a:prstDash val="solid"/>
            <a:tailEnd type="triangle"/>
          </a:ln>
        </p:spPr>
      </p:sp>
      <p:sp>
        <p:nvSpPr>
          <p:cNvPr id="30" name="arrow-51"/>
          <p:cNvSpPr/>
          <p:nvPr/>
        </p:nvSpPr>
        <p:spPr>
          <a:xfrm>
            <a:off x="8778240" y="2423160"/>
            <a:ext cx="457200" cy="0"/>
          </a:xfrm>
          <a:prstGeom prst="line">
            <a:avLst/>
          </a:prstGeom>
          <a:noFill/>
          <a:ln w="22225">
            <a:solidFill>
              <a:schemeClr val="tx2"/>
            </a:solidFill>
            <a:prstDash val="solid"/>
            <a:tailEnd type="triangle"/>
          </a:ln>
        </p:spPr>
      </p:sp>
      <p:sp>
        <p:nvSpPr>
          <p:cNvPr id="31" name="panel-52"/>
          <p:cNvSpPr/>
          <p:nvPr/>
        </p:nvSpPr>
        <p:spPr>
          <a:xfrm>
            <a:off x="2743200" y="3886200"/>
            <a:ext cx="8897112" cy="1051560"/>
          </a:xfrm>
          <a:prstGeom prst="roundRect">
            <a:avLst>
              <a:gd name="adj" fmla="val 6957"/>
            </a:avLst>
          </a:prstGeom>
          <a:solidFill>
            <a:srgbClr val="2A1A1A"/>
          </a:solidFill>
          <a:ln w="12700">
            <a:solidFill>
              <a:schemeClr val="accent1"/>
            </a:solidFill>
            <a:prstDash val="solid"/>
          </a:ln>
        </p:spPr>
      </p:sp>
      <p:sp>
        <p:nvSpPr>
          <p:cNvPr id="32" name="text-53"/>
          <p:cNvSpPr txBox="1"/>
          <p:nvPr/>
        </p:nvSpPr>
        <p:spPr>
          <a:xfrm>
            <a:off x="2926080" y="4023360"/>
            <a:ext cx="8503920" cy="365760"/>
          </a:xfrm>
          <a:prstGeom prst="rect">
            <a:avLst/>
          </a:prstGeom>
          <a:noFill/>
          <a:ln/>
        </p:spPr>
        <p:txBody>
          <a:bodyPr wrap="square" lIns="0" tIns="0" rIns="0" bIns="0" rtlCol="0" anchor="t"/>
          <a:lstStyle/>
          <a:p>
            <a:pPr indent="0" marL="0">
              <a:buNone/>
            </a:pPr>
            <a:r>
              <a:rPr lang="en-US" sz="1600" b="1" dirty="0">
                <a:solidFill>
                  <a:schemeClr val="accent1"/>
                </a:solidFill>
              </a:rPr>
              <a:t>Phase 5 · CompileError </a:t>
            </a:r>
            <a:pPr indent="0" marL="0">
              <a:buNone/>
            </a:pPr>
            <a:r>
              <a:rPr lang="en-US" sz="1400" dirty="0">
                <a:solidFill>
                  <a:schemeClr val="tx1"/>
                </a:solidFill>
                <a:latin typeface="Courier New" pitchFamily="34" charset="0"/>
                <a:ea typeface="Courier New" pitchFamily="34" charset="-122"/>
                <a:cs typeface="Courier New" pitchFamily="34" charset="-120"/>
              </a:rPr>
              <a:t>{ line, phase, message, suggestion }</a:t>
            </a:r>
            <a:endParaRPr lang="en-US" sz="1600" dirty="0"/>
          </a:p>
        </p:txBody>
      </p:sp>
      <p:sp>
        <p:nvSpPr>
          <p:cNvPr id="33" name="text-54"/>
          <p:cNvSpPr txBox="1"/>
          <p:nvPr/>
        </p:nvSpPr>
        <p:spPr>
          <a:xfrm>
            <a:off x="2926080" y="4434840"/>
            <a:ext cx="8503920" cy="411480"/>
          </a:xfrm>
          <a:prstGeom prst="rect">
            <a:avLst/>
          </a:prstGeom>
          <a:noFill/>
          <a:ln/>
        </p:spPr>
        <p:txBody>
          <a:bodyPr wrap="square" lIns="0" tIns="0" rIns="0" bIns="0" rtlCol="0" anchor="t"/>
          <a:lstStyle/>
          <a:p>
            <a:pPr indent="0" marL="0">
              <a:buNone/>
            </a:pPr>
            <a:r>
              <a:rPr lang="en-US" sz="1300" dirty="0">
                <a:solidFill>
                  <a:schemeClr val="tx2"/>
                </a:solidFill>
              </a:rPr>
              <a:t>Any phase throws it at the first problem; main.cpp catches it, prints the explanation, and no TAC is shown.</a:t>
            </a:r>
            <a:endParaRPr lang="en-US" sz="1300" dirty="0"/>
          </a:p>
        </p:txBody>
      </p:sp>
      <p:sp>
        <p:nvSpPr>
          <p:cNvPr id="34" name="arrow-55"/>
          <p:cNvSpPr/>
          <p:nvPr/>
        </p:nvSpPr>
        <p:spPr>
          <a:xfrm>
            <a:off x="3904488" y="3337560"/>
            <a:ext cx="0" cy="548640"/>
          </a:xfrm>
          <a:prstGeom prst="line">
            <a:avLst/>
          </a:prstGeom>
          <a:noFill/>
          <a:ln w="22225">
            <a:solidFill>
              <a:schemeClr val="accent1"/>
            </a:solidFill>
            <a:prstDash val="solid"/>
            <a:tailEnd type="triangle"/>
          </a:ln>
        </p:spPr>
      </p:sp>
      <p:sp>
        <p:nvSpPr>
          <p:cNvPr id="35" name="arrow-56"/>
          <p:cNvSpPr/>
          <p:nvPr/>
        </p:nvSpPr>
        <p:spPr>
          <a:xfrm>
            <a:off x="7150608" y="3337560"/>
            <a:ext cx="0" cy="548640"/>
          </a:xfrm>
          <a:prstGeom prst="line">
            <a:avLst/>
          </a:prstGeom>
          <a:noFill/>
          <a:ln w="22225">
            <a:solidFill>
              <a:schemeClr val="accent1"/>
            </a:solidFill>
            <a:prstDash val="solid"/>
            <a:tailEnd type="triangle"/>
          </a:ln>
        </p:spPr>
      </p:sp>
      <p:sp>
        <p:nvSpPr>
          <p:cNvPr id="36" name="arrow-57"/>
          <p:cNvSpPr/>
          <p:nvPr/>
        </p:nvSpPr>
        <p:spPr>
          <a:xfrm flipV="1">
            <a:off x="10424160" y="3337560"/>
            <a:ext cx="0" cy="548640"/>
          </a:xfrm>
          <a:prstGeom prst="line">
            <a:avLst/>
          </a:prstGeom>
          <a:noFill/>
          <a:ln w="22225">
            <a:solidFill>
              <a:schemeClr val="accent1"/>
            </a:solidFill>
            <a:prstDash val="solid"/>
            <a:tailEnd type="triangle"/>
          </a:ln>
        </p:spPr>
      </p:sp>
      <p:sp>
        <p:nvSpPr>
          <p:cNvPr id="37" name="pill-58"/>
          <p:cNvSpPr/>
          <p:nvPr/>
        </p:nvSpPr>
        <p:spPr>
          <a:xfrm>
            <a:off x="548640" y="5349240"/>
            <a:ext cx="5486400" cy="365760"/>
          </a:xfrm>
          <a:prstGeom prst="roundRect">
            <a:avLst>
              <a:gd name="adj" fmla="val 50000"/>
            </a:avLst>
          </a:prstGeom>
          <a:solidFill>
            <a:schemeClr val="bg2"/>
          </a:solidFill>
          <a:ln w="12700">
            <a:solidFill>
              <a:schemeClr val="accent5"/>
            </a:solidFill>
            <a:prstDash val="solid"/>
          </a:ln>
        </p:spPr>
      </p:sp>
      <p:sp>
        <p:nvSpPr>
          <p:cNvPr id="38" name="dot-59"/>
          <p:cNvSpPr/>
          <p:nvPr/>
        </p:nvSpPr>
        <p:spPr>
          <a:xfrm>
            <a:off x="694944" y="5486400"/>
            <a:ext cx="91440" cy="91440"/>
          </a:xfrm>
          <a:prstGeom prst="ellipse">
            <a:avLst/>
          </a:prstGeom>
          <a:solidFill>
            <a:schemeClr val="accent4"/>
          </a:solidFill>
          <a:ln w="12700">
            <a:solidFill>
              <a:schemeClr val="accent4"/>
            </a:solidFill>
            <a:prstDash val="solid"/>
          </a:ln>
        </p:spPr>
      </p:sp>
      <p:sp>
        <p:nvSpPr>
          <p:cNvPr id="39" name="text-60"/>
          <p:cNvSpPr txBox="1"/>
          <p:nvPr/>
        </p:nvSpPr>
        <p:spPr>
          <a:xfrm>
            <a:off x="877824" y="5349240"/>
            <a:ext cx="5074920" cy="365760"/>
          </a:xfrm>
          <a:prstGeom prst="rect">
            <a:avLst/>
          </a:prstGeom>
          <a:noFill/>
          <a:ln/>
        </p:spPr>
        <p:txBody>
          <a:bodyPr wrap="square" lIns="0" tIns="0" rIns="0" bIns="0" rtlCol="0" anchor="ctr"/>
          <a:lstStyle/>
          <a:p>
            <a:pPr indent="0" marL="0">
              <a:buNone/>
            </a:pPr>
            <a:r>
              <a:rPr lang="en-US" sz="1200" dirty="0">
                <a:solidFill>
                  <a:schemeClr val="tx1"/>
                </a:solidFill>
              </a:rPr>
              <a:t>web/server.py runs the same binary → JSON → playground</a:t>
            </a:r>
            <a:endParaRPr lang="en-US" sz="1200" dirty="0"/>
          </a:p>
        </p:txBody>
      </p:sp>
      <p:sp>
        <p:nvSpPr>
          <p:cNvPr id="40" name="pill-61"/>
          <p:cNvSpPr/>
          <p:nvPr/>
        </p:nvSpPr>
        <p:spPr>
          <a:xfrm>
            <a:off x="6291072" y="5349240"/>
            <a:ext cx="5349240" cy="365760"/>
          </a:xfrm>
          <a:prstGeom prst="roundRect">
            <a:avLst>
              <a:gd name="adj" fmla="val 50000"/>
            </a:avLst>
          </a:prstGeom>
          <a:solidFill>
            <a:schemeClr val="bg2"/>
          </a:solidFill>
          <a:ln w="12700">
            <a:solidFill>
              <a:schemeClr val="accent5"/>
            </a:solidFill>
            <a:prstDash val="solid"/>
          </a:ln>
        </p:spPr>
      </p:sp>
      <p:sp>
        <p:nvSpPr>
          <p:cNvPr id="41" name="dot-62"/>
          <p:cNvSpPr/>
          <p:nvPr/>
        </p:nvSpPr>
        <p:spPr>
          <a:xfrm>
            <a:off x="6437376" y="5486400"/>
            <a:ext cx="91440" cy="91440"/>
          </a:xfrm>
          <a:prstGeom prst="ellipse">
            <a:avLst/>
          </a:prstGeom>
          <a:solidFill>
            <a:schemeClr val="accent3"/>
          </a:solidFill>
          <a:ln w="12700">
            <a:solidFill>
              <a:schemeClr val="accent3"/>
            </a:solidFill>
            <a:prstDash val="solid"/>
          </a:ln>
        </p:spPr>
      </p:sp>
      <p:sp>
        <p:nvSpPr>
          <p:cNvPr id="42" name="text-63"/>
          <p:cNvSpPr txBox="1"/>
          <p:nvPr/>
        </p:nvSpPr>
        <p:spPr>
          <a:xfrm>
            <a:off x="6620256" y="5349240"/>
            <a:ext cx="4937760" cy="365760"/>
          </a:xfrm>
          <a:prstGeom prst="rect">
            <a:avLst/>
          </a:prstGeom>
          <a:noFill/>
          <a:ln/>
        </p:spPr>
        <p:txBody>
          <a:bodyPr wrap="square" lIns="0" tIns="0" rIns="0" bIns="0" rtlCol="0" anchor="ctr"/>
          <a:lstStyle/>
          <a:p>
            <a:pPr indent="0" marL="0">
              <a:buNone/>
            </a:pPr>
            <a:r>
              <a:rPr lang="en-US" sz="1200" dirty="0">
                <a:solidFill>
                  <a:schemeClr val="tx1"/>
                </a:solidFill>
              </a:rPr>
              <a:t>Exit codes: 0 ok · 1 compile error · 2 bad usage</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Phase 1 · The lexer makes tokens</a:t>
            </a:r>
            <a:endParaRPr lang="en-US" sz="3200" dirty="0"/>
          </a:p>
        </p:txBody>
      </p:sp>
      <p:sp>
        <p:nvSpPr>
          <p:cNvPr id="3" name="text-64"/>
          <p:cNvSpPr txBox="1"/>
          <p:nvPr/>
        </p:nvSpPr>
        <p:spPr>
          <a:xfrm>
            <a:off x="548640" y="1325880"/>
            <a:ext cx="2743200" cy="274320"/>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INPUT</a:t>
            </a:r>
            <a:endParaRPr lang="en-US" sz="1100" dirty="0"/>
          </a:p>
        </p:txBody>
      </p:sp>
      <p:sp>
        <p:nvSpPr>
          <p:cNvPr id="4" name="panel-65"/>
          <p:cNvSpPr/>
          <p:nvPr/>
        </p:nvSpPr>
        <p:spPr>
          <a:xfrm>
            <a:off x="548640" y="1645920"/>
            <a:ext cx="3840480" cy="685800"/>
          </a:xfrm>
          <a:prstGeom prst="roundRect">
            <a:avLst>
              <a:gd name="adj" fmla="val 10667"/>
            </a:avLst>
          </a:prstGeom>
          <a:solidFill>
            <a:srgbClr val="0B0D11"/>
          </a:solidFill>
          <a:ln w="12700">
            <a:solidFill>
              <a:schemeClr val="accent5"/>
            </a:solidFill>
            <a:prstDash val="solid"/>
          </a:ln>
        </p:spPr>
      </p:sp>
      <p:sp>
        <p:nvSpPr>
          <p:cNvPr id="5" name="text-66"/>
          <p:cNvSpPr txBox="1"/>
          <p:nvPr/>
        </p:nvSpPr>
        <p:spPr>
          <a:xfrm>
            <a:off x="777240" y="1828800"/>
            <a:ext cx="3383280" cy="320040"/>
          </a:xfrm>
          <a:prstGeom prst="rect">
            <a:avLst/>
          </a:prstGeom>
          <a:noFill/>
          <a:ln/>
        </p:spPr>
        <p:txBody>
          <a:bodyPr wrap="square" lIns="0" tIns="0" rIns="0" bIns="0" rtlCol="0" anchor="t"/>
          <a:lstStyle/>
          <a:p>
            <a:pPr indent="0" marL="0">
              <a:spcAft>
                <a:spcPts val="300"/>
              </a:spcAft>
              <a:buNone/>
            </a:pPr>
            <a:r>
              <a:rPr lang="en-US" sz="1700" dirty="0">
                <a:solidFill>
                  <a:schemeClr val="tx1"/>
                </a:solidFill>
                <a:latin typeface="Courier New" pitchFamily="34" charset="0"/>
                <a:ea typeface="Courier New" pitchFamily="34" charset="-122"/>
                <a:cs typeface="Courier New" pitchFamily="34" charset="-120"/>
              </a:rPr>
              <a:t>int c = a + b * 2;</a:t>
            </a:r>
            <a:endParaRPr lang="en-US" sz="1700" dirty="0"/>
          </a:p>
        </p:txBody>
      </p:sp>
      <p:sp>
        <p:nvSpPr>
          <p:cNvPr id="6" name="text-67"/>
          <p:cNvSpPr txBox="1"/>
          <p:nvPr/>
        </p:nvSpPr>
        <p:spPr>
          <a:xfrm>
            <a:off x="548640" y="2606040"/>
            <a:ext cx="5486400" cy="274320"/>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OUTPUT: vector&lt;Token&gt;</a:t>
            </a:r>
            <a:endParaRPr lang="en-US" sz="1100" dirty="0"/>
          </a:p>
        </p:txBody>
      </p:sp>
      <p:sp>
        <p:nvSpPr>
          <p:cNvPr id="7" name="panel-68"/>
          <p:cNvSpPr/>
          <p:nvPr/>
        </p:nvSpPr>
        <p:spPr>
          <a:xfrm>
            <a:off x="548640" y="2926080"/>
            <a:ext cx="1115568" cy="914400"/>
          </a:xfrm>
          <a:prstGeom prst="roundRect">
            <a:avLst>
              <a:gd name="adj" fmla="val 8000"/>
            </a:avLst>
          </a:prstGeom>
          <a:solidFill>
            <a:schemeClr val="bg2"/>
          </a:solidFill>
          <a:ln w="12700">
            <a:solidFill>
              <a:schemeClr val="accent5"/>
            </a:solidFill>
            <a:prstDash val="solid"/>
          </a:ln>
        </p:spPr>
      </p:sp>
      <p:sp>
        <p:nvSpPr>
          <p:cNvPr id="8" name="text-69"/>
          <p:cNvSpPr txBox="1"/>
          <p:nvPr/>
        </p:nvSpPr>
        <p:spPr>
          <a:xfrm>
            <a:off x="548640" y="2990088"/>
            <a:ext cx="1115568" cy="457200"/>
          </a:xfrm>
          <a:prstGeom prst="rect">
            <a:avLst/>
          </a:prstGeom>
          <a:noFill/>
          <a:ln/>
        </p:spPr>
        <p:txBody>
          <a:bodyPr wrap="square" lIns="0" tIns="0" rIns="0" bIns="0" rtlCol="0" anchor="t"/>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int</a:t>
            </a:r>
            <a:endParaRPr lang="en-US" sz="2000" dirty="0"/>
          </a:p>
        </p:txBody>
      </p:sp>
      <p:sp>
        <p:nvSpPr>
          <p:cNvPr id="9" name="text-70"/>
          <p:cNvSpPr txBox="1"/>
          <p:nvPr/>
        </p:nvSpPr>
        <p:spPr>
          <a:xfrm>
            <a:off x="548640" y="3474720"/>
            <a:ext cx="1115568" cy="274320"/>
          </a:xfrm>
          <a:prstGeom prst="rect">
            <a:avLst/>
          </a:prstGeom>
          <a:noFill/>
          <a:ln/>
        </p:spPr>
        <p:txBody>
          <a:bodyPr wrap="square" lIns="0" tIns="0" rIns="0" bIns="0" rtlCol="0" anchor="t"/>
          <a:lstStyle/>
          <a:p>
            <a:pPr algn="ctr" indent="0" marL="0">
              <a:buNone/>
            </a:pPr>
            <a:r>
              <a:rPr lang="en-US" sz="900" dirty="0">
                <a:solidFill>
                  <a:schemeClr val="accent6"/>
                </a:solidFill>
                <a:latin typeface="Courier New" pitchFamily="34" charset="0"/>
                <a:ea typeface="Courier New" pitchFamily="34" charset="-122"/>
                <a:cs typeface="Courier New" pitchFamily="34" charset="-120"/>
              </a:rPr>
              <a:t>KEYWORD</a:t>
            </a:r>
            <a:endParaRPr lang="en-US" sz="900" dirty="0"/>
          </a:p>
        </p:txBody>
      </p:sp>
      <p:sp>
        <p:nvSpPr>
          <p:cNvPr id="10" name="panel-71"/>
          <p:cNvSpPr/>
          <p:nvPr/>
        </p:nvSpPr>
        <p:spPr>
          <a:xfrm>
            <a:off x="1773936" y="2926080"/>
            <a:ext cx="1115568" cy="914400"/>
          </a:xfrm>
          <a:prstGeom prst="roundRect">
            <a:avLst>
              <a:gd name="adj" fmla="val 8000"/>
            </a:avLst>
          </a:prstGeom>
          <a:solidFill>
            <a:schemeClr val="bg2"/>
          </a:solidFill>
          <a:ln w="12700">
            <a:solidFill>
              <a:schemeClr val="accent5"/>
            </a:solidFill>
            <a:prstDash val="solid"/>
          </a:ln>
        </p:spPr>
      </p:sp>
      <p:sp>
        <p:nvSpPr>
          <p:cNvPr id="11" name="text-72"/>
          <p:cNvSpPr txBox="1"/>
          <p:nvPr/>
        </p:nvSpPr>
        <p:spPr>
          <a:xfrm>
            <a:off x="1773936" y="2990088"/>
            <a:ext cx="1115568" cy="457200"/>
          </a:xfrm>
          <a:prstGeom prst="rect">
            <a:avLst/>
          </a:prstGeom>
          <a:noFill/>
          <a:ln/>
        </p:spPr>
        <p:txBody>
          <a:bodyPr wrap="square" lIns="0" tIns="0" rIns="0" bIns="0" rtlCol="0" anchor="t"/>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c</a:t>
            </a:r>
            <a:endParaRPr lang="en-US" sz="2000" dirty="0"/>
          </a:p>
        </p:txBody>
      </p:sp>
      <p:sp>
        <p:nvSpPr>
          <p:cNvPr id="12" name="text-73"/>
          <p:cNvSpPr txBox="1"/>
          <p:nvPr/>
        </p:nvSpPr>
        <p:spPr>
          <a:xfrm>
            <a:off x="1773936" y="3474720"/>
            <a:ext cx="1115568" cy="274320"/>
          </a:xfrm>
          <a:prstGeom prst="rect">
            <a:avLst/>
          </a:prstGeom>
          <a:noFill/>
          <a:ln/>
        </p:spPr>
        <p:txBody>
          <a:bodyPr wrap="square" lIns="0" tIns="0" rIns="0" bIns="0" rtlCol="0" anchor="t"/>
          <a:lstStyle/>
          <a:p>
            <a:pPr algn="ctr" indent="0" marL="0">
              <a:buNone/>
            </a:pPr>
            <a:r>
              <a:rPr lang="en-US" sz="900" dirty="0">
                <a:solidFill>
                  <a:schemeClr val="accent4"/>
                </a:solidFill>
                <a:latin typeface="Courier New" pitchFamily="34" charset="0"/>
                <a:ea typeface="Courier New" pitchFamily="34" charset="-122"/>
                <a:cs typeface="Courier New" pitchFamily="34" charset="-120"/>
              </a:rPr>
              <a:t>IDENTIFIER</a:t>
            </a:r>
            <a:endParaRPr lang="en-US" sz="900" dirty="0"/>
          </a:p>
        </p:txBody>
      </p:sp>
      <p:sp>
        <p:nvSpPr>
          <p:cNvPr id="13" name="panel-74"/>
          <p:cNvSpPr/>
          <p:nvPr/>
        </p:nvSpPr>
        <p:spPr>
          <a:xfrm>
            <a:off x="2999232" y="2926080"/>
            <a:ext cx="1115568" cy="914400"/>
          </a:xfrm>
          <a:prstGeom prst="roundRect">
            <a:avLst>
              <a:gd name="adj" fmla="val 8000"/>
            </a:avLst>
          </a:prstGeom>
          <a:solidFill>
            <a:schemeClr val="bg2"/>
          </a:solidFill>
          <a:ln w="12700">
            <a:solidFill>
              <a:schemeClr val="accent5"/>
            </a:solidFill>
            <a:prstDash val="solid"/>
          </a:ln>
        </p:spPr>
      </p:sp>
      <p:sp>
        <p:nvSpPr>
          <p:cNvPr id="14" name="text-75"/>
          <p:cNvSpPr txBox="1"/>
          <p:nvPr/>
        </p:nvSpPr>
        <p:spPr>
          <a:xfrm>
            <a:off x="2999232" y="2990088"/>
            <a:ext cx="1115568" cy="457200"/>
          </a:xfrm>
          <a:prstGeom prst="rect">
            <a:avLst/>
          </a:prstGeom>
          <a:noFill/>
          <a:ln/>
        </p:spPr>
        <p:txBody>
          <a:bodyPr wrap="square" lIns="0" tIns="0" rIns="0" bIns="0" rtlCol="0" anchor="t"/>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a:t>
            </a:r>
            <a:endParaRPr lang="en-US" sz="2000" dirty="0"/>
          </a:p>
        </p:txBody>
      </p:sp>
      <p:sp>
        <p:nvSpPr>
          <p:cNvPr id="15" name="text-76"/>
          <p:cNvSpPr txBox="1"/>
          <p:nvPr/>
        </p:nvSpPr>
        <p:spPr>
          <a:xfrm>
            <a:off x="2999232" y="3474720"/>
            <a:ext cx="1115568" cy="274320"/>
          </a:xfrm>
          <a:prstGeom prst="rect">
            <a:avLst/>
          </a:prstGeom>
          <a:noFill/>
          <a:ln/>
        </p:spPr>
        <p:txBody>
          <a:bodyPr wrap="square" lIns="0" tIns="0" rIns="0" bIns="0" rtlCol="0" anchor="t"/>
          <a:lstStyle/>
          <a:p>
            <a:pPr algn="ctr" indent="0" marL="0">
              <a:buNone/>
            </a:pPr>
            <a:r>
              <a:rPr lang="en-US" sz="900" dirty="0">
                <a:solidFill>
                  <a:schemeClr val="accent3"/>
                </a:solidFill>
                <a:latin typeface="Courier New" pitchFamily="34" charset="0"/>
                <a:ea typeface="Courier New" pitchFamily="34" charset="-122"/>
                <a:cs typeface="Courier New" pitchFamily="34" charset="-120"/>
              </a:rPr>
              <a:t>ASSIGN</a:t>
            </a:r>
            <a:endParaRPr lang="en-US" sz="900" dirty="0"/>
          </a:p>
        </p:txBody>
      </p:sp>
      <p:sp>
        <p:nvSpPr>
          <p:cNvPr id="16" name="panel-77"/>
          <p:cNvSpPr/>
          <p:nvPr/>
        </p:nvSpPr>
        <p:spPr>
          <a:xfrm>
            <a:off x="4224528" y="2926080"/>
            <a:ext cx="1115568" cy="914400"/>
          </a:xfrm>
          <a:prstGeom prst="roundRect">
            <a:avLst>
              <a:gd name="adj" fmla="val 8000"/>
            </a:avLst>
          </a:prstGeom>
          <a:solidFill>
            <a:schemeClr val="bg2"/>
          </a:solidFill>
          <a:ln w="12700">
            <a:solidFill>
              <a:schemeClr val="accent5"/>
            </a:solidFill>
            <a:prstDash val="solid"/>
          </a:ln>
        </p:spPr>
      </p:sp>
      <p:sp>
        <p:nvSpPr>
          <p:cNvPr id="17" name="text-78"/>
          <p:cNvSpPr txBox="1"/>
          <p:nvPr/>
        </p:nvSpPr>
        <p:spPr>
          <a:xfrm>
            <a:off x="4224528" y="2990088"/>
            <a:ext cx="1115568" cy="457200"/>
          </a:xfrm>
          <a:prstGeom prst="rect">
            <a:avLst/>
          </a:prstGeom>
          <a:noFill/>
          <a:ln/>
        </p:spPr>
        <p:txBody>
          <a:bodyPr wrap="square" lIns="0" tIns="0" rIns="0" bIns="0" rtlCol="0" anchor="t"/>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a</a:t>
            </a:r>
            <a:endParaRPr lang="en-US" sz="2000" dirty="0"/>
          </a:p>
        </p:txBody>
      </p:sp>
      <p:sp>
        <p:nvSpPr>
          <p:cNvPr id="18" name="text-79"/>
          <p:cNvSpPr txBox="1"/>
          <p:nvPr/>
        </p:nvSpPr>
        <p:spPr>
          <a:xfrm>
            <a:off x="4224528" y="3474720"/>
            <a:ext cx="1115568" cy="274320"/>
          </a:xfrm>
          <a:prstGeom prst="rect">
            <a:avLst/>
          </a:prstGeom>
          <a:noFill/>
          <a:ln/>
        </p:spPr>
        <p:txBody>
          <a:bodyPr wrap="square" lIns="0" tIns="0" rIns="0" bIns="0" rtlCol="0" anchor="t"/>
          <a:lstStyle/>
          <a:p>
            <a:pPr algn="ctr" indent="0" marL="0">
              <a:buNone/>
            </a:pPr>
            <a:r>
              <a:rPr lang="en-US" sz="900" dirty="0">
                <a:solidFill>
                  <a:schemeClr val="accent4"/>
                </a:solidFill>
                <a:latin typeface="Courier New" pitchFamily="34" charset="0"/>
                <a:ea typeface="Courier New" pitchFamily="34" charset="-122"/>
                <a:cs typeface="Courier New" pitchFamily="34" charset="-120"/>
              </a:rPr>
              <a:t>IDENTIFIER</a:t>
            </a:r>
            <a:endParaRPr lang="en-US" sz="900" dirty="0"/>
          </a:p>
        </p:txBody>
      </p:sp>
      <p:sp>
        <p:nvSpPr>
          <p:cNvPr id="19" name="panel-80"/>
          <p:cNvSpPr/>
          <p:nvPr/>
        </p:nvSpPr>
        <p:spPr>
          <a:xfrm>
            <a:off x="5449824" y="2926080"/>
            <a:ext cx="1115568" cy="914400"/>
          </a:xfrm>
          <a:prstGeom prst="roundRect">
            <a:avLst>
              <a:gd name="adj" fmla="val 8000"/>
            </a:avLst>
          </a:prstGeom>
          <a:solidFill>
            <a:schemeClr val="bg2"/>
          </a:solidFill>
          <a:ln w="12700">
            <a:solidFill>
              <a:schemeClr val="accent5"/>
            </a:solidFill>
            <a:prstDash val="solid"/>
          </a:ln>
        </p:spPr>
      </p:sp>
      <p:sp>
        <p:nvSpPr>
          <p:cNvPr id="20" name="text-81"/>
          <p:cNvSpPr txBox="1"/>
          <p:nvPr/>
        </p:nvSpPr>
        <p:spPr>
          <a:xfrm>
            <a:off x="5449824" y="2990088"/>
            <a:ext cx="1115568" cy="457200"/>
          </a:xfrm>
          <a:prstGeom prst="rect">
            <a:avLst/>
          </a:prstGeom>
          <a:noFill/>
          <a:ln/>
        </p:spPr>
        <p:txBody>
          <a:bodyPr wrap="square" lIns="0" tIns="0" rIns="0" bIns="0" rtlCol="0" anchor="t"/>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a:t>
            </a:r>
            <a:endParaRPr lang="en-US" sz="2000" dirty="0"/>
          </a:p>
        </p:txBody>
      </p:sp>
      <p:sp>
        <p:nvSpPr>
          <p:cNvPr id="21" name="text-82"/>
          <p:cNvSpPr txBox="1"/>
          <p:nvPr/>
        </p:nvSpPr>
        <p:spPr>
          <a:xfrm>
            <a:off x="5449824" y="3474720"/>
            <a:ext cx="1115568" cy="274320"/>
          </a:xfrm>
          <a:prstGeom prst="rect">
            <a:avLst/>
          </a:prstGeom>
          <a:noFill/>
          <a:ln/>
        </p:spPr>
        <p:txBody>
          <a:bodyPr wrap="square" lIns="0" tIns="0" rIns="0" bIns="0" rtlCol="0" anchor="t"/>
          <a:lstStyle/>
          <a:p>
            <a:pPr algn="ctr" indent="0" marL="0">
              <a:buNone/>
            </a:pPr>
            <a:r>
              <a:rPr lang="en-US" sz="900" dirty="0">
                <a:solidFill>
                  <a:schemeClr val="accent1"/>
                </a:solidFill>
                <a:latin typeface="Courier New" pitchFamily="34" charset="0"/>
                <a:ea typeface="Courier New" pitchFamily="34" charset="-122"/>
                <a:cs typeface="Courier New" pitchFamily="34" charset="-120"/>
              </a:rPr>
              <a:t>OPERATOR</a:t>
            </a:r>
            <a:endParaRPr lang="en-US" sz="900" dirty="0"/>
          </a:p>
        </p:txBody>
      </p:sp>
      <p:sp>
        <p:nvSpPr>
          <p:cNvPr id="22" name="panel-83"/>
          <p:cNvSpPr/>
          <p:nvPr/>
        </p:nvSpPr>
        <p:spPr>
          <a:xfrm>
            <a:off x="6675120" y="2926080"/>
            <a:ext cx="1115568" cy="914400"/>
          </a:xfrm>
          <a:prstGeom prst="roundRect">
            <a:avLst>
              <a:gd name="adj" fmla="val 8000"/>
            </a:avLst>
          </a:prstGeom>
          <a:solidFill>
            <a:schemeClr val="bg2"/>
          </a:solidFill>
          <a:ln w="12700">
            <a:solidFill>
              <a:schemeClr val="accent5"/>
            </a:solidFill>
            <a:prstDash val="solid"/>
          </a:ln>
        </p:spPr>
      </p:sp>
      <p:sp>
        <p:nvSpPr>
          <p:cNvPr id="23" name="text-84"/>
          <p:cNvSpPr txBox="1"/>
          <p:nvPr/>
        </p:nvSpPr>
        <p:spPr>
          <a:xfrm>
            <a:off x="6675120" y="2990088"/>
            <a:ext cx="1115568" cy="457200"/>
          </a:xfrm>
          <a:prstGeom prst="rect">
            <a:avLst/>
          </a:prstGeom>
          <a:noFill/>
          <a:ln/>
        </p:spPr>
        <p:txBody>
          <a:bodyPr wrap="square" lIns="0" tIns="0" rIns="0" bIns="0" rtlCol="0" anchor="t"/>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b</a:t>
            </a:r>
            <a:endParaRPr lang="en-US" sz="2000" dirty="0"/>
          </a:p>
        </p:txBody>
      </p:sp>
      <p:sp>
        <p:nvSpPr>
          <p:cNvPr id="24" name="text-85"/>
          <p:cNvSpPr txBox="1"/>
          <p:nvPr/>
        </p:nvSpPr>
        <p:spPr>
          <a:xfrm>
            <a:off x="6675120" y="3474720"/>
            <a:ext cx="1115568" cy="274320"/>
          </a:xfrm>
          <a:prstGeom prst="rect">
            <a:avLst/>
          </a:prstGeom>
          <a:noFill/>
          <a:ln/>
        </p:spPr>
        <p:txBody>
          <a:bodyPr wrap="square" lIns="0" tIns="0" rIns="0" bIns="0" rtlCol="0" anchor="t"/>
          <a:lstStyle/>
          <a:p>
            <a:pPr algn="ctr" indent="0" marL="0">
              <a:buNone/>
            </a:pPr>
            <a:r>
              <a:rPr lang="en-US" sz="900" dirty="0">
                <a:solidFill>
                  <a:schemeClr val="accent4"/>
                </a:solidFill>
                <a:latin typeface="Courier New" pitchFamily="34" charset="0"/>
                <a:ea typeface="Courier New" pitchFamily="34" charset="-122"/>
                <a:cs typeface="Courier New" pitchFamily="34" charset="-120"/>
              </a:rPr>
              <a:t>IDENTIFIER</a:t>
            </a:r>
            <a:endParaRPr lang="en-US" sz="900" dirty="0"/>
          </a:p>
        </p:txBody>
      </p:sp>
      <p:sp>
        <p:nvSpPr>
          <p:cNvPr id="25" name="panel-86"/>
          <p:cNvSpPr/>
          <p:nvPr/>
        </p:nvSpPr>
        <p:spPr>
          <a:xfrm>
            <a:off x="7900416" y="2926080"/>
            <a:ext cx="1115568" cy="914400"/>
          </a:xfrm>
          <a:prstGeom prst="roundRect">
            <a:avLst>
              <a:gd name="adj" fmla="val 8000"/>
            </a:avLst>
          </a:prstGeom>
          <a:solidFill>
            <a:schemeClr val="bg2"/>
          </a:solidFill>
          <a:ln w="12700">
            <a:solidFill>
              <a:schemeClr val="accent5"/>
            </a:solidFill>
            <a:prstDash val="solid"/>
          </a:ln>
        </p:spPr>
      </p:sp>
      <p:sp>
        <p:nvSpPr>
          <p:cNvPr id="26" name="text-87"/>
          <p:cNvSpPr txBox="1"/>
          <p:nvPr/>
        </p:nvSpPr>
        <p:spPr>
          <a:xfrm>
            <a:off x="7900416" y="2990088"/>
            <a:ext cx="1115568" cy="457200"/>
          </a:xfrm>
          <a:prstGeom prst="rect">
            <a:avLst/>
          </a:prstGeom>
          <a:noFill/>
          <a:ln/>
        </p:spPr>
        <p:txBody>
          <a:bodyPr wrap="square" lIns="0" tIns="0" rIns="0" bIns="0" rtlCol="0" anchor="t"/>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a:t>
            </a:r>
            <a:endParaRPr lang="en-US" sz="2000" dirty="0"/>
          </a:p>
        </p:txBody>
      </p:sp>
      <p:sp>
        <p:nvSpPr>
          <p:cNvPr id="27" name="text-88"/>
          <p:cNvSpPr txBox="1"/>
          <p:nvPr/>
        </p:nvSpPr>
        <p:spPr>
          <a:xfrm>
            <a:off x="7900416" y="3474720"/>
            <a:ext cx="1115568" cy="274320"/>
          </a:xfrm>
          <a:prstGeom prst="rect">
            <a:avLst/>
          </a:prstGeom>
          <a:noFill/>
          <a:ln/>
        </p:spPr>
        <p:txBody>
          <a:bodyPr wrap="square" lIns="0" tIns="0" rIns="0" bIns="0" rtlCol="0" anchor="t"/>
          <a:lstStyle/>
          <a:p>
            <a:pPr algn="ctr" indent="0" marL="0">
              <a:buNone/>
            </a:pPr>
            <a:r>
              <a:rPr lang="en-US" sz="900" dirty="0">
                <a:solidFill>
                  <a:schemeClr val="accent1"/>
                </a:solidFill>
                <a:latin typeface="Courier New" pitchFamily="34" charset="0"/>
                <a:ea typeface="Courier New" pitchFamily="34" charset="-122"/>
                <a:cs typeface="Courier New" pitchFamily="34" charset="-120"/>
              </a:rPr>
              <a:t>OPERATOR</a:t>
            </a:r>
            <a:endParaRPr lang="en-US" sz="900" dirty="0"/>
          </a:p>
        </p:txBody>
      </p:sp>
      <p:sp>
        <p:nvSpPr>
          <p:cNvPr id="28" name="panel-89"/>
          <p:cNvSpPr/>
          <p:nvPr/>
        </p:nvSpPr>
        <p:spPr>
          <a:xfrm>
            <a:off x="9125712" y="2926080"/>
            <a:ext cx="1115568" cy="914400"/>
          </a:xfrm>
          <a:prstGeom prst="roundRect">
            <a:avLst>
              <a:gd name="adj" fmla="val 8000"/>
            </a:avLst>
          </a:prstGeom>
          <a:solidFill>
            <a:schemeClr val="bg2"/>
          </a:solidFill>
          <a:ln w="12700">
            <a:solidFill>
              <a:schemeClr val="accent5"/>
            </a:solidFill>
            <a:prstDash val="solid"/>
          </a:ln>
        </p:spPr>
      </p:sp>
      <p:sp>
        <p:nvSpPr>
          <p:cNvPr id="29" name="text-90"/>
          <p:cNvSpPr txBox="1"/>
          <p:nvPr/>
        </p:nvSpPr>
        <p:spPr>
          <a:xfrm>
            <a:off x="9125712" y="2990088"/>
            <a:ext cx="1115568" cy="457200"/>
          </a:xfrm>
          <a:prstGeom prst="rect">
            <a:avLst/>
          </a:prstGeom>
          <a:noFill/>
          <a:ln/>
        </p:spPr>
        <p:txBody>
          <a:bodyPr wrap="square" lIns="0" tIns="0" rIns="0" bIns="0" rtlCol="0" anchor="t"/>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2</a:t>
            </a:r>
            <a:endParaRPr lang="en-US" sz="2000" dirty="0"/>
          </a:p>
        </p:txBody>
      </p:sp>
      <p:sp>
        <p:nvSpPr>
          <p:cNvPr id="30" name="text-91"/>
          <p:cNvSpPr txBox="1"/>
          <p:nvPr/>
        </p:nvSpPr>
        <p:spPr>
          <a:xfrm>
            <a:off x="9125712" y="3474720"/>
            <a:ext cx="1115568" cy="274320"/>
          </a:xfrm>
          <a:prstGeom prst="rect">
            <a:avLst/>
          </a:prstGeom>
          <a:noFill/>
          <a:ln/>
        </p:spPr>
        <p:txBody>
          <a:bodyPr wrap="square" lIns="0" tIns="0" rIns="0" bIns="0" rtlCol="0" anchor="t"/>
          <a:lstStyle/>
          <a:p>
            <a:pPr algn="ctr" indent="0" marL="0">
              <a:buNone/>
            </a:pPr>
            <a:r>
              <a:rPr lang="en-US" sz="900" dirty="0">
                <a:solidFill>
                  <a:schemeClr val="accent2"/>
                </a:solidFill>
                <a:latin typeface="Courier New" pitchFamily="34" charset="0"/>
                <a:ea typeface="Courier New" pitchFamily="34" charset="-122"/>
                <a:cs typeface="Courier New" pitchFamily="34" charset="-120"/>
              </a:rPr>
              <a:t>NUMBER</a:t>
            </a:r>
            <a:endParaRPr lang="en-US" sz="900" dirty="0"/>
          </a:p>
        </p:txBody>
      </p:sp>
      <p:sp>
        <p:nvSpPr>
          <p:cNvPr id="31" name="panel-92"/>
          <p:cNvSpPr/>
          <p:nvPr/>
        </p:nvSpPr>
        <p:spPr>
          <a:xfrm>
            <a:off x="10351008" y="2926080"/>
            <a:ext cx="1115568" cy="914400"/>
          </a:xfrm>
          <a:prstGeom prst="roundRect">
            <a:avLst>
              <a:gd name="adj" fmla="val 8000"/>
            </a:avLst>
          </a:prstGeom>
          <a:solidFill>
            <a:schemeClr val="bg2"/>
          </a:solidFill>
          <a:ln w="12700">
            <a:solidFill>
              <a:schemeClr val="accent5"/>
            </a:solidFill>
            <a:prstDash val="solid"/>
          </a:ln>
        </p:spPr>
      </p:sp>
      <p:sp>
        <p:nvSpPr>
          <p:cNvPr id="32" name="text-93"/>
          <p:cNvSpPr txBox="1"/>
          <p:nvPr/>
        </p:nvSpPr>
        <p:spPr>
          <a:xfrm>
            <a:off x="10351008" y="2990088"/>
            <a:ext cx="1115568" cy="457200"/>
          </a:xfrm>
          <a:prstGeom prst="rect">
            <a:avLst/>
          </a:prstGeom>
          <a:noFill/>
          <a:ln/>
        </p:spPr>
        <p:txBody>
          <a:bodyPr wrap="square" lIns="0" tIns="0" rIns="0" bIns="0" rtlCol="0" anchor="t"/>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a:t>
            </a:r>
            <a:endParaRPr lang="en-US" sz="2000" dirty="0"/>
          </a:p>
        </p:txBody>
      </p:sp>
      <p:sp>
        <p:nvSpPr>
          <p:cNvPr id="33" name="text-94"/>
          <p:cNvSpPr txBox="1"/>
          <p:nvPr/>
        </p:nvSpPr>
        <p:spPr>
          <a:xfrm>
            <a:off x="10351008" y="3474720"/>
            <a:ext cx="1115568" cy="274320"/>
          </a:xfrm>
          <a:prstGeom prst="rect">
            <a:avLst/>
          </a:prstGeom>
          <a:noFill/>
          <a:ln/>
        </p:spPr>
        <p:txBody>
          <a:bodyPr wrap="square" lIns="0" tIns="0" rIns="0" bIns="0" rtlCol="0" anchor="t"/>
          <a:lstStyle/>
          <a:p>
            <a:pPr algn="ctr" indent="0" marL="0">
              <a:buNone/>
            </a:pPr>
            <a:r>
              <a:rPr lang="en-US" sz="900" dirty="0">
                <a:solidFill>
                  <a:schemeClr val="tx2"/>
                </a:solidFill>
                <a:latin typeface="Courier New" pitchFamily="34" charset="0"/>
                <a:ea typeface="Courier New" pitchFamily="34" charset="-122"/>
                <a:cs typeface="Courier New" pitchFamily="34" charset="-120"/>
              </a:rPr>
              <a:t>SEMICOLON</a:t>
            </a:r>
            <a:endParaRPr lang="en-US" sz="900" dirty="0"/>
          </a:p>
        </p:txBody>
      </p:sp>
      <p:sp>
        <p:nvSpPr>
          <p:cNvPr id="34" name="text-95"/>
          <p:cNvSpPr txBox="1"/>
          <p:nvPr/>
        </p:nvSpPr>
        <p:spPr>
          <a:xfrm>
            <a:off x="548640" y="4206240"/>
            <a:ext cx="3474720" cy="365760"/>
          </a:xfrm>
          <a:prstGeom prst="rect">
            <a:avLst/>
          </a:prstGeom>
          <a:noFill/>
          <a:ln/>
        </p:spPr>
        <p:txBody>
          <a:bodyPr wrap="square" lIns="0" tIns="0" rIns="0" bIns="0" rtlCol="0" anchor="t"/>
          <a:lstStyle/>
          <a:p>
            <a:pPr indent="0" marL="0">
              <a:buNone/>
            </a:pPr>
            <a:r>
              <a:rPr lang="en-US" sz="1800" b="1" dirty="0">
                <a:solidFill>
                  <a:schemeClr val="accent2"/>
                </a:solidFill>
              </a:rPr>
              <a:t>Skips &amp; tracks</a:t>
            </a:r>
            <a:endParaRPr lang="en-US" sz="1800" dirty="0"/>
          </a:p>
        </p:txBody>
      </p:sp>
      <p:sp>
        <p:nvSpPr>
          <p:cNvPr id="35" name="text-96"/>
          <p:cNvSpPr txBox="1"/>
          <p:nvPr/>
        </p:nvSpPr>
        <p:spPr>
          <a:xfrm>
            <a:off x="548640" y="4617720"/>
            <a:ext cx="3474720" cy="146304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Spaces and // comments</a:t>
            </a:r>
            <a:endParaRPr lang="en-US" sz="1500" dirty="0"/>
          </a:p>
          <a:p>
            <a:pPr marL="342900" indent="-342900">
              <a:spcAft>
                <a:spcPts val="400"/>
              </a:spcAft>
              <a:buSzPct val="100000"/>
              <a:buChar char="•"/>
            </a:pPr>
            <a:r>
              <a:rPr lang="en-US" sz="1500" dirty="0">
                <a:solidFill>
                  <a:schemeClr val="tx1"/>
                </a:solidFill>
              </a:rPr>
              <a:t>Counts newlines, so every token carries its line</a:t>
            </a:r>
            <a:endParaRPr lang="en-US" sz="1500" dirty="0"/>
          </a:p>
        </p:txBody>
      </p:sp>
      <p:sp>
        <p:nvSpPr>
          <p:cNvPr id="36" name="text-97"/>
          <p:cNvSpPr txBox="1"/>
          <p:nvPr/>
        </p:nvSpPr>
        <p:spPr>
          <a:xfrm>
            <a:off x="4297680" y="4206240"/>
            <a:ext cx="3474720" cy="365760"/>
          </a:xfrm>
          <a:prstGeom prst="rect">
            <a:avLst/>
          </a:prstGeom>
          <a:noFill/>
          <a:ln/>
        </p:spPr>
        <p:txBody>
          <a:bodyPr wrap="square" lIns="0" tIns="0" rIns="0" bIns="0" rtlCol="0" anchor="t"/>
          <a:lstStyle/>
          <a:p>
            <a:pPr indent="0" marL="0">
              <a:buNone/>
            </a:pPr>
            <a:r>
              <a:rPr lang="en-US" sz="1800" b="1" dirty="0">
                <a:solidFill>
                  <a:schemeClr val="accent1"/>
                </a:solidFill>
              </a:rPr>
              <a:t>Rejects</a:t>
            </a:r>
            <a:endParaRPr lang="en-US" sz="1800" dirty="0"/>
          </a:p>
        </p:txBody>
      </p:sp>
      <p:sp>
        <p:nvSpPr>
          <p:cNvPr id="37" name="text-98"/>
          <p:cNvSpPr txBox="1"/>
          <p:nvPr/>
        </p:nvSpPr>
        <p:spPr>
          <a:xfrm>
            <a:off x="4297680" y="4617720"/>
            <a:ext cx="3474720" cy="146304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Unknown symbols such as @</a:t>
            </a:r>
            <a:endParaRPr lang="en-US" sz="1500" dirty="0"/>
          </a:p>
          <a:p>
            <a:pPr marL="342900" indent="-342900">
              <a:spcAft>
                <a:spcPts val="400"/>
              </a:spcAft>
              <a:buSzPct val="100000"/>
              <a:buChar char="•"/>
            </a:pPr>
            <a:r>
              <a:rPr lang="en-US" sz="1500" dirty="0">
                <a:solidFill>
                  <a:schemeClr val="tx1"/>
                </a:solidFill>
              </a:rPr>
              <a:t>Numbers too large for an int</a:t>
            </a:r>
            <a:endParaRPr lang="en-US" sz="1500" dirty="0"/>
          </a:p>
          <a:p>
            <a:pPr marL="342900" indent="-342900">
              <a:spcAft>
                <a:spcPts val="400"/>
              </a:spcAft>
              <a:buSzPct val="100000"/>
              <a:buChar char="•"/>
            </a:pPr>
            <a:r>
              <a:rPr lang="en-US" sz="1500" dirty="0">
                <a:solidFill>
                  <a:schemeClr val="tx1"/>
                </a:solidFill>
              </a:rPr>
              <a:t>Names that start with a digit: 2nd</a:t>
            </a:r>
            <a:endParaRPr lang="en-US" sz="1500" dirty="0"/>
          </a:p>
        </p:txBody>
      </p:sp>
      <p:sp>
        <p:nvSpPr>
          <p:cNvPr id="38" name="text-99"/>
          <p:cNvSpPr txBox="1"/>
          <p:nvPr/>
        </p:nvSpPr>
        <p:spPr>
          <a:xfrm>
            <a:off x="8046720" y="4206240"/>
            <a:ext cx="3474720" cy="365760"/>
          </a:xfrm>
          <a:prstGeom prst="rect">
            <a:avLst/>
          </a:prstGeom>
          <a:noFill/>
          <a:ln/>
        </p:spPr>
        <p:txBody>
          <a:bodyPr wrap="square" lIns="0" tIns="0" rIns="0" bIns="0" rtlCol="0" anchor="t"/>
          <a:lstStyle/>
          <a:p>
            <a:pPr indent="0" marL="0">
              <a:buNone/>
            </a:pPr>
            <a:r>
              <a:rPr lang="en-US" sz="1800" b="1" dirty="0">
                <a:solidFill>
                  <a:schemeClr val="accent4"/>
                </a:solidFill>
              </a:rPr>
              <a:t>Hands on</a:t>
            </a:r>
            <a:endParaRPr lang="en-US" sz="1800" dirty="0"/>
          </a:p>
        </p:txBody>
      </p:sp>
      <p:sp>
        <p:nvSpPr>
          <p:cNvPr id="39" name="text-100"/>
          <p:cNvSpPr txBox="1"/>
          <p:nvPr/>
        </p:nvSpPr>
        <p:spPr>
          <a:xfrm>
            <a:off x="8046720" y="4617720"/>
            <a:ext cx="3474720" cy="146304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Token list ending in END_OF_FILE</a:t>
            </a:r>
            <a:endParaRPr lang="en-US" sz="1500" dirty="0"/>
          </a:p>
          <a:p>
            <a:pPr marL="342900" indent="-342900">
              <a:spcAft>
                <a:spcPts val="400"/>
              </a:spcAft>
              <a:buSzPct val="100000"/>
              <a:buChar char="•"/>
            </a:pPr>
            <a:r>
              <a:rPr lang="en-US" sz="1500" dirty="0">
                <a:solidFill>
                  <a:schemeClr val="tx1"/>
                </a:solidFill>
              </a:rPr>
              <a:t>--tokens prints it as a table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Phase 2 · One function per grammar rule</a:t>
            </a:r>
            <a:endParaRPr lang="en-US" sz="3200" dirty="0"/>
          </a:p>
        </p:txBody>
      </p:sp>
      <p:sp>
        <p:nvSpPr>
          <p:cNvPr id="3" name="panel-101"/>
          <p:cNvSpPr/>
          <p:nvPr/>
        </p:nvSpPr>
        <p:spPr>
          <a:xfrm>
            <a:off x="548640" y="1371600"/>
            <a:ext cx="5486400" cy="3657600"/>
          </a:xfrm>
          <a:prstGeom prst="roundRect">
            <a:avLst>
              <a:gd name="adj" fmla="val 2000"/>
            </a:avLst>
          </a:prstGeom>
          <a:solidFill>
            <a:srgbClr val="0B0D11"/>
          </a:solidFill>
          <a:ln w="12700">
            <a:solidFill>
              <a:schemeClr val="accent5"/>
            </a:solidFill>
            <a:prstDash val="solid"/>
          </a:ln>
        </p:spPr>
      </p:sp>
      <p:sp>
        <p:nvSpPr>
          <p:cNvPr id="4" name="text-102"/>
          <p:cNvSpPr txBox="1"/>
          <p:nvPr/>
        </p:nvSpPr>
        <p:spPr>
          <a:xfrm>
            <a:off x="777240" y="1554480"/>
            <a:ext cx="5029200" cy="3291840"/>
          </a:xfrm>
          <a:prstGeom prst="rect">
            <a:avLst/>
          </a:prstGeom>
          <a:noFill/>
          <a:ln/>
        </p:spPr>
        <p:txBody>
          <a:bodyPr wrap="square" lIns="0" tIns="0" rIns="0" bIns="0" rtlCol="0" anchor="t"/>
          <a:lstStyle/>
          <a:p>
            <a:pPr indent="0" marL="0">
              <a:spcAft>
                <a:spcPts val="300"/>
              </a:spcAft>
              <a:buNone/>
            </a:pPr>
            <a:r>
              <a:rPr lang="en-US" sz="1400" dirty="0">
                <a:solidFill>
                  <a:schemeClr val="accent2"/>
                </a:solidFill>
                <a:latin typeface="Courier New" pitchFamily="34" charset="0"/>
                <a:ea typeface="Courier New" pitchFamily="34" charset="-122"/>
                <a:cs typeface="Courier New" pitchFamily="34" charset="-120"/>
              </a:rPr>
              <a:t>program     </a:t>
            </a:r>
            <a:pPr indent="0" marL="0">
              <a:spcAft>
                <a:spcPts val="300"/>
              </a:spcAft>
              <a:buNone/>
            </a:pPr>
            <a:r>
              <a:rPr lang="en-US" sz="1400" dirty="0">
                <a:solidFill>
                  <a:schemeClr val="tx1"/>
                </a:solidFill>
                <a:latin typeface="Courier New" pitchFamily="34" charset="0"/>
                <a:ea typeface="Courier New" pitchFamily="34" charset="-122"/>
                <a:cs typeface="Courier New" pitchFamily="34" charset="-120"/>
              </a:rPr>
              <a:t>→ statement*</a:t>
            </a:r>
            <a:endParaRPr lang="en-US" sz="1400" dirty="0"/>
          </a:p>
          <a:p>
            <a:pPr indent="0" marL="0">
              <a:spcAft>
                <a:spcPts val="300"/>
              </a:spcAft>
              <a:buNone/>
            </a:pPr>
            <a:r>
              <a:rPr lang="en-US" sz="1400" dirty="0">
                <a:solidFill>
                  <a:schemeClr val="accent2"/>
                </a:solidFill>
                <a:latin typeface="Courier New" pitchFamily="34" charset="0"/>
                <a:ea typeface="Courier New" pitchFamily="34" charset="-122"/>
                <a:cs typeface="Courier New" pitchFamily="34" charset="-120"/>
              </a:rPr>
              <a:t>statement   </a:t>
            </a:r>
            <a:pPr indent="0" marL="0">
              <a:spcAft>
                <a:spcPts val="300"/>
              </a:spcAft>
              <a:buNone/>
            </a:pPr>
            <a:r>
              <a:rPr lang="en-US" sz="1400" dirty="0">
                <a:solidFill>
                  <a:schemeClr val="tx1"/>
                </a:solidFill>
                <a:latin typeface="Courier New" pitchFamily="34" charset="0"/>
                <a:ea typeface="Courier New" pitchFamily="34" charset="-122"/>
                <a:cs typeface="Courier New" pitchFamily="34" charset="-120"/>
              </a:rPr>
              <a:t>→ declaration</a:t>
            </a:r>
            <a:endParaRPr lang="en-US" sz="1400" dirty="0"/>
          </a:p>
          <a:p>
            <a:pPr indent="0" marL="0">
              <a:spcAft>
                <a:spcPts val="300"/>
              </a:spcAft>
              <a:buNone/>
            </a:pPr>
            <a:r>
              <a:rPr lang="en-US" sz="1400" dirty="0">
                <a:solidFill>
                  <a:schemeClr val="tx1"/>
                </a:solidFill>
                <a:latin typeface="Courier New" pitchFamily="34" charset="0"/>
                <a:ea typeface="Courier New" pitchFamily="34" charset="-122"/>
                <a:cs typeface="Courier New" pitchFamily="34" charset="-120"/>
              </a:rPr>
              <a:t>              | assignment | printStmt</a:t>
            </a:r>
            <a:endParaRPr lang="en-US" sz="1400" dirty="0"/>
          </a:p>
          <a:p>
            <a:pPr indent="0" marL="0">
              <a:spcAft>
                <a:spcPts val="300"/>
              </a:spcAft>
              <a:buNone/>
            </a:pPr>
            <a:r>
              <a:rPr lang="en-US" sz="1400" dirty="0">
                <a:solidFill>
                  <a:schemeClr val="accent2"/>
                </a:solidFill>
                <a:latin typeface="Courier New" pitchFamily="34" charset="0"/>
                <a:ea typeface="Courier New" pitchFamily="34" charset="-122"/>
                <a:cs typeface="Courier New" pitchFamily="34" charset="-120"/>
              </a:rPr>
              <a:t>declaration </a:t>
            </a:r>
            <a:pPr indent="0" marL="0">
              <a:spcAft>
                <a:spcPts val="300"/>
              </a:spcAft>
              <a:buNone/>
            </a:pPr>
            <a:r>
              <a:rPr lang="en-US" sz="1400" dirty="0">
                <a:solidFill>
                  <a:schemeClr val="tx1"/>
                </a:solidFill>
                <a:latin typeface="Courier New" pitchFamily="34" charset="0"/>
                <a:ea typeface="Courier New" pitchFamily="34" charset="-122"/>
                <a:cs typeface="Courier New" pitchFamily="34" charset="-120"/>
              </a:rPr>
              <a:t>→ "int" ID "=" expr ";"</a:t>
            </a:r>
            <a:endParaRPr lang="en-US" sz="1400" dirty="0"/>
          </a:p>
          <a:p>
            <a:pPr indent="0" marL="0">
              <a:spcAft>
                <a:spcPts val="300"/>
              </a:spcAft>
              <a:buNone/>
            </a:pPr>
            <a:r>
              <a:rPr lang="en-US" sz="1400" dirty="0">
                <a:solidFill>
                  <a:schemeClr val="accent2"/>
                </a:solidFill>
                <a:latin typeface="Courier New" pitchFamily="34" charset="0"/>
                <a:ea typeface="Courier New" pitchFamily="34" charset="-122"/>
                <a:cs typeface="Courier New" pitchFamily="34" charset="-120"/>
              </a:rPr>
              <a:t>assignment  </a:t>
            </a:r>
            <a:pPr indent="0" marL="0">
              <a:spcAft>
                <a:spcPts val="300"/>
              </a:spcAft>
              <a:buNone/>
            </a:pPr>
            <a:r>
              <a:rPr lang="en-US" sz="1400" dirty="0">
                <a:solidFill>
                  <a:schemeClr val="tx1"/>
                </a:solidFill>
                <a:latin typeface="Courier New" pitchFamily="34" charset="0"/>
                <a:ea typeface="Courier New" pitchFamily="34" charset="-122"/>
                <a:cs typeface="Courier New" pitchFamily="34" charset="-120"/>
              </a:rPr>
              <a:t>→ ID "=" expr ";"</a:t>
            </a:r>
            <a:endParaRPr lang="en-US" sz="1400" dirty="0"/>
          </a:p>
          <a:p>
            <a:pPr indent="0" marL="0">
              <a:spcAft>
                <a:spcPts val="300"/>
              </a:spcAft>
              <a:buNone/>
            </a:pPr>
            <a:r>
              <a:rPr lang="en-US" sz="1400" dirty="0">
                <a:solidFill>
                  <a:schemeClr val="accent2"/>
                </a:solidFill>
                <a:latin typeface="Courier New" pitchFamily="34" charset="0"/>
                <a:ea typeface="Courier New" pitchFamily="34" charset="-122"/>
                <a:cs typeface="Courier New" pitchFamily="34" charset="-120"/>
              </a:rPr>
              <a:t>printStmt   </a:t>
            </a:r>
            <a:pPr indent="0" marL="0">
              <a:spcAft>
                <a:spcPts val="300"/>
              </a:spcAft>
              <a:buNone/>
            </a:pPr>
            <a:r>
              <a:rPr lang="en-US" sz="1400" dirty="0">
                <a:solidFill>
                  <a:schemeClr val="tx1"/>
                </a:solidFill>
                <a:latin typeface="Courier New" pitchFamily="34" charset="0"/>
                <a:ea typeface="Courier New" pitchFamily="34" charset="-122"/>
                <a:cs typeface="Courier New" pitchFamily="34" charset="-120"/>
              </a:rPr>
              <a:t>→ "print" expr ";"</a:t>
            </a:r>
            <a:endParaRPr lang="en-US" sz="1400" dirty="0"/>
          </a:p>
          <a:p>
            <a:pPr indent="0" marL="0">
              <a:spcAft>
                <a:spcPts val="300"/>
              </a:spcAft>
              <a:buNone/>
            </a:pPr>
            <a:r>
              <a:rPr lang="en-US" sz="1400" dirty="0">
                <a:solidFill>
                  <a:schemeClr val="accent2"/>
                </a:solidFill>
                <a:latin typeface="Courier New" pitchFamily="34" charset="0"/>
                <a:ea typeface="Courier New" pitchFamily="34" charset="-122"/>
                <a:cs typeface="Courier New" pitchFamily="34" charset="-120"/>
              </a:rPr>
              <a:t>expression  </a:t>
            </a:r>
            <a:pPr indent="0" marL="0">
              <a:spcAft>
                <a:spcPts val="300"/>
              </a:spcAft>
              <a:buNone/>
            </a:pPr>
            <a:r>
              <a:rPr lang="en-US" sz="1400" dirty="0">
                <a:solidFill>
                  <a:schemeClr val="tx1"/>
                </a:solidFill>
                <a:latin typeface="Courier New" pitchFamily="34" charset="0"/>
                <a:ea typeface="Courier New" pitchFamily="34" charset="-122"/>
                <a:cs typeface="Courier New" pitchFamily="34" charset="-120"/>
              </a:rPr>
              <a:t>→ term ((+|-) term)*</a:t>
            </a:r>
            <a:endParaRPr lang="en-US" sz="1400" dirty="0"/>
          </a:p>
          <a:p>
            <a:pPr indent="0" marL="0">
              <a:spcAft>
                <a:spcPts val="300"/>
              </a:spcAft>
              <a:buNone/>
            </a:pPr>
            <a:r>
              <a:rPr lang="en-US" sz="1400" dirty="0">
                <a:solidFill>
                  <a:schemeClr val="accent2"/>
                </a:solidFill>
                <a:latin typeface="Courier New" pitchFamily="34" charset="0"/>
                <a:ea typeface="Courier New" pitchFamily="34" charset="-122"/>
                <a:cs typeface="Courier New" pitchFamily="34" charset="-120"/>
              </a:rPr>
              <a:t>term        </a:t>
            </a:r>
            <a:pPr indent="0" marL="0">
              <a:spcAft>
                <a:spcPts val="300"/>
              </a:spcAft>
              <a:buNone/>
            </a:pPr>
            <a:r>
              <a:rPr lang="en-US" sz="1400" dirty="0">
                <a:solidFill>
                  <a:schemeClr val="tx1"/>
                </a:solidFill>
                <a:latin typeface="Courier New" pitchFamily="34" charset="0"/>
                <a:ea typeface="Courier New" pitchFamily="34" charset="-122"/>
                <a:cs typeface="Courier New" pitchFamily="34" charset="-120"/>
              </a:rPr>
              <a:t>→ factor ((*|/) factor)*</a:t>
            </a:r>
            <a:endParaRPr lang="en-US" sz="1400" dirty="0"/>
          </a:p>
          <a:p>
            <a:pPr indent="0" marL="0">
              <a:spcAft>
                <a:spcPts val="300"/>
              </a:spcAft>
              <a:buNone/>
            </a:pPr>
            <a:r>
              <a:rPr lang="en-US" sz="1400" dirty="0">
                <a:solidFill>
                  <a:schemeClr val="accent2"/>
                </a:solidFill>
                <a:latin typeface="Courier New" pitchFamily="34" charset="0"/>
                <a:ea typeface="Courier New" pitchFamily="34" charset="-122"/>
                <a:cs typeface="Courier New" pitchFamily="34" charset="-120"/>
              </a:rPr>
              <a:t>factor      </a:t>
            </a:r>
            <a:pPr indent="0" marL="0">
              <a:spcAft>
                <a:spcPts val="300"/>
              </a:spcAft>
              <a:buNone/>
            </a:pPr>
            <a:r>
              <a:rPr lang="en-US" sz="1400" dirty="0">
                <a:solidFill>
                  <a:schemeClr val="tx1"/>
                </a:solidFill>
                <a:latin typeface="Courier New" pitchFamily="34" charset="0"/>
                <a:ea typeface="Courier New" pitchFamily="34" charset="-122"/>
                <a:cs typeface="Courier New" pitchFamily="34" charset="-120"/>
              </a:rPr>
              <a:t>→ NUM | ID | ( expr )</a:t>
            </a:r>
            <a:endParaRPr lang="en-US" sz="1400" dirty="0"/>
          </a:p>
        </p:txBody>
      </p:sp>
      <p:sp>
        <p:nvSpPr>
          <p:cNvPr id="5" name="text-103"/>
          <p:cNvSpPr txBox="1"/>
          <p:nvPr/>
        </p:nvSpPr>
        <p:spPr>
          <a:xfrm>
            <a:off x="548640" y="5257800"/>
            <a:ext cx="5486400" cy="914400"/>
          </a:xfrm>
          <a:prstGeom prst="rect">
            <a:avLst/>
          </a:prstGeom>
          <a:noFill/>
          <a:ln/>
        </p:spPr>
        <p:txBody>
          <a:bodyPr wrap="square" lIns="0" tIns="0" rIns="0" bIns="0" rtlCol="0" anchor="t"/>
          <a:lstStyle/>
          <a:p>
            <a:pPr indent="0" marL="0">
              <a:buNone/>
            </a:pPr>
            <a:r>
              <a:rPr lang="en-US" sz="1400" dirty="0">
                <a:solidFill>
                  <a:schemeClr val="tx2"/>
                </a:solidFill>
              </a:rPr>
              <a:t>Precedence comes from the grammar, not a table. while loops in expression() and term() make operators left-associative: 10 - 4 - 3 = (10 - 4) - 3.</a:t>
            </a:r>
            <a:endParaRPr lang="en-US" sz="1400" dirty="0"/>
          </a:p>
        </p:txBody>
      </p:sp>
      <p:sp>
        <p:nvSpPr>
          <p:cNvPr id="6" name="text-104"/>
          <p:cNvSpPr txBox="1"/>
          <p:nvPr/>
        </p:nvSpPr>
        <p:spPr>
          <a:xfrm>
            <a:off x="6583680" y="1371600"/>
            <a:ext cx="5029200" cy="274320"/>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CALL TREE FOR  a + b * 2</a:t>
            </a:r>
            <a:endParaRPr lang="en-US" sz="1100" dirty="0"/>
          </a:p>
        </p:txBody>
      </p:sp>
      <p:sp>
        <p:nvSpPr>
          <p:cNvPr id="7" name="panel-105"/>
          <p:cNvSpPr/>
          <p:nvPr/>
        </p:nvSpPr>
        <p:spPr>
          <a:xfrm>
            <a:off x="8092440" y="1828800"/>
            <a:ext cx="2011680" cy="502920"/>
          </a:xfrm>
          <a:prstGeom prst="roundRect">
            <a:avLst>
              <a:gd name="adj" fmla="val 14545"/>
            </a:avLst>
          </a:prstGeom>
          <a:solidFill>
            <a:schemeClr val="bg2"/>
          </a:solidFill>
          <a:ln w="12700">
            <a:solidFill>
              <a:schemeClr val="accent2"/>
            </a:solidFill>
            <a:prstDash val="solid"/>
          </a:ln>
        </p:spPr>
      </p:sp>
      <p:sp>
        <p:nvSpPr>
          <p:cNvPr id="8" name="text-106"/>
          <p:cNvSpPr txBox="1"/>
          <p:nvPr/>
        </p:nvSpPr>
        <p:spPr>
          <a:xfrm>
            <a:off x="8092440" y="1828800"/>
            <a:ext cx="2011680" cy="50292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expression()</a:t>
            </a:r>
            <a:endParaRPr lang="en-US" sz="1400" dirty="0"/>
          </a:p>
        </p:txBody>
      </p:sp>
      <p:sp>
        <p:nvSpPr>
          <p:cNvPr id="9" name="panel-107"/>
          <p:cNvSpPr/>
          <p:nvPr/>
        </p:nvSpPr>
        <p:spPr>
          <a:xfrm>
            <a:off x="6766560" y="2926080"/>
            <a:ext cx="1463040" cy="502920"/>
          </a:xfrm>
          <a:prstGeom prst="roundRect">
            <a:avLst>
              <a:gd name="adj" fmla="val 14545"/>
            </a:avLst>
          </a:prstGeom>
          <a:solidFill>
            <a:schemeClr val="bg2"/>
          </a:solidFill>
          <a:ln w="12700">
            <a:solidFill>
              <a:schemeClr val="accent3"/>
            </a:solidFill>
            <a:prstDash val="solid"/>
          </a:ln>
        </p:spPr>
      </p:sp>
      <p:sp>
        <p:nvSpPr>
          <p:cNvPr id="10" name="text-108"/>
          <p:cNvSpPr txBox="1"/>
          <p:nvPr/>
        </p:nvSpPr>
        <p:spPr>
          <a:xfrm>
            <a:off x="6766560" y="2926080"/>
            <a:ext cx="1463040" cy="50292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term()</a:t>
            </a:r>
            <a:endParaRPr lang="en-US" sz="1400" dirty="0"/>
          </a:p>
        </p:txBody>
      </p:sp>
      <p:sp>
        <p:nvSpPr>
          <p:cNvPr id="11" name="panel-109"/>
          <p:cNvSpPr/>
          <p:nvPr/>
        </p:nvSpPr>
        <p:spPr>
          <a:xfrm>
            <a:off x="9966960" y="2926080"/>
            <a:ext cx="1463040" cy="502920"/>
          </a:xfrm>
          <a:prstGeom prst="roundRect">
            <a:avLst>
              <a:gd name="adj" fmla="val 14545"/>
            </a:avLst>
          </a:prstGeom>
          <a:solidFill>
            <a:schemeClr val="bg2"/>
          </a:solidFill>
          <a:ln w="12700">
            <a:solidFill>
              <a:schemeClr val="accent3"/>
            </a:solidFill>
            <a:prstDash val="solid"/>
          </a:ln>
        </p:spPr>
      </p:sp>
      <p:sp>
        <p:nvSpPr>
          <p:cNvPr id="12" name="text-110"/>
          <p:cNvSpPr txBox="1"/>
          <p:nvPr/>
        </p:nvSpPr>
        <p:spPr>
          <a:xfrm>
            <a:off x="9966960" y="2926080"/>
            <a:ext cx="1463040" cy="50292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term()</a:t>
            </a:r>
            <a:endParaRPr lang="en-US" sz="1400" dirty="0"/>
          </a:p>
        </p:txBody>
      </p:sp>
      <p:sp>
        <p:nvSpPr>
          <p:cNvPr id="13" name="text-111"/>
          <p:cNvSpPr txBox="1"/>
          <p:nvPr/>
        </p:nvSpPr>
        <p:spPr>
          <a:xfrm>
            <a:off x="8778240" y="2926080"/>
            <a:ext cx="640080" cy="502920"/>
          </a:xfrm>
          <a:prstGeom prst="rect">
            <a:avLst/>
          </a:prstGeom>
          <a:noFill/>
          <a:ln/>
        </p:spPr>
        <p:txBody>
          <a:bodyPr wrap="square" lIns="0" tIns="0" rIns="0" bIns="0" rtlCol="0" anchor="ctr"/>
          <a:lstStyle/>
          <a:p>
            <a:pPr algn="ctr" indent="0" marL="0">
              <a:buNone/>
            </a:pPr>
            <a:r>
              <a:rPr lang="en-US" sz="2200" b="1" dirty="0">
                <a:solidFill>
                  <a:schemeClr val="accent1"/>
                </a:solidFill>
                <a:latin typeface="Courier New" pitchFamily="34" charset="0"/>
                <a:ea typeface="Courier New" pitchFamily="34" charset="-122"/>
                <a:cs typeface="Courier New" pitchFamily="34" charset="-120"/>
              </a:rPr>
              <a:t>+</a:t>
            </a:r>
            <a:endParaRPr lang="en-US" sz="2200" dirty="0"/>
          </a:p>
        </p:txBody>
      </p:sp>
      <p:sp>
        <p:nvSpPr>
          <p:cNvPr id="14" name="panel-112"/>
          <p:cNvSpPr/>
          <p:nvPr/>
        </p:nvSpPr>
        <p:spPr>
          <a:xfrm>
            <a:off x="6675120" y="4023360"/>
            <a:ext cx="1463040" cy="502920"/>
          </a:xfrm>
          <a:prstGeom prst="roundRect">
            <a:avLst>
              <a:gd name="adj" fmla="val 14545"/>
            </a:avLst>
          </a:prstGeom>
          <a:solidFill>
            <a:schemeClr val="bg2"/>
          </a:solidFill>
          <a:ln w="12700">
            <a:solidFill>
              <a:schemeClr val="accent4"/>
            </a:solidFill>
            <a:prstDash val="solid"/>
          </a:ln>
        </p:spPr>
      </p:sp>
      <p:sp>
        <p:nvSpPr>
          <p:cNvPr id="15" name="text-113"/>
          <p:cNvSpPr txBox="1"/>
          <p:nvPr/>
        </p:nvSpPr>
        <p:spPr>
          <a:xfrm>
            <a:off x="6675120" y="4023360"/>
            <a:ext cx="1463040" cy="50292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factor: a</a:t>
            </a:r>
            <a:endParaRPr lang="en-US" sz="1400" dirty="0"/>
          </a:p>
        </p:txBody>
      </p:sp>
      <p:sp>
        <p:nvSpPr>
          <p:cNvPr id="16" name="panel-114"/>
          <p:cNvSpPr/>
          <p:nvPr/>
        </p:nvSpPr>
        <p:spPr>
          <a:xfrm>
            <a:off x="8686800" y="4023360"/>
            <a:ext cx="1371600" cy="502920"/>
          </a:xfrm>
          <a:prstGeom prst="roundRect">
            <a:avLst>
              <a:gd name="adj" fmla="val 14545"/>
            </a:avLst>
          </a:prstGeom>
          <a:solidFill>
            <a:schemeClr val="bg2"/>
          </a:solidFill>
          <a:ln w="12700">
            <a:solidFill>
              <a:schemeClr val="accent4"/>
            </a:solidFill>
            <a:prstDash val="solid"/>
          </a:ln>
        </p:spPr>
      </p:sp>
      <p:sp>
        <p:nvSpPr>
          <p:cNvPr id="17" name="text-115"/>
          <p:cNvSpPr txBox="1"/>
          <p:nvPr/>
        </p:nvSpPr>
        <p:spPr>
          <a:xfrm>
            <a:off x="8686800" y="4023360"/>
            <a:ext cx="1371600" cy="50292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factor: b</a:t>
            </a:r>
            <a:endParaRPr lang="en-US" sz="1400" dirty="0"/>
          </a:p>
        </p:txBody>
      </p:sp>
      <p:sp>
        <p:nvSpPr>
          <p:cNvPr id="18" name="panel-116"/>
          <p:cNvSpPr/>
          <p:nvPr/>
        </p:nvSpPr>
        <p:spPr>
          <a:xfrm>
            <a:off x="10469880" y="4023360"/>
            <a:ext cx="1170432" cy="502920"/>
          </a:xfrm>
          <a:prstGeom prst="roundRect">
            <a:avLst>
              <a:gd name="adj" fmla="val 14545"/>
            </a:avLst>
          </a:prstGeom>
          <a:solidFill>
            <a:schemeClr val="bg2"/>
          </a:solidFill>
          <a:ln w="12700">
            <a:solidFill>
              <a:schemeClr val="accent4"/>
            </a:solidFill>
            <a:prstDash val="solid"/>
          </a:ln>
        </p:spPr>
      </p:sp>
      <p:sp>
        <p:nvSpPr>
          <p:cNvPr id="19" name="text-117"/>
          <p:cNvSpPr txBox="1"/>
          <p:nvPr/>
        </p:nvSpPr>
        <p:spPr>
          <a:xfrm>
            <a:off x="10469880" y="4023360"/>
            <a:ext cx="1170432" cy="502920"/>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factor: 2</a:t>
            </a:r>
            <a:endParaRPr lang="en-US" sz="1400" dirty="0"/>
          </a:p>
        </p:txBody>
      </p:sp>
      <p:sp>
        <p:nvSpPr>
          <p:cNvPr id="20" name="text-118"/>
          <p:cNvSpPr txBox="1"/>
          <p:nvPr/>
        </p:nvSpPr>
        <p:spPr>
          <a:xfrm>
            <a:off x="10058400" y="4023360"/>
            <a:ext cx="411480" cy="502920"/>
          </a:xfrm>
          <a:prstGeom prst="rect">
            <a:avLst/>
          </a:prstGeom>
          <a:noFill/>
          <a:ln/>
        </p:spPr>
        <p:txBody>
          <a:bodyPr wrap="square" lIns="0" tIns="0" rIns="0" bIns="0" rtlCol="0" anchor="ctr"/>
          <a:lstStyle/>
          <a:p>
            <a:pPr algn="ctr" indent="0" marL="0">
              <a:buNone/>
            </a:pPr>
            <a:r>
              <a:rPr lang="en-US" sz="2200" b="1" dirty="0">
                <a:solidFill>
                  <a:schemeClr val="accent1"/>
                </a:solidFill>
                <a:latin typeface="Courier New" pitchFamily="34" charset="0"/>
                <a:ea typeface="Courier New" pitchFamily="34" charset="-122"/>
                <a:cs typeface="Courier New" pitchFamily="34" charset="-120"/>
              </a:rPr>
              <a:t>*</a:t>
            </a:r>
            <a:endParaRPr lang="en-US" sz="2200" dirty="0"/>
          </a:p>
        </p:txBody>
      </p:sp>
      <p:sp>
        <p:nvSpPr>
          <p:cNvPr id="21" name="arrow-119"/>
          <p:cNvSpPr/>
          <p:nvPr/>
        </p:nvSpPr>
        <p:spPr>
          <a:xfrm flipH="1">
            <a:off x="7680960" y="2331720"/>
            <a:ext cx="914400" cy="594360"/>
          </a:xfrm>
          <a:prstGeom prst="line">
            <a:avLst/>
          </a:prstGeom>
          <a:noFill/>
          <a:ln w="22225">
            <a:solidFill>
              <a:schemeClr val="tx2"/>
            </a:solidFill>
            <a:prstDash val="solid"/>
            <a:tailEnd type="triangle"/>
          </a:ln>
        </p:spPr>
      </p:sp>
      <p:sp>
        <p:nvSpPr>
          <p:cNvPr id="22" name="arrow-120"/>
          <p:cNvSpPr/>
          <p:nvPr/>
        </p:nvSpPr>
        <p:spPr>
          <a:xfrm>
            <a:off x="9601200" y="2331720"/>
            <a:ext cx="914400" cy="594360"/>
          </a:xfrm>
          <a:prstGeom prst="line">
            <a:avLst/>
          </a:prstGeom>
          <a:noFill/>
          <a:ln w="22225">
            <a:solidFill>
              <a:schemeClr val="tx2"/>
            </a:solidFill>
            <a:prstDash val="solid"/>
            <a:tailEnd type="triangle"/>
          </a:ln>
        </p:spPr>
      </p:sp>
      <p:sp>
        <p:nvSpPr>
          <p:cNvPr id="23" name="arrow-121"/>
          <p:cNvSpPr/>
          <p:nvPr/>
        </p:nvSpPr>
        <p:spPr>
          <a:xfrm>
            <a:off x="7498080" y="3429000"/>
            <a:ext cx="0" cy="594360"/>
          </a:xfrm>
          <a:prstGeom prst="line">
            <a:avLst/>
          </a:prstGeom>
          <a:noFill/>
          <a:ln w="22225">
            <a:solidFill>
              <a:schemeClr val="tx2"/>
            </a:solidFill>
            <a:prstDash val="solid"/>
            <a:tailEnd type="triangle"/>
          </a:ln>
        </p:spPr>
      </p:sp>
      <p:sp>
        <p:nvSpPr>
          <p:cNvPr id="24" name="arrow-122"/>
          <p:cNvSpPr/>
          <p:nvPr/>
        </p:nvSpPr>
        <p:spPr>
          <a:xfrm flipH="1">
            <a:off x="9372600" y="3429000"/>
            <a:ext cx="960120" cy="594360"/>
          </a:xfrm>
          <a:prstGeom prst="line">
            <a:avLst/>
          </a:prstGeom>
          <a:noFill/>
          <a:ln w="22225">
            <a:solidFill>
              <a:schemeClr val="tx2"/>
            </a:solidFill>
            <a:prstDash val="solid"/>
            <a:tailEnd type="triangle"/>
          </a:ln>
        </p:spPr>
      </p:sp>
      <p:sp>
        <p:nvSpPr>
          <p:cNvPr id="25" name="arrow-123"/>
          <p:cNvSpPr/>
          <p:nvPr/>
        </p:nvSpPr>
        <p:spPr>
          <a:xfrm>
            <a:off x="10881360" y="3429000"/>
            <a:ext cx="173736" cy="594360"/>
          </a:xfrm>
          <a:prstGeom prst="line">
            <a:avLst/>
          </a:prstGeom>
          <a:noFill/>
          <a:ln w="22225">
            <a:solidFill>
              <a:schemeClr val="tx2"/>
            </a:solidFill>
            <a:prstDash val="solid"/>
            <a:tailEnd type="triangle"/>
          </a:ln>
        </p:spPr>
      </p:sp>
      <p:sp>
        <p:nvSpPr>
          <p:cNvPr id="26" name="text-124"/>
          <p:cNvSpPr txBox="1"/>
          <p:nvPr/>
        </p:nvSpPr>
        <p:spPr>
          <a:xfrm>
            <a:off x="6583680" y="4937760"/>
            <a:ext cx="5029200" cy="822960"/>
          </a:xfrm>
          <a:prstGeom prst="rect">
            <a:avLst/>
          </a:prstGeom>
          <a:noFill/>
          <a:ln/>
        </p:spPr>
        <p:txBody>
          <a:bodyPr wrap="square" lIns="0" tIns="0" rIns="0" bIns="0" rtlCol="0" anchor="t"/>
          <a:lstStyle/>
          <a:p>
            <a:pPr indent="0" marL="0">
              <a:buNone/>
            </a:pPr>
            <a:r>
              <a:rPr lang="en-US" sz="1400" dirty="0">
                <a:solidFill>
                  <a:schemeClr val="tx2"/>
                </a:solidFill>
              </a:rPr>
              <a:t>b * 2 is finished inside the right-hand term() before + is applied, so the TAC computes it first.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Phase 3 · The symbol table checks meaning</a:t>
            </a:r>
            <a:endParaRPr lang="en-US" sz="3200" dirty="0"/>
          </a:p>
        </p:txBody>
      </p:sp>
      <p:sp>
        <p:nvSpPr>
          <p:cNvPr id="3" name="text-125"/>
          <p:cNvSpPr txBox="1"/>
          <p:nvPr/>
        </p:nvSpPr>
        <p:spPr>
          <a:xfrm>
            <a:off x="548640" y="1371600"/>
            <a:ext cx="5486400" cy="274320"/>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std::map&lt;string, Symbol&gt; AFTER examples/valid.txt</a:t>
            </a:r>
            <a:endParaRPr lang="en-US" sz="1100" dirty="0"/>
          </a:p>
        </p:txBody>
      </p:sp>
      <p:sp>
        <p:nvSpPr>
          <p:cNvPr id="4" name="panel-126"/>
          <p:cNvSpPr/>
          <p:nvPr/>
        </p:nvSpPr>
        <p:spPr>
          <a:xfrm>
            <a:off x="548640" y="1737360"/>
            <a:ext cx="4937760" cy="2926080"/>
          </a:xfrm>
          <a:prstGeom prst="roundRect">
            <a:avLst>
              <a:gd name="adj" fmla="val 2500"/>
            </a:avLst>
          </a:prstGeom>
          <a:solidFill>
            <a:srgbClr val="0B0D11"/>
          </a:solidFill>
          <a:ln w="12700">
            <a:solidFill>
              <a:schemeClr val="accent5"/>
            </a:solidFill>
            <a:prstDash val="solid"/>
          </a:ln>
        </p:spPr>
      </p:sp>
      <p:sp>
        <p:nvSpPr>
          <p:cNvPr id="5" name="text-127"/>
          <p:cNvSpPr txBox="1"/>
          <p:nvPr/>
        </p:nvSpPr>
        <p:spPr>
          <a:xfrm>
            <a:off x="822960" y="1920240"/>
            <a:ext cx="1463040" cy="457200"/>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name</a:t>
            </a:r>
            <a:endParaRPr lang="en-US" sz="1200" dirty="0"/>
          </a:p>
        </p:txBody>
      </p:sp>
      <p:sp>
        <p:nvSpPr>
          <p:cNvPr id="6" name="text-128"/>
          <p:cNvSpPr txBox="1"/>
          <p:nvPr/>
        </p:nvSpPr>
        <p:spPr>
          <a:xfrm>
            <a:off x="2377440" y="1920240"/>
            <a:ext cx="1463040" cy="457200"/>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declared</a:t>
            </a:r>
            <a:endParaRPr lang="en-US" sz="1200" dirty="0"/>
          </a:p>
        </p:txBody>
      </p:sp>
      <p:sp>
        <p:nvSpPr>
          <p:cNvPr id="7" name="text-129"/>
          <p:cNvSpPr txBox="1"/>
          <p:nvPr/>
        </p:nvSpPr>
        <p:spPr>
          <a:xfrm>
            <a:off x="3931920" y="1920240"/>
            <a:ext cx="1463040" cy="457200"/>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value</a:t>
            </a:r>
            <a:endParaRPr lang="en-US" sz="1200" dirty="0"/>
          </a:p>
        </p:txBody>
      </p:sp>
      <p:sp>
        <p:nvSpPr>
          <p:cNvPr id="8" name="text-130"/>
          <p:cNvSpPr txBox="1"/>
          <p:nvPr/>
        </p:nvSpPr>
        <p:spPr>
          <a:xfrm>
            <a:off x="822960" y="2542032"/>
            <a:ext cx="1463040" cy="457200"/>
          </a:xfrm>
          <a:prstGeom prst="rect">
            <a:avLst/>
          </a:prstGeom>
          <a:noFill/>
          <a:ln/>
        </p:spPr>
        <p:txBody>
          <a:bodyPr wrap="square" lIns="0" tIns="0" rIns="0" bIns="0" rtlCol="0" anchor="ctr"/>
          <a:lstStyle/>
          <a:p>
            <a:pPr indent="0" marL="0">
              <a:buNone/>
            </a:pPr>
            <a:r>
              <a:rPr lang="en-US" sz="1700" dirty="0">
                <a:solidFill>
                  <a:schemeClr val="accent4"/>
                </a:solidFill>
                <a:latin typeface="Courier New" pitchFamily="34" charset="0"/>
                <a:ea typeface="Courier New" pitchFamily="34" charset="-122"/>
                <a:cs typeface="Courier New" pitchFamily="34" charset="-120"/>
              </a:rPr>
              <a:t>age</a:t>
            </a:r>
            <a:endParaRPr lang="en-US" sz="1700" dirty="0"/>
          </a:p>
        </p:txBody>
      </p:sp>
      <p:sp>
        <p:nvSpPr>
          <p:cNvPr id="9" name="text-131"/>
          <p:cNvSpPr txBox="1"/>
          <p:nvPr/>
        </p:nvSpPr>
        <p:spPr>
          <a:xfrm>
            <a:off x="2377440" y="2542032"/>
            <a:ext cx="1463040" cy="457200"/>
          </a:xfrm>
          <a:prstGeom prst="rect">
            <a:avLst/>
          </a:prstGeom>
          <a:noFill/>
          <a:ln/>
        </p:spPr>
        <p:txBody>
          <a:bodyPr wrap="square" lIns="0" tIns="0" rIns="0" bIns="0" rtlCol="0" anchor="ctr"/>
          <a:lstStyle/>
          <a:p>
            <a:pPr indent="0" marL="0">
              <a:buNone/>
            </a:pPr>
            <a:r>
              <a:rPr lang="en-US" sz="1700" dirty="0">
                <a:solidFill>
                  <a:schemeClr val="tx1"/>
                </a:solidFill>
                <a:latin typeface="Courier New" pitchFamily="34" charset="0"/>
                <a:ea typeface="Courier New" pitchFamily="34" charset="-122"/>
                <a:cs typeface="Courier New" pitchFamily="34" charset="-120"/>
              </a:rPr>
              <a:t>line 2</a:t>
            </a:r>
            <a:endParaRPr lang="en-US" sz="1700" dirty="0"/>
          </a:p>
        </p:txBody>
      </p:sp>
      <p:sp>
        <p:nvSpPr>
          <p:cNvPr id="10" name="text-132"/>
          <p:cNvSpPr txBox="1"/>
          <p:nvPr/>
        </p:nvSpPr>
        <p:spPr>
          <a:xfrm>
            <a:off x="3931920" y="2542032"/>
            <a:ext cx="1463040" cy="457200"/>
          </a:xfrm>
          <a:prstGeom prst="rect">
            <a:avLst/>
          </a:prstGeom>
          <a:noFill/>
          <a:ln/>
        </p:spPr>
        <p:txBody>
          <a:bodyPr wrap="square" lIns="0" tIns="0" rIns="0" bIns="0" rtlCol="0" anchor="ctr"/>
          <a:lstStyle/>
          <a:p>
            <a:pPr indent="0" marL="0">
              <a:buNone/>
            </a:pPr>
            <a:r>
              <a:rPr lang="en-US" sz="1700" dirty="0">
                <a:solidFill>
                  <a:schemeClr val="tx1"/>
                </a:solidFill>
                <a:latin typeface="Courier New" pitchFamily="34" charset="0"/>
                <a:ea typeface="Courier New" pitchFamily="34" charset="-122"/>
                <a:cs typeface="Courier New" pitchFamily="34" charset="-120"/>
              </a:rPr>
              <a:t>20</a:t>
            </a:r>
            <a:endParaRPr lang="en-US" sz="1700" dirty="0"/>
          </a:p>
        </p:txBody>
      </p:sp>
      <p:sp>
        <p:nvSpPr>
          <p:cNvPr id="11" name="text-133"/>
          <p:cNvSpPr txBox="1"/>
          <p:nvPr/>
        </p:nvSpPr>
        <p:spPr>
          <a:xfrm>
            <a:off x="822960" y="3163824"/>
            <a:ext cx="1463040" cy="457200"/>
          </a:xfrm>
          <a:prstGeom prst="rect">
            <a:avLst/>
          </a:prstGeom>
          <a:noFill/>
          <a:ln/>
        </p:spPr>
        <p:txBody>
          <a:bodyPr wrap="square" lIns="0" tIns="0" rIns="0" bIns="0" rtlCol="0" anchor="ctr"/>
          <a:lstStyle/>
          <a:p>
            <a:pPr indent="0" marL="0">
              <a:buNone/>
            </a:pPr>
            <a:r>
              <a:rPr lang="en-US" sz="1700" dirty="0">
                <a:solidFill>
                  <a:schemeClr val="accent4"/>
                </a:solidFill>
                <a:latin typeface="Courier New" pitchFamily="34" charset="0"/>
                <a:ea typeface="Courier New" pitchFamily="34" charset="-122"/>
                <a:cs typeface="Courier New" pitchFamily="34" charset="-120"/>
              </a:rPr>
              <a:t>score</a:t>
            </a:r>
            <a:endParaRPr lang="en-US" sz="1700" dirty="0"/>
          </a:p>
        </p:txBody>
      </p:sp>
      <p:sp>
        <p:nvSpPr>
          <p:cNvPr id="12" name="text-134"/>
          <p:cNvSpPr txBox="1"/>
          <p:nvPr/>
        </p:nvSpPr>
        <p:spPr>
          <a:xfrm>
            <a:off x="2377440" y="3163824"/>
            <a:ext cx="1463040" cy="457200"/>
          </a:xfrm>
          <a:prstGeom prst="rect">
            <a:avLst/>
          </a:prstGeom>
          <a:noFill/>
          <a:ln/>
        </p:spPr>
        <p:txBody>
          <a:bodyPr wrap="square" lIns="0" tIns="0" rIns="0" bIns="0" rtlCol="0" anchor="ctr"/>
          <a:lstStyle/>
          <a:p>
            <a:pPr indent="0" marL="0">
              <a:buNone/>
            </a:pPr>
            <a:r>
              <a:rPr lang="en-US" sz="1700" dirty="0">
                <a:solidFill>
                  <a:schemeClr val="tx1"/>
                </a:solidFill>
                <a:latin typeface="Courier New" pitchFamily="34" charset="0"/>
                <a:ea typeface="Courier New" pitchFamily="34" charset="-122"/>
                <a:cs typeface="Courier New" pitchFamily="34" charset="-120"/>
              </a:rPr>
              <a:t>line 3</a:t>
            </a:r>
            <a:endParaRPr lang="en-US" sz="1700" dirty="0"/>
          </a:p>
        </p:txBody>
      </p:sp>
      <p:sp>
        <p:nvSpPr>
          <p:cNvPr id="13" name="text-135"/>
          <p:cNvSpPr txBox="1"/>
          <p:nvPr/>
        </p:nvSpPr>
        <p:spPr>
          <a:xfrm>
            <a:off x="3931920" y="3163824"/>
            <a:ext cx="1463040" cy="457200"/>
          </a:xfrm>
          <a:prstGeom prst="rect">
            <a:avLst/>
          </a:prstGeom>
          <a:noFill/>
          <a:ln/>
        </p:spPr>
        <p:txBody>
          <a:bodyPr wrap="square" lIns="0" tIns="0" rIns="0" bIns="0" rtlCol="0" anchor="ctr"/>
          <a:lstStyle/>
          <a:p>
            <a:pPr indent="0" marL="0">
              <a:buNone/>
            </a:pPr>
            <a:r>
              <a:rPr lang="en-US" sz="1700" dirty="0">
                <a:solidFill>
                  <a:schemeClr val="tx1"/>
                </a:solidFill>
                <a:latin typeface="Courier New" pitchFamily="34" charset="0"/>
                <a:ea typeface="Courier New" pitchFamily="34" charset="-122"/>
                <a:cs typeface="Courier New" pitchFamily="34" charset="-120"/>
              </a:rPr>
              <a:t>50</a:t>
            </a:r>
            <a:endParaRPr lang="en-US" sz="1700" dirty="0"/>
          </a:p>
        </p:txBody>
      </p:sp>
      <p:sp>
        <p:nvSpPr>
          <p:cNvPr id="14" name="text-136"/>
          <p:cNvSpPr txBox="1"/>
          <p:nvPr/>
        </p:nvSpPr>
        <p:spPr>
          <a:xfrm>
            <a:off x="822960" y="3785616"/>
            <a:ext cx="1463040" cy="457200"/>
          </a:xfrm>
          <a:prstGeom prst="rect">
            <a:avLst/>
          </a:prstGeom>
          <a:noFill/>
          <a:ln/>
        </p:spPr>
        <p:txBody>
          <a:bodyPr wrap="square" lIns="0" tIns="0" rIns="0" bIns="0" rtlCol="0" anchor="ctr"/>
          <a:lstStyle/>
          <a:p>
            <a:pPr indent="0" marL="0">
              <a:buNone/>
            </a:pPr>
            <a:r>
              <a:rPr lang="en-US" sz="1700" dirty="0">
                <a:solidFill>
                  <a:schemeClr val="accent4"/>
                </a:solidFill>
                <a:latin typeface="Courier New" pitchFamily="34" charset="0"/>
                <a:ea typeface="Courier New" pitchFamily="34" charset="-122"/>
                <a:cs typeface="Courier New" pitchFamily="34" charset="-120"/>
              </a:rPr>
              <a:t>bonus</a:t>
            </a:r>
            <a:endParaRPr lang="en-US" sz="1700" dirty="0"/>
          </a:p>
        </p:txBody>
      </p:sp>
      <p:sp>
        <p:nvSpPr>
          <p:cNvPr id="15" name="text-137"/>
          <p:cNvSpPr txBox="1"/>
          <p:nvPr/>
        </p:nvSpPr>
        <p:spPr>
          <a:xfrm>
            <a:off x="2377440" y="3785616"/>
            <a:ext cx="1463040" cy="457200"/>
          </a:xfrm>
          <a:prstGeom prst="rect">
            <a:avLst/>
          </a:prstGeom>
          <a:noFill/>
          <a:ln/>
        </p:spPr>
        <p:txBody>
          <a:bodyPr wrap="square" lIns="0" tIns="0" rIns="0" bIns="0" rtlCol="0" anchor="ctr"/>
          <a:lstStyle/>
          <a:p>
            <a:pPr indent="0" marL="0">
              <a:buNone/>
            </a:pPr>
            <a:r>
              <a:rPr lang="en-US" sz="1700" dirty="0">
                <a:solidFill>
                  <a:schemeClr val="tx1"/>
                </a:solidFill>
                <a:latin typeface="Courier New" pitchFamily="34" charset="0"/>
                <a:ea typeface="Courier New" pitchFamily="34" charset="-122"/>
                <a:cs typeface="Courier New" pitchFamily="34" charset="-120"/>
              </a:rPr>
              <a:t>line 5</a:t>
            </a:r>
            <a:endParaRPr lang="en-US" sz="1700" dirty="0"/>
          </a:p>
        </p:txBody>
      </p:sp>
      <p:sp>
        <p:nvSpPr>
          <p:cNvPr id="16" name="text-138"/>
          <p:cNvSpPr txBox="1"/>
          <p:nvPr/>
        </p:nvSpPr>
        <p:spPr>
          <a:xfrm>
            <a:off x="3931920" y="3785616"/>
            <a:ext cx="1463040" cy="457200"/>
          </a:xfrm>
          <a:prstGeom prst="rect">
            <a:avLst/>
          </a:prstGeom>
          <a:noFill/>
          <a:ln/>
        </p:spPr>
        <p:txBody>
          <a:bodyPr wrap="square" lIns="0" tIns="0" rIns="0" bIns="0" rtlCol="0" anchor="ctr"/>
          <a:lstStyle/>
          <a:p>
            <a:pPr indent="0" marL="0">
              <a:buNone/>
            </a:pPr>
            <a:r>
              <a:rPr lang="en-US" sz="1700" dirty="0">
                <a:solidFill>
                  <a:schemeClr val="tx1"/>
                </a:solidFill>
                <a:latin typeface="Courier New" pitchFamily="34" charset="0"/>
                <a:ea typeface="Courier New" pitchFamily="34" charset="-122"/>
                <a:cs typeface="Courier New" pitchFamily="34" charset="-120"/>
              </a:rPr>
              <a:t>9</a:t>
            </a:r>
            <a:endParaRPr lang="en-US" sz="1700" dirty="0"/>
          </a:p>
        </p:txBody>
      </p:sp>
      <p:sp>
        <p:nvSpPr>
          <p:cNvPr id="17" name="text-139"/>
          <p:cNvSpPr txBox="1"/>
          <p:nvPr/>
        </p:nvSpPr>
        <p:spPr>
          <a:xfrm>
            <a:off x="548640" y="4892040"/>
            <a:ext cx="4937760" cy="1188720"/>
          </a:xfrm>
          <a:prstGeom prst="rect">
            <a:avLst/>
          </a:prstGeom>
          <a:noFill/>
          <a:ln/>
        </p:spPr>
        <p:txBody>
          <a:bodyPr wrap="square" lIns="0" tIns="0" rIns="0" bIns="0" rtlCol="0" anchor="t"/>
          <a:lstStyle/>
          <a:p>
            <a:pPr indent="0" marL="0">
              <a:buNone/>
            </a:pPr>
            <a:r>
              <a:rPr lang="en-US" sz="1400" dirty="0">
                <a:solidFill>
                  <a:schemeClr val="tx2"/>
                </a:solidFill>
              </a:rPr>
              <a:t>There is no input and no loop, so every value is known while compiling. That is how a / zero is caught even when zero is a variable.</a:t>
            </a:r>
            <a:endParaRPr lang="en-US" sz="1400" dirty="0"/>
          </a:p>
        </p:txBody>
      </p:sp>
      <p:sp>
        <p:nvSpPr>
          <p:cNvPr id="18" name="panel-140"/>
          <p:cNvSpPr/>
          <p:nvPr/>
        </p:nvSpPr>
        <p:spPr>
          <a:xfrm>
            <a:off x="5852160" y="1737360"/>
            <a:ext cx="2743200" cy="1600200"/>
          </a:xfrm>
          <a:prstGeom prst="roundRect">
            <a:avLst>
              <a:gd name="adj" fmla="val 4571"/>
            </a:avLst>
          </a:prstGeom>
          <a:solidFill>
            <a:schemeClr val="bg2"/>
          </a:solidFill>
          <a:ln w="12700">
            <a:solidFill>
              <a:schemeClr val="accent5"/>
            </a:solidFill>
            <a:prstDash val="solid"/>
          </a:ln>
        </p:spPr>
      </p:sp>
      <p:sp>
        <p:nvSpPr>
          <p:cNvPr id="19" name="dot-141"/>
          <p:cNvSpPr/>
          <p:nvPr/>
        </p:nvSpPr>
        <p:spPr>
          <a:xfrm>
            <a:off x="6080760" y="2011680"/>
            <a:ext cx="164592" cy="164592"/>
          </a:xfrm>
          <a:prstGeom prst="ellipse">
            <a:avLst/>
          </a:prstGeom>
          <a:solidFill>
            <a:schemeClr val="accent4"/>
          </a:solidFill>
          <a:ln w="12700">
            <a:solidFill>
              <a:schemeClr val="accent4"/>
            </a:solidFill>
            <a:prstDash val="solid"/>
          </a:ln>
        </p:spPr>
      </p:sp>
      <p:sp>
        <p:nvSpPr>
          <p:cNvPr id="20" name="text-142"/>
          <p:cNvSpPr txBox="1"/>
          <p:nvPr/>
        </p:nvSpPr>
        <p:spPr>
          <a:xfrm>
            <a:off x="6355080" y="1920240"/>
            <a:ext cx="2103120" cy="640080"/>
          </a:xfrm>
          <a:prstGeom prst="rect">
            <a:avLst/>
          </a:prstGeom>
          <a:noFill/>
          <a:ln/>
        </p:spPr>
        <p:txBody>
          <a:bodyPr wrap="square" lIns="0" tIns="0" rIns="0" bIns="0" rtlCol="0" anchor="t"/>
          <a:lstStyle/>
          <a:p>
            <a:pPr indent="0" marL="0">
              <a:buNone/>
            </a:pPr>
            <a:r>
              <a:rPr lang="en-US" sz="1600" b="1" dirty="0">
                <a:solidFill>
                  <a:schemeClr val="tx1"/>
                </a:solidFill>
              </a:rPr>
              <a:t>Undeclared or misspelled</a:t>
            </a:r>
            <a:endParaRPr lang="en-US" sz="1600" dirty="0"/>
          </a:p>
        </p:txBody>
      </p:sp>
      <p:sp>
        <p:nvSpPr>
          <p:cNvPr id="21" name="text-143"/>
          <p:cNvSpPr txBox="1"/>
          <p:nvPr/>
        </p:nvSpPr>
        <p:spPr>
          <a:xfrm>
            <a:off x="6080760" y="2606040"/>
            <a:ext cx="2377440" cy="640080"/>
          </a:xfrm>
          <a:prstGeom prst="rect">
            <a:avLst/>
          </a:prstGeom>
          <a:noFill/>
          <a:ln/>
        </p:spPr>
        <p:txBody>
          <a:bodyPr wrap="square" lIns="0" tIns="0" rIns="0" bIns="0" rtlCol="0" anchor="t"/>
          <a:lstStyle/>
          <a:p>
            <a:pPr indent="0" marL="0">
              <a:buNone/>
            </a:pPr>
            <a:r>
              <a:rPr lang="en-US" sz="1200" dirty="0">
                <a:solidFill>
                  <a:schemeClr val="tx2"/>
                </a:solidFill>
                <a:latin typeface="Courier New" pitchFamily="34" charset="0"/>
                <a:ea typeface="Courier New" pitchFamily="34" charset="-122"/>
                <a:cs typeface="Courier New" pitchFamily="34" charset="-120"/>
              </a:rPr>
              <a:t>scroe = 2;  →  Did you mean 'score'?</a:t>
            </a:r>
            <a:endParaRPr lang="en-US" sz="1200" dirty="0"/>
          </a:p>
        </p:txBody>
      </p:sp>
      <p:sp>
        <p:nvSpPr>
          <p:cNvPr id="22" name="panel-144"/>
          <p:cNvSpPr/>
          <p:nvPr/>
        </p:nvSpPr>
        <p:spPr>
          <a:xfrm>
            <a:off x="8796528" y="1737360"/>
            <a:ext cx="2743200" cy="1600200"/>
          </a:xfrm>
          <a:prstGeom prst="roundRect">
            <a:avLst>
              <a:gd name="adj" fmla="val 4571"/>
            </a:avLst>
          </a:prstGeom>
          <a:solidFill>
            <a:schemeClr val="bg2"/>
          </a:solidFill>
          <a:ln w="12700">
            <a:solidFill>
              <a:schemeClr val="accent5"/>
            </a:solidFill>
            <a:prstDash val="solid"/>
          </a:ln>
        </p:spPr>
      </p:sp>
      <p:sp>
        <p:nvSpPr>
          <p:cNvPr id="23" name="dot-145"/>
          <p:cNvSpPr/>
          <p:nvPr/>
        </p:nvSpPr>
        <p:spPr>
          <a:xfrm>
            <a:off x="9025128" y="2011680"/>
            <a:ext cx="164592" cy="164592"/>
          </a:xfrm>
          <a:prstGeom prst="ellipse">
            <a:avLst/>
          </a:prstGeom>
          <a:solidFill>
            <a:schemeClr val="accent3"/>
          </a:solidFill>
          <a:ln w="12700">
            <a:solidFill>
              <a:schemeClr val="accent3"/>
            </a:solidFill>
            <a:prstDash val="solid"/>
          </a:ln>
        </p:spPr>
      </p:sp>
      <p:sp>
        <p:nvSpPr>
          <p:cNvPr id="24" name="text-146"/>
          <p:cNvSpPr txBox="1"/>
          <p:nvPr/>
        </p:nvSpPr>
        <p:spPr>
          <a:xfrm>
            <a:off x="9299448" y="1920240"/>
            <a:ext cx="2103120" cy="640080"/>
          </a:xfrm>
          <a:prstGeom prst="rect">
            <a:avLst/>
          </a:prstGeom>
          <a:noFill/>
          <a:ln/>
        </p:spPr>
        <p:txBody>
          <a:bodyPr wrap="square" lIns="0" tIns="0" rIns="0" bIns="0" rtlCol="0" anchor="t"/>
          <a:lstStyle/>
          <a:p>
            <a:pPr indent="0" marL="0">
              <a:buNone/>
            </a:pPr>
            <a:r>
              <a:rPr lang="en-US" sz="1600" b="1" dirty="0">
                <a:solidFill>
                  <a:schemeClr val="tx1"/>
                </a:solidFill>
              </a:rPr>
              <a:t>Declared twice</a:t>
            </a:r>
            <a:endParaRPr lang="en-US" sz="1600" dirty="0"/>
          </a:p>
        </p:txBody>
      </p:sp>
      <p:sp>
        <p:nvSpPr>
          <p:cNvPr id="25" name="text-147"/>
          <p:cNvSpPr txBox="1"/>
          <p:nvPr/>
        </p:nvSpPr>
        <p:spPr>
          <a:xfrm>
            <a:off x="9025128" y="2606040"/>
            <a:ext cx="2377440" cy="640080"/>
          </a:xfrm>
          <a:prstGeom prst="rect">
            <a:avLst/>
          </a:prstGeom>
          <a:noFill/>
          <a:ln/>
        </p:spPr>
        <p:txBody>
          <a:bodyPr wrap="square" lIns="0" tIns="0" rIns="0" bIns="0" rtlCol="0" anchor="t"/>
          <a:lstStyle/>
          <a:p>
            <a:pPr indent="0" marL="0">
              <a:buNone/>
            </a:pPr>
            <a:r>
              <a:rPr lang="en-US" sz="1200" dirty="0">
                <a:solidFill>
                  <a:schemeClr val="tx2"/>
                </a:solidFill>
                <a:latin typeface="Courier New" pitchFamily="34" charset="0"/>
                <a:ea typeface="Courier New" pitchFamily="34" charset="-122"/>
                <a:cs typeface="Courier New" pitchFamily="34" charset="-120"/>
              </a:rPr>
              <a:t>'age' already declared on line 1</a:t>
            </a:r>
            <a:endParaRPr lang="en-US" sz="1200" dirty="0"/>
          </a:p>
        </p:txBody>
      </p:sp>
      <p:sp>
        <p:nvSpPr>
          <p:cNvPr id="26" name="panel-148"/>
          <p:cNvSpPr/>
          <p:nvPr/>
        </p:nvSpPr>
        <p:spPr>
          <a:xfrm>
            <a:off x="5852160" y="3566160"/>
            <a:ext cx="2743200" cy="1600200"/>
          </a:xfrm>
          <a:prstGeom prst="roundRect">
            <a:avLst>
              <a:gd name="adj" fmla="val 4571"/>
            </a:avLst>
          </a:prstGeom>
          <a:solidFill>
            <a:schemeClr val="bg2"/>
          </a:solidFill>
          <a:ln w="12700">
            <a:solidFill>
              <a:schemeClr val="accent5"/>
            </a:solidFill>
            <a:prstDash val="solid"/>
          </a:ln>
        </p:spPr>
      </p:sp>
      <p:sp>
        <p:nvSpPr>
          <p:cNvPr id="27" name="dot-149"/>
          <p:cNvSpPr/>
          <p:nvPr/>
        </p:nvSpPr>
        <p:spPr>
          <a:xfrm>
            <a:off x="6080760" y="3840480"/>
            <a:ext cx="164592" cy="164592"/>
          </a:xfrm>
          <a:prstGeom prst="ellipse">
            <a:avLst/>
          </a:prstGeom>
          <a:solidFill>
            <a:schemeClr val="accent6"/>
          </a:solidFill>
          <a:ln w="12700">
            <a:solidFill>
              <a:schemeClr val="accent6"/>
            </a:solidFill>
            <a:prstDash val="solid"/>
          </a:ln>
        </p:spPr>
      </p:sp>
      <p:sp>
        <p:nvSpPr>
          <p:cNvPr id="28" name="text-150"/>
          <p:cNvSpPr txBox="1"/>
          <p:nvPr/>
        </p:nvSpPr>
        <p:spPr>
          <a:xfrm>
            <a:off x="6355080" y="3749040"/>
            <a:ext cx="2103120" cy="640080"/>
          </a:xfrm>
          <a:prstGeom prst="rect">
            <a:avLst/>
          </a:prstGeom>
          <a:noFill/>
          <a:ln/>
        </p:spPr>
        <p:txBody>
          <a:bodyPr wrap="square" lIns="0" tIns="0" rIns="0" bIns="0" rtlCol="0" anchor="t"/>
          <a:lstStyle/>
          <a:p>
            <a:pPr indent="0" marL="0">
              <a:buNone/>
            </a:pPr>
            <a:r>
              <a:rPr lang="en-US" sz="1600" b="1" dirty="0">
                <a:solidFill>
                  <a:schemeClr val="tx1"/>
                </a:solidFill>
              </a:rPr>
              <a:t>Used in its own declaration</a:t>
            </a:r>
            <a:endParaRPr lang="en-US" sz="1600" dirty="0"/>
          </a:p>
        </p:txBody>
      </p:sp>
      <p:sp>
        <p:nvSpPr>
          <p:cNvPr id="29" name="text-151"/>
          <p:cNvSpPr txBox="1"/>
          <p:nvPr/>
        </p:nvSpPr>
        <p:spPr>
          <a:xfrm>
            <a:off x="6080760" y="4434840"/>
            <a:ext cx="2377440" cy="640080"/>
          </a:xfrm>
          <a:prstGeom prst="rect">
            <a:avLst/>
          </a:prstGeom>
          <a:noFill/>
          <a:ln/>
        </p:spPr>
        <p:txBody>
          <a:bodyPr wrap="square" lIns="0" tIns="0" rIns="0" bIns="0" rtlCol="0" anchor="t"/>
          <a:lstStyle/>
          <a:p>
            <a:pPr indent="0" marL="0">
              <a:buNone/>
            </a:pPr>
            <a:r>
              <a:rPr lang="en-US" sz="1200" dirty="0">
                <a:solidFill>
                  <a:schemeClr val="tx2"/>
                </a:solidFill>
                <a:latin typeface="Courier New" pitchFamily="34" charset="0"/>
                <a:ea typeface="Courier New" pitchFamily="34" charset="-122"/>
                <a:cs typeface="Courier New" pitchFamily="34" charset="-120"/>
              </a:rPr>
              <a:t>int a = a + 1;</a:t>
            </a:r>
            <a:endParaRPr lang="en-US" sz="1200" dirty="0"/>
          </a:p>
        </p:txBody>
      </p:sp>
      <p:sp>
        <p:nvSpPr>
          <p:cNvPr id="30" name="panel-152"/>
          <p:cNvSpPr/>
          <p:nvPr/>
        </p:nvSpPr>
        <p:spPr>
          <a:xfrm>
            <a:off x="8796528" y="3566160"/>
            <a:ext cx="2743200" cy="1600200"/>
          </a:xfrm>
          <a:prstGeom prst="roundRect">
            <a:avLst>
              <a:gd name="adj" fmla="val 4571"/>
            </a:avLst>
          </a:prstGeom>
          <a:solidFill>
            <a:schemeClr val="bg2"/>
          </a:solidFill>
          <a:ln w="12700">
            <a:solidFill>
              <a:schemeClr val="accent5"/>
            </a:solidFill>
            <a:prstDash val="solid"/>
          </a:ln>
        </p:spPr>
      </p:sp>
      <p:sp>
        <p:nvSpPr>
          <p:cNvPr id="31" name="dot-153"/>
          <p:cNvSpPr/>
          <p:nvPr/>
        </p:nvSpPr>
        <p:spPr>
          <a:xfrm>
            <a:off x="9025128" y="3840480"/>
            <a:ext cx="164592" cy="164592"/>
          </a:xfrm>
          <a:prstGeom prst="ellipse">
            <a:avLst/>
          </a:prstGeom>
          <a:solidFill>
            <a:schemeClr val="accent1"/>
          </a:solidFill>
          <a:ln w="12700">
            <a:solidFill>
              <a:schemeClr val="accent1"/>
            </a:solidFill>
            <a:prstDash val="solid"/>
          </a:ln>
        </p:spPr>
      </p:sp>
      <p:sp>
        <p:nvSpPr>
          <p:cNvPr id="32" name="text-154"/>
          <p:cNvSpPr txBox="1"/>
          <p:nvPr/>
        </p:nvSpPr>
        <p:spPr>
          <a:xfrm>
            <a:off x="9299448" y="3749040"/>
            <a:ext cx="2103120" cy="640080"/>
          </a:xfrm>
          <a:prstGeom prst="rect">
            <a:avLst/>
          </a:prstGeom>
          <a:noFill/>
          <a:ln/>
        </p:spPr>
        <p:txBody>
          <a:bodyPr wrap="square" lIns="0" tIns="0" rIns="0" bIns="0" rtlCol="0" anchor="t"/>
          <a:lstStyle/>
          <a:p>
            <a:pPr indent="0" marL="0">
              <a:buNone/>
            </a:pPr>
            <a:r>
              <a:rPr lang="en-US" sz="1600" b="1" dirty="0">
                <a:solidFill>
                  <a:schemeClr val="tx1"/>
                </a:solidFill>
              </a:rPr>
              <a:t>Division by zero, overflow</a:t>
            </a:r>
            <a:endParaRPr lang="en-US" sz="1600" dirty="0"/>
          </a:p>
        </p:txBody>
      </p:sp>
      <p:sp>
        <p:nvSpPr>
          <p:cNvPr id="33" name="text-155"/>
          <p:cNvSpPr txBox="1"/>
          <p:nvPr/>
        </p:nvSpPr>
        <p:spPr>
          <a:xfrm>
            <a:off x="9025128" y="4434840"/>
            <a:ext cx="2377440" cy="640080"/>
          </a:xfrm>
          <a:prstGeom prst="rect">
            <a:avLst/>
          </a:prstGeom>
          <a:noFill/>
          <a:ln/>
        </p:spPr>
        <p:txBody>
          <a:bodyPr wrap="square" lIns="0" tIns="0" rIns="0" bIns="0" rtlCol="0" anchor="t"/>
          <a:lstStyle/>
          <a:p>
            <a:pPr indent="0" marL="0">
              <a:buNone/>
            </a:pPr>
            <a:r>
              <a:rPr lang="en-US" sz="1200" dirty="0">
                <a:solidFill>
                  <a:schemeClr val="tx2"/>
                </a:solidFill>
                <a:latin typeface="Courier New" pitchFamily="34" charset="0"/>
                <a:ea typeface="Courier New" pitchFamily="34" charset="-122"/>
                <a:cs typeface="Courier New" pitchFamily="34" charset="-120"/>
              </a:rPr>
              <a:t>a / zero,  8 / (4 - 4),  int range</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Phase 4 · Three-address code</a:t>
            </a:r>
            <a:endParaRPr lang="en-US" sz="3200" dirty="0"/>
          </a:p>
        </p:txBody>
      </p:sp>
      <p:sp>
        <p:nvSpPr>
          <p:cNvPr id="3" name="text-156"/>
          <p:cNvSpPr txBox="1"/>
          <p:nvPr/>
        </p:nvSpPr>
        <p:spPr>
          <a:xfrm>
            <a:off x="548640" y="1371600"/>
            <a:ext cx="2743200" cy="274320"/>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SOURCE</a:t>
            </a:r>
            <a:endParaRPr lang="en-US" sz="1100" dirty="0"/>
          </a:p>
        </p:txBody>
      </p:sp>
      <p:sp>
        <p:nvSpPr>
          <p:cNvPr id="4" name="panel-157"/>
          <p:cNvSpPr/>
          <p:nvPr/>
        </p:nvSpPr>
        <p:spPr>
          <a:xfrm>
            <a:off x="548640" y="1691640"/>
            <a:ext cx="4754880" cy="3566160"/>
          </a:xfrm>
          <a:prstGeom prst="roundRect">
            <a:avLst>
              <a:gd name="adj" fmla="val 2051"/>
            </a:avLst>
          </a:prstGeom>
          <a:solidFill>
            <a:srgbClr val="0B0D11"/>
          </a:solidFill>
          <a:ln w="12700">
            <a:solidFill>
              <a:schemeClr val="accent5"/>
            </a:solidFill>
            <a:prstDash val="solid"/>
          </a:ln>
        </p:spPr>
      </p:sp>
      <p:sp>
        <p:nvSpPr>
          <p:cNvPr id="5" name="text-158"/>
          <p:cNvSpPr txBox="1"/>
          <p:nvPr/>
        </p:nvSpPr>
        <p:spPr>
          <a:xfrm>
            <a:off x="777240" y="1874520"/>
            <a:ext cx="4297680" cy="3200400"/>
          </a:xfrm>
          <a:prstGeom prst="rect">
            <a:avLst/>
          </a:prstGeom>
          <a:noFill/>
          <a:ln/>
        </p:spPr>
        <p:txBody>
          <a:bodyPr wrap="square" lIns="0" tIns="0" rIns="0" bIns="0" rtlCol="0" anchor="t"/>
          <a:lstStyle/>
          <a:p>
            <a:pPr indent="0" marL="0">
              <a:spcAft>
                <a:spcPts val="300"/>
              </a:spcAft>
              <a:buNone/>
            </a:pPr>
            <a:r>
              <a:rPr lang="en-US" sz="1500" dirty="0">
                <a:solidFill>
                  <a:schemeClr val="tx1"/>
                </a:solidFill>
                <a:latin typeface="Courier New" pitchFamily="34" charset="0"/>
                <a:ea typeface="Courier New" pitchFamily="34" charset="-122"/>
                <a:cs typeface="Courier New" pitchFamily="34" charset="-120"/>
              </a:rPr>
              <a:t>int age = 20;</a:t>
            </a:r>
            <a:endParaRPr lang="en-US" sz="1500" dirty="0"/>
          </a:p>
          <a:p>
            <a:pPr indent="0" marL="0">
              <a:spcAft>
                <a:spcPts val="300"/>
              </a:spcAft>
              <a:buNone/>
            </a:pPr>
            <a:r>
              <a:rPr lang="en-US" sz="1500" dirty="0">
                <a:solidFill>
                  <a:schemeClr val="tx1"/>
                </a:solidFill>
                <a:latin typeface="Courier New" pitchFamily="34" charset="0"/>
                <a:ea typeface="Courier New" pitchFamily="34" charset="-122"/>
                <a:cs typeface="Courier New" pitchFamily="34" charset="-120"/>
              </a:rPr>
              <a:t>int score = 10;</a:t>
            </a:r>
            <a:endParaRPr lang="en-US" sz="1500" dirty="0"/>
          </a:p>
          <a:p>
            <a:pPr indent="0" marL="0">
              <a:spcAft>
                <a:spcPts val="300"/>
              </a:spcAft>
              <a:buNone/>
            </a:pPr>
            <a:r>
              <a:rPr lang="en-US" sz="1500" dirty="0">
                <a:solidFill>
                  <a:schemeClr val="tx1"/>
                </a:solidFill>
                <a:latin typeface="Courier New" pitchFamily="34" charset="0"/>
                <a:ea typeface="Courier New" pitchFamily="34" charset="-122"/>
                <a:cs typeface="Courier New" pitchFamily="34" charset="-120"/>
              </a:rPr>
              <a:t>score = score + age * 2;</a:t>
            </a:r>
            <a:endParaRPr lang="en-US" sz="1500" dirty="0"/>
          </a:p>
          <a:p>
            <a:pPr indent="0" marL="0">
              <a:spcAft>
                <a:spcPts val="300"/>
              </a:spcAft>
              <a:buNone/>
            </a:pPr>
            <a:r>
              <a:rPr lang="en-US" sz="1500" dirty="0">
                <a:solidFill>
                  <a:schemeClr val="tx1"/>
                </a:solidFill>
                <a:latin typeface="Courier New" pitchFamily="34" charset="0"/>
                <a:ea typeface="Courier New" pitchFamily="34" charset="-122"/>
                <a:cs typeface="Courier New" pitchFamily="34" charset="-120"/>
              </a:rPr>
              <a:t>int bonus = (score - 5) / 5;</a:t>
            </a:r>
            <a:endParaRPr lang="en-US" sz="1500" dirty="0"/>
          </a:p>
          <a:p>
            <a:pPr indent="0" marL="0">
              <a:spcAft>
                <a:spcPts val="300"/>
              </a:spcAft>
              <a:buNone/>
            </a:pPr>
            <a:r>
              <a:rPr lang="en-US" sz="1500" dirty="0">
                <a:solidFill>
                  <a:schemeClr val="tx1"/>
                </a:solidFill>
                <a:latin typeface="Courier New" pitchFamily="34" charset="0"/>
                <a:ea typeface="Courier New" pitchFamily="34" charset="-122"/>
                <a:cs typeface="Courier New" pitchFamily="34" charset="-120"/>
              </a:rPr>
              <a:t>print score;</a:t>
            </a:r>
            <a:endParaRPr lang="en-US" sz="1500" dirty="0"/>
          </a:p>
          <a:p>
            <a:pPr indent="0" marL="0">
              <a:spcAft>
                <a:spcPts val="300"/>
              </a:spcAft>
              <a:buNone/>
            </a:pPr>
            <a:r>
              <a:rPr lang="en-US" sz="1500" dirty="0">
                <a:solidFill>
                  <a:schemeClr val="tx1"/>
                </a:solidFill>
                <a:latin typeface="Courier New" pitchFamily="34" charset="0"/>
                <a:ea typeface="Courier New" pitchFamily="34" charset="-122"/>
                <a:cs typeface="Courier New" pitchFamily="34" charset="-120"/>
              </a:rPr>
              <a:t>print bonus * (age + 1);</a:t>
            </a:r>
            <a:endParaRPr lang="en-US" sz="1500" dirty="0"/>
          </a:p>
        </p:txBody>
      </p:sp>
      <p:sp>
        <p:nvSpPr>
          <p:cNvPr id="6" name="arrow-159"/>
          <p:cNvSpPr/>
          <p:nvPr/>
        </p:nvSpPr>
        <p:spPr>
          <a:xfrm>
            <a:off x="5440680" y="3474720"/>
            <a:ext cx="822960" cy="0"/>
          </a:xfrm>
          <a:prstGeom prst="line">
            <a:avLst/>
          </a:prstGeom>
          <a:noFill/>
          <a:ln w="22225">
            <a:solidFill>
              <a:schemeClr val="accent6"/>
            </a:solidFill>
            <a:prstDash val="solid"/>
            <a:tailEnd type="triangle"/>
          </a:ln>
        </p:spPr>
      </p:sp>
      <p:sp>
        <p:nvSpPr>
          <p:cNvPr id="7" name="text-160"/>
          <p:cNvSpPr txBox="1"/>
          <p:nvPr/>
        </p:nvSpPr>
        <p:spPr>
          <a:xfrm>
            <a:off x="6400800" y="1371600"/>
            <a:ext cx="2743200" cy="274320"/>
          </a:xfrm>
          <a:prstGeom prst="rect">
            <a:avLst/>
          </a:prstGeom>
          <a:noFill/>
          <a:ln/>
        </p:spPr>
        <p:txBody>
          <a:bodyPr wrap="square" lIns="0" tIns="0" rIns="0" bIns="0" rtlCol="0" anchor="t"/>
          <a:lstStyle/>
          <a:p>
            <a:pPr indent="0" marL="0">
              <a:buNone/>
            </a:pPr>
            <a:r>
              <a:rPr lang="en-US" sz="1100" spc="100" kern="0" dirty="0">
                <a:solidFill>
                  <a:schemeClr val="tx2"/>
                </a:solidFill>
                <a:latin typeface="Courier New" pitchFamily="34" charset="0"/>
                <a:ea typeface="Courier New" pitchFamily="34" charset="-122"/>
                <a:cs typeface="Courier New" pitchFamily="34" charset="-120"/>
              </a:rPr>
              <a:t>TAC</a:t>
            </a:r>
            <a:endParaRPr lang="en-US" sz="1100" dirty="0"/>
          </a:p>
        </p:txBody>
      </p:sp>
      <p:sp>
        <p:nvSpPr>
          <p:cNvPr id="8" name="panel-161"/>
          <p:cNvSpPr/>
          <p:nvPr/>
        </p:nvSpPr>
        <p:spPr>
          <a:xfrm>
            <a:off x="6400800" y="1691640"/>
            <a:ext cx="5239512" cy="3566160"/>
          </a:xfrm>
          <a:prstGeom prst="roundRect">
            <a:avLst>
              <a:gd name="adj" fmla="val 2051"/>
            </a:avLst>
          </a:prstGeom>
          <a:solidFill>
            <a:srgbClr val="0B0D11"/>
          </a:solidFill>
          <a:ln w="12700">
            <a:solidFill>
              <a:schemeClr val="accent5"/>
            </a:solidFill>
            <a:prstDash val="solid"/>
          </a:ln>
        </p:spPr>
      </p:sp>
      <p:sp>
        <p:nvSpPr>
          <p:cNvPr id="9" name="text-162"/>
          <p:cNvSpPr txBox="1"/>
          <p:nvPr/>
        </p:nvSpPr>
        <p:spPr>
          <a:xfrm>
            <a:off x="6629400" y="1874520"/>
            <a:ext cx="4782312" cy="3200400"/>
          </a:xfrm>
          <a:prstGeom prst="rect">
            <a:avLst/>
          </a:prstGeom>
          <a:noFill/>
          <a:ln/>
        </p:spPr>
        <p:txBody>
          <a:bodyPr wrap="square" lIns="0" tIns="0" rIns="0" bIns="0" rtlCol="0" anchor="t"/>
          <a:lstStyle/>
          <a:p>
            <a:pPr indent="0" marL="0">
              <a:spcAft>
                <a:spcPts val="300"/>
              </a:spcAft>
              <a:buNone/>
            </a:pPr>
            <a:r>
              <a:rPr lang="en-US" sz="1500" dirty="0">
                <a:solidFill>
                  <a:schemeClr val="tx1"/>
                </a:solidFill>
                <a:latin typeface="Courier New" pitchFamily="34" charset="0"/>
                <a:ea typeface="Courier New" pitchFamily="34" charset="-122"/>
                <a:cs typeface="Courier New" pitchFamily="34" charset="-120"/>
              </a:rPr>
              <a:t>age = 20         </a:t>
            </a:r>
            <a:pPr indent="0" marL="0">
              <a:spcAft>
                <a:spcPts val="300"/>
              </a:spcAft>
              <a:buNone/>
            </a:pPr>
            <a:r>
              <a:rPr lang="en-US" sz="1500" dirty="0">
                <a:solidFill>
                  <a:schemeClr val="accent6"/>
                </a:solidFill>
                <a:latin typeface="Courier New" pitchFamily="34" charset="0"/>
                <a:ea typeface="Courier New" pitchFamily="34" charset="-122"/>
                <a:cs typeface="Courier New" pitchFamily="34" charset="-120"/>
              </a:rPr>
              <a:t>t4 = t3 / 5</a:t>
            </a:r>
            <a:endParaRPr lang="en-US" sz="1500" dirty="0"/>
          </a:p>
          <a:p>
            <a:pPr indent="0" marL="0">
              <a:spcAft>
                <a:spcPts val="300"/>
              </a:spcAft>
              <a:buNone/>
            </a:pPr>
            <a:r>
              <a:rPr lang="en-US" sz="1500" dirty="0">
                <a:solidFill>
                  <a:schemeClr val="tx1"/>
                </a:solidFill>
                <a:latin typeface="Courier New" pitchFamily="34" charset="0"/>
                <a:ea typeface="Courier New" pitchFamily="34" charset="-122"/>
                <a:cs typeface="Courier New" pitchFamily="34" charset="-120"/>
              </a:rPr>
              <a:t>score = 10       </a:t>
            </a:r>
            <a:pPr indent="0" marL="0">
              <a:spcAft>
                <a:spcPts val="300"/>
              </a:spcAft>
              <a:buNone/>
            </a:pPr>
            <a:r>
              <a:rPr lang="en-US" sz="1500" dirty="0">
                <a:solidFill>
                  <a:schemeClr val="tx1"/>
                </a:solidFill>
                <a:latin typeface="Courier New" pitchFamily="34" charset="0"/>
                <a:ea typeface="Courier New" pitchFamily="34" charset="-122"/>
                <a:cs typeface="Courier New" pitchFamily="34" charset="-120"/>
              </a:rPr>
              <a:t>bonus = t4</a:t>
            </a:r>
            <a:endParaRPr lang="en-US" sz="1500" dirty="0"/>
          </a:p>
          <a:p>
            <a:pPr indent="0" marL="0">
              <a:spcAft>
                <a:spcPts val="300"/>
              </a:spcAft>
              <a:buNone/>
            </a:pPr>
            <a:r>
              <a:rPr lang="en-US" sz="1500" dirty="0">
                <a:solidFill>
                  <a:schemeClr val="accent6"/>
                </a:solidFill>
                <a:latin typeface="Courier New" pitchFamily="34" charset="0"/>
                <a:ea typeface="Courier New" pitchFamily="34" charset="-122"/>
                <a:cs typeface="Courier New" pitchFamily="34" charset="-120"/>
              </a:rPr>
              <a:t>t1 = age * 2     </a:t>
            </a:r>
            <a:pPr indent="0" marL="0">
              <a:spcAft>
                <a:spcPts val="300"/>
              </a:spcAft>
              <a:buNone/>
            </a:pPr>
            <a:r>
              <a:rPr lang="en-US" sz="1500" dirty="0">
                <a:solidFill>
                  <a:schemeClr val="tx1"/>
                </a:solidFill>
                <a:latin typeface="Courier New" pitchFamily="34" charset="0"/>
                <a:ea typeface="Courier New" pitchFamily="34" charset="-122"/>
                <a:cs typeface="Courier New" pitchFamily="34" charset="-120"/>
              </a:rPr>
              <a:t>print score</a:t>
            </a:r>
            <a:endParaRPr lang="en-US" sz="1500" dirty="0"/>
          </a:p>
          <a:p>
            <a:pPr indent="0" marL="0">
              <a:spcAft>
                <a:spcPts val="300"/>
              </a:spcAft>
              <a:buNone/>
            </a:pPr>
            <a:r>
              <a:rPr lang="en-US" sz="1500" dirty="0">
                <a:solidFill>
                  <a:schemeClr val="accent6"/>
                </a:solidFill>
                <a:latin typeface="Courier New" pitchFamily="34" charset="0"/>
                <a:ea typeface="Courier New" pitchFamily="34" charset="-122"/>
                <a:cs typeface="Courier New" pitchFamily="34" charset="-120"/>
              </a:rPr>
              <a:t>t2 = score + t1  </a:t>
            </a:r>
            <a:pPr indent="0" marL="0">
              <a:spcAft>
                <a:spcPts val="300"/>
              </a:spcAft>
              <a:buNone/>
            </a:pPr>
            <a:r>
              <a:rPr lang="en-US" sz="1500" dirty="0">
                <a:solidFill>
                  <a:schemeClr val="accent6"/>
                </a:solidFill>
                <a:latin typeface="Courier New" pitchFamily="34" charset="0"/>
                <a:ea typeface="Courier New" pitchFamily="34" charset="-122"/>
                <a:cs typeface="Courier New" pitchFamily="34" charset="-120"/>
              </a:rPr>
              <a:t>t5 = age + 1</a:t>
            </a:r>
            <a:endParaRPr lang="en-US" sz="1500" dirty="0"/>
          </a:p>
          <a:p>
            <a:pPr indent="0" marL="0">
              <a:spcAft>
                <a:spcPts val="300"/>
              </a:spcAft>
              <a:buNone/>
            </a:pPr>
            <a:r>
              <a:rPr lang="en-US" sz="1500" dirty="0">
                <a:solidFill>
                  <a:schemeClr val="tx1"/>
                </a:solidFill>
                <a:latin typeface="Courier New" pitchFamily="34" charset="0"/>
                <a:ea typeface="Courier New" pitchFamily="34" charset="-122"/>
                <a:cs typeface="Courier New" pitchFamily="34" charset="-120"/>
              </a:rPr>
              <a:t>score = t2       </a:t>
            </a:r>
            <a:pPr indent="0" marL="0">
              <a:spcAft>
                <a:spcPts val="300"/>
              </a:spcAft>
              <a:buNone/>
            </a:pPr>
            <a:r>
              <a:rPr lang="en-US" sz="1500" dirty="0">
                <a:solidFill>
                  <a:schemeClr val="accent6"/>
                </a:solidFill>
                <a:latin typeface="Courier New" pitchFamily="34" charset="0"/>
                <a:ea typeface="Courier New" pitchFamily="34" charset="-122"/>
                <a:cs typeface="Courier New" pitchFamily="34" charset="-120"/>
              </a:rPr>
              <a:t>t6 = bonus * t5</a:t>
            </a:r>
            <a:endParaRPr lang="en-US" sz="1500" dirty="0"/>
          </a:p>
          <a:p>
            <a:pPr indent="0" marL="0">
              <a:spcAft>
                <a:spcPts val="300"/>
              </a:spcAft>
              <a:buNone/>
            </a:pPr>
            <a:r>
              <a:rPr lang="en-US" sz="1500" dirty="0">
                <a:solidFill>
                  <a:schemeClr val="accent6"/>
                </a:solidFill>
                <a:latin typeface="Courier New" pitchFamily="34" charset="0"/>
                <a:ea typeface="Courier New" pitchFamily="34" charset="-122"/>
                <a:cs typeface="Courier New" pitchFamily="34" charset="-120"/>
              </a:rPr>
              <a:t>t3 = score - 5   </a:t>
            </a:r>
            <a:pPr indent="0" marL="0">
              <a:spcAft>
                <a:spcPts val="300"/>
              </a:spcAft>
              <a:buNone/>
            </a:pPr>
            <a:r>
              <a:rPr lang="en-US" sz="1500" dirty="0">
                <a:solidFill>
                  <a:schemeClr val="tx1"/>
                </a:solidFill>
                <a:latin typeface="Courier New" pitchFamily="34" charset="0"/>
                <a:ea typeface="Courier New" pitchFamily="34" charset="-122"/>
                <a:cs typeface="Courier New" pitchFamily="34" charset="-120"/>
              </a:rPr>
              <a:t>print t6</a:t>
            </a:r>
            <a:endParaRPr lang="en-US" sz="1500" dirty="0"/>
          </a:p>
        </p:txBody>
      </p:sp>
      <p:sp>
        <p:nvSpPr>
          <p:cNvPr id="10" name="pill-163"/>
          <p:cNvSpPr/>
          <p:nvPr/>
        </p:nvSpPr>
        <p:spPr>
          <a:xfrm>
            <a:off x="548640" y="5577840"/>
            <a:ext cx="3429000" cy="365760"/>
          </a:xfrm>
          <a:prstGeom prst="roundRect">
            <a:avLst>
              <a:gd name="adj" fmla="val 50000"/>
            </a:avLst>
          </a:prstGeom>
          <a:solidFill>
            <a:schemeClr val="bg2"/>
          </a:solidFill>
          <a:ln w="12700">
            <a:solidFill>
              <a:schemeClr val="accent5"/>
            </a:solidFill>
            <a:prstDash val="solid"/>
          </a:ln>
        </p:spPr>
      </p:sp>
      <p:sp>
        <p:nvSpPr>
          <p:cNvPr id="11" name="dot-164"/>
          <p:cNvSpPr/>
          <p:nvPr/>
        </p:nvSpPr>
        <p:spPr>
          <a:xfrm>
            <a:off x="694944" y="5715000"/>
            <a:ext cx="91440" cy="91440"/>
          </a:xfrm>
          <a:prstGeom prst="ellipse">
            <a:avLst/>
          </a:prstGeom>
          <a:solidFill>
            <a:schemeClr val="accent6"/>
          </a:solidFill>
          <a:ln w="12700">
            <a:solidFill>
              <a:schemeClr val="accent6"/>
            </a:solidFill>
            <a:prstDash val="solid"/>
          </a:ln>
        </p:spPr>
      </p:sp>
      <p:sp>
        <p:nvSpPr>
          <p:cNvPr id="12" name="text-165"/>
          <p:cNvSpPr txBox="1"/>
          <p:nvPr/>
        </p:nvSpPr>
        <p:spPr>
          <a:xfrm>
            <a:off x="877824" y="5577840"/>
            <a:ext cx="3017520" cy="365760"/>
          </a:xfrm>
          <a:prstGeom prst="rect">
            <a:avLst/>
          </a:prstGeom>
          <a:noFill/>
          <a:ln/>
        </p:spPr>
        <p:txBody>
          <a:bodyPr wrap="square" lIns="0" tIns="0" rIns="0" bIns="0" rtlCol="0" anchor="ctr"/>
          <a:lstStyle/>
          <a:p>
            <a:pPr indent="0" marL="0">
              <a:buNone/>
            </a:pPr>
            <a:r>
              <a:rPr lang="en-US" sz="1200" dirty="0">
                <a:solidFill>
                  <a:schemeClr val="tx1"/>
                </a:solidFill>
              </a:rPr>
              <a:t>At most one operator per instruction</a:t>
            </a:r>
            <a:endParaRPr lang="en-US" sz="1200" dirty="0"/>
          </a:p>
        </p:txBody>
      </p:sp>
      <p:sp>
        <p:nvSpPr>
          <p:cNvPr id="13" name="pill-166"/>
          <p:cNvSpPr/>
          <p:nvPr/>
        </p:nvSpPr>
        <p:spPr>
          <a:xfrm>
            <a:off x="4160520" y="5577840"/>
            <a:ext cx="3657600" cy="365760"/>
          </a:xfrm>
          <a:prstGeom prst="roundRect">
            <a:avLst>
              <a:gd name="adj" fmla="val 50000"/>
            </a:avLst>
          </a:prstGeom>
          <a:solidFill>
            <a:schemeClr val="bg2"/>
          </a:solidFill>
          <a:ln w="12700">
            <a:solidFill>
              <a:schemeClr val="accent5"/>
            </a:solidFill>
            <a:prstDash val="solid"/>
          </a:ln>
        </p:spPr>
      </p:sp>
      <p:sp>
        <p:nvSpPr>
          <p:cNvPr id="14" name="dot-167"/>
          <p:cNvSpPr/>
          <p:nvPr/>
        </p:nvSpPr>
        <p:spPr>
          <a:xfrm>
            <a:off x="4306824" y="5715000"/>
            <a:ext cx="91440" cy="91440"/>
          </a:xfrm>
          <a:prstGeom prst="ellipse">
            <a:avLst/>
          </a:prstGeom>
          <a:solidFill>
            <a:schemeClr val="accent6"/>
          </a:solidFill>
          <a:ln w="12700">
            <a:solidFill>
              <a:schemeClr val="accent6"/>
            </a:solidFill>
            <a:prstDash val="solid"/>
          </a:ln>
        </p:spPr>
      </p:sp>
      <p:sp>
        <p:nvSpPr>
          <p:cNvPr id="15" name="text-168"/>
          <p:cNvSpPr txBox="1"/>
          <p:nvPr/>
        </p:nvSpPr>
        <p:spPr>
          <a:xfrm>
            <a:off x="4489704" y="5577840"/>
            <a:ext cx="3246120" cy="365760"/>
          </a:xfrm>
          <a:prstGeom prst="rect">
            <a:avLst/>
          </a:prstGeom>
          <a:noFill/>
          <a:ln/>
        </p:spPr>
        <p:txBody>
          <a:bodyPr wrap="square" lIns="0" tIns="0" rIns="0" bIns="0" rtlCol="0" anchor="ctr"/>
          <a:lstStyle/>
          <a:p>
            <a:pPr indent="0" marL="0">
              <a:buNone/>
            </a:pPr>
            <a:r>
              <a:rPr lang="en-US" sz="1200" dirty="0">
                <a:solidFill>
                  <a:schemeClr val="tx1"/>
                </a:solidFill>
              </a:rPr>
              <a:t>Temps t1, t2… skip names already used</a:t>
            </a:r>
            <a:endParaRPr lang="en-US" sz="1200" dirty="0"/>
          </a:p>
        </p:txBody>
      </p:sp>
      <p:sp>
        <p:nvSpPr>
          <p:cNvPr id="16" name="pill-169"/>
          <p:cNvSpPr/>
          <p:nvPr/>
        </p:nvSpPr>
        <p:spPr>
          <a:xfrm>
            <a:off x="8001000" y="5577840"/>
            <a:ext cx="3639312" cy="365760"/>
          </a:xfrm>
          <a:prstGeom prst="roundRect">
            <a:avLst>
              <a:gd name="adj" fmla="val 50000"/>
            </a:avLst>
          </a:prstGeom>
          <a:solidFill>
            <a:schemeClr val="bg2"/>
          </a:solidFill>
          <a:ln w="12700">
            <a:solidFill>
              <a:schemeClr val="accent5"/>
            </a:solidFill>
            <a:prstDash val="solid"/>
          </a:ln>
        </p:spPr>
      </p:sp>
      <p:sp>
        <p:nvSpPr>
          <p:cNvPr id="17" name="dot-170"/>
          <p:cNvSpPr/>
          <p:nvPr/>
        </p:nvSpPr>
        <p:spPr>
          <a:xfrm>
            <a:off x="8147304" y="5715000"/>
            <a:ext cx="91440" cy="91440"/>
          </a:xfrm>
          <a:prstGeom prst="ellipse">
            <a:avLst/>
          </a:prstGeom>
          <a:solidFill>
            <a:schemeClr val="accent2"/>
          </a:solidFill>
          <a:ln w="12700">
            <a:solidFill>
              <a:schemeClr val="accent2"/>
            </a:solidFill>
            <a:prstDash val="solid"/>
          </a:ln>
        </p:spPr>
      </p:sp>
      <p:sp>
        <p:nvSpPr>
          <p:cNvPr id="18" name="text-171"/>
          <p:cNvSpPr txBox="1"/>
          <p:nvPr/>
        </p:nvSpPr>
        <p:spPr>
          <a:xfrm>
            <a:off x="8330184" y="5577840"/>
            <a:ext cx="3227832" cy="365760"/>
          </a:xfrm>
          <a:prstGeom prst="rect">
            <a:avLst/>
          </a:prstGeom>
          <a:noFill/>
          <a:ln/>
        </p:spPr>
        <p:txBody>
          <a:bodyPr wrap="square" lIns="0" tIns="0" rIns="0" bIns="0" rtlCol="0" anchor="ctr"/>
          <a:lstStyle/>
          <a:p>
            <a:pPr indent="0" marL="0">
              <a:buNone/>
            </a:pPr>
            <a:r>
              <a:rPr lang="en-US" sz="1200" dirty="0">
                <a:solidFill>
                  <a:schemeClr val="tx1"/>
                </a:solidFill>
              </a:rPr>
              <a:t>Printed only if the whole program passes</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Phase 5 · Every error is a structured object</a:t>
            </a:r>
            <a:endParaRPr lang="en-US" sz="3200" dirty="0"/>
          </a:p>
        </p:txBody>
      </p:sp>
      <p:sp>
        <p:nvSpPr>
          <p:cNvPr id="3" name="panel-172"/>
          <p:cNvSpPr/>
          <p:nvPr/>
        </p:nvSpPr>
        <p:spPr>
          <a:xfrm>
            <a:off x="548640" y="1371600"/>
            <a:ext cx="2651760" cy="1463040"/>
          </a:xfrm>
          <a:prstGeom prst="roundRect">
            <a:avLst>
              <a:gd name="adj" fmla="val 5000"/>
            </a:avLst>
          </a:prstGeom>
          <a:solidFill>
            <a:schemeClr val="bg2"/>
          </a:solidFill>
          <a:ln w="12700">
            <a:solidFill>
              <a:schemeClr val="accent5"/>
            </a:solidFill>
            <a:prstDash val="solid"/>
          </a:ln>
        </p:spPr>
      </p:sp>
      <p:sp>
        <p:nvSpPr>
          <p:cNvPr id="4" name="text-173"/>
          <p:cNvSpPr txBox="1"/>
          <p:nvPr/>
        </p:nvSpPr>
        <p:spPr>
          <a:xfrm>
            <a:off x="731520" y="1508760"/>
            <a:ext cx="2286000" cy="274320"/>
          </a:xfrm>
          <a:prstGeom prst="rect">
            <a:avLst/>
          </a:prstGeom>
          <a:noFill/>
          <a:ln/>
        </p:spPr>
        <p:txBody>
          <a:bodyPr wrap="square" lIns="0" tIns="0" rIns="0" bIns="0" rtlCol="0" anchor="t"/>
          <a:lstStyle/>
          <a:p>
            <a:pPr indent="0" marL="0">
              <a:buNone/>
            </a:pPr>
            <a:r>
              <a:rPr lang="en-US" sz="1100" spc="100" kern="0" dirty="0">
                <a:solidFill>
                  <a:schemeClr val="accent4"/>
                </a:solidFill>
                <a:latin typeface="Courier New" pitchFamily="34" charset="0"/>
                <a:ea typeface="Courier New" pitchFamily="34" charset="-122"/>
                <a:cs typeface="Courier New" pitchFamily="34" charset="-120"/>
              </a:rPr>
              <a:t>line</a:t>
            </a:r>
            <a:endParaRPr lang="en-US" sz="1100" dirty="0"/>
          </a:p>
        </p:txBody>
      </p:sp>
      <p:sp>
        <p:nvSpPr>
          <p:cNvPr id="5" name="text-174"/>
          <p:cNvSpPr txBox="1"/>
          <p:nvPr/>
        </p:nvSpPr>
        <p:spPr>
          <a:xfrm>
            <a:off x="731520" y="1828800"/>
            <a:ext cx="2286000" cy="914400"/>
          </a:xfrm>
          <a:prstGeom prst="rect">
            <a:avLst/>
          </a:prstGeom>
          <a:noFill/>
          <a:ln/>
        </p:spPr>
        <p:txBody>
          <a:bodyPr wrap="square" lIns="0" tIns="0" rIns="0" bIns="0" rtlCol="0" anchor="t"/>
          <a:lstStyle/>
          <a:p>
            <a:pPr indent="0" marL="0">
              <a:buNone/>
            </a:pPr>
            <a:r>
              <a:rPr lang="en-US" sz="1500" dirty="0">
                <a:solidFill>
                  <a:schemeClr val="tx1"/>
                </a:solidFill>
              </a:rPr>
              <a:t>2</a:t>
            </a:r>
            <a:endParaRPr lang="en-US" sz="1500" dirty="0"/>
          </a:p>
        </p:txBody>
      </p:sp>
      <p:sp>
        <p:nvSpPr>
          <p:cNvPr id="6" name="panel-175"/>
          <p:cNvSpPr/>
          <p:nvPr/>
        </p:nvSpPr>
        <p:spPr>
          <a:xfrm>
            <a:off x="3383280" y="1371600"/>
            <a:ext cx="2651760" cy="1463040"/>
          </a:xfrm>
          <a:prstGeom prst="roundRect">
            <a:avLst>
              <a:gd name="adj" fmla="val 5000"/>
            </a:avLst>
          </a:prstGeom>
          <a:solidFill>
            <a:schemeClr val="bg2"/>
          </a:solidFill>
          <a:ln w="12700">
            <a:solidFill>
              <a:schemeClr val="accent5"/>
            </a:solidFill>
            <a:prstDash val="solid"/>
          </a:ln>
        </p:spPr>
      </p:sp>
      <p:sp>
        <p:nvSpPr>
          <p:cNvPr id="7" name="text-176"/>
          <p:cNvSpPr txBox="1"/>
          <p:nvPr/>
        </p:nvSpPr>
        <p:spPr>
          <a:xfrm>
            <a:off x="3566160" y="1508760"/>
            <a:ext cx="2286000" cy="274320"/>
          </a:xfrm>
          <a:prstGeom prst="rect">
            <a:avLst/>
          </a:prstGeom>
          <a:noFill/>
          <a:ln/>
        </p:spPr>
        <p:txBody>
          <a:bodyPr wrap="square" lIns="0" tIns="0" rIns="0" bIns="0" rtlCol="0" anchor="t"/>
          <a:lstStyle/>
          <a:p>
            <a:pPr indent="0" marL="0">
              <a:buNone/>
            </a:pPr>
            <a:r>
              <a:rPr lang="en-US" sz="1100" spc="100" kern="0" dirty="0">
                <a:solidFill>
                  <a:schemeClr val="accent2"/>
                </a:solidFill>
                <a:latin typeface="Courier New" pitchFamily="34" charset="0"/>
                <a:ea typeface="Courier New" pitchFamily="34" charset="-122"/>
                <a:cs typeface="Courier New" pitchFamily="34" charset="-120"/>
              </a:rPr>
              <a:t>phase</a:t>
            </a:r>
            <a:endParaRPr lang="en-US" sz="1100" dirty="0"/>
          </a:p>
        </p:txBody>
      </p:sp>
      <p:sp>
        <p:nvSpPr>
          <p:cNvPr id="8" name="text-177"/>
          <p:cNvSpPr txBox="1"/>
          <p:nvPr/>
        </p:nvSpPr>
        <p:spPr>
          <a:xfrm>
            <a:off x="3566160" y="1828800"/>
            <a:ext cx="2286000" cy="914400"/>
          </a:xfrm>
          <a:prstGeom prst="rect">
            <a:avLst/>
          </a:prstGeom>
          <a:noFill/>
          <a:ln/>
        </p:spPr>
        <p:txBody>
          <a:bodyPr wrap="square" lIns="0" tIns="0" rIns="0" bIns="0" rtlCol="0" anchor="t"/>
          <a:lstStyle/>
          <a:p>
            <a:pPr indent="0" marL="0">
              <a:buNone/>
            </a:pPr>
            <a:r>
              <a:rPr lang="en-US" sz="1500" dirty="0">
                <a:solidFill>
                  <a:schemeClr val="tx1"/>
                </a:solidFill>
              </a:rPr>
              <a:t>Syntax Analysis</a:t>
            </a:r>
            <a:endParaRPr lang="en-US" sz="1500" dirty="0"/>
          </a:p>
        </p:txBody>
      </p:sp>
      <p:sp>
        <p:nvSpPr>
          <p:cNvPr id="9" name="panel-178"/>
          <p:cNvSpPr/>
          <p:nvPr/>
        </p:nvSpPr>
        <p:spPr>
          <a:xfrm>
            <a:off x="6217920" y="1371600"/>
            <a:ext cx="2651760" cy="1463040"/>
          </a:xfrm>
          <a:prstGeom prst="roundRect">
            <a:avLst>
              <a:gd name="adj" fmla="val 5000"/>
            </a:avLst>
          </a:prstGeom>
          <a:solidFill>
            <a:schemeClr val="bg2"/>
          </a:solidFill>
          <a:ln w="12700">
            <a:solidFill>
              <a:schemeClr val="accent5"/>
            </a:solidFill>
            <a:prstDash val="solid"/>
          </a:ln>
        </p:spPr>
      </p:sp>
      <p:sp>
        <p:nvSpPr>
          <p:cNvPr id="10" name="text-179"/>
          <p:cNvSpPr txBox="1"/>
          <p:nvPr/>
        </p:nvSpPr>
        <p:spPr>
          <a:xfrm>
            <a:off x="6400800" y="1508760"/>
            <a:ext cx="2286000" cy="274320"/>
          </a:xfrm>
          <a:prstGeom prst="rect">
            <a:avLst/>
          </a:prstGeom>
          <a:noFill/>
          <a:ln/>
        </p:spPr>
        <p:txBody>
          <a:bodyPr wrap="square" lIns="0" tIns="0" rIns="0" bIns="0" rtlCol="0" anchor="t"/>
          <a:lstStyle/>
          <a:p>
            <a:pPr indent="0" marL="0">
              <a:buNone/>
            </a:pPr>
            <a:r>
              <a:rPr lang="en-US" sz="1100" spc="100" kern="0" dirty="0">
                <a:solidFill>
                  <a:schemeClr val="tx1"/>
                </a:solidFill>
                <a:latin typeface="Courier New" pitchFamily="34" charset="0"/>
                <a:ea typeface="Courier New" pitchFamily="34" charset="-122"/>
                <a:cs typeface="Courier New" pitchFamily="34" charset="-120"/>
              </a:rPr>
              <a:t>message</a:t>
            </a:r>
            <a:endParaRPr lang="en-US" sz="1100" dirty="0"/>
          </a:p>
        </p:txBody>
      </p:sp>
      <p:sp>
        <p:nvSpPr>
          <p:cNvPr id="11" name="text-180"/>
          <p:cNvSpPr txBox="1"/>
          <p:nvPr/>
        </p:nvSpPr>
        <p:spPr>
          <a:xfrm>
            <a:off x="6400800" y="1828800"/>
            <a:ext cx="2286000" cy="914400"/>
          </a:xfrm>
          <a:prstGeom prst="rect">
            <a:avLst/>
          </a:prstGeom>
          <a:noFill/>
          <a:ln/>
        </p:spPr>
        <p:txBody>
          <a:bodyPr wrap="square" lIns="0" tIns="0" rIns="0" bIns="0" rtlCol="0" anchor="t"/>
          <a:lstStyle/>
          <a:p>
            <a:pPr indent="0" marL="0">
              <a:buNone/>
            </a:pPr>
            <a:r>
              <a:rPr lang="en-US" sz="1500" dirty="0">
                <a:solidFill>
                  <a:schemeClr val="tx1"/>
                </a:solidFill>
              </a:rPr>
              <a:t>Expected ';' at the end of the statement.</a:t>
            </a:r>
            <a:endParaRPr lang="en-US" sz="1500" dirty="0"/>
          </a:p>
        </p:txBody>
      </p:sp>
      <p:sp>
        <p:nvSpPr>
          <p:cNvPr id="12" name="panel-181"/>
          <p:cNvSpPr/>
          <p:nvPr/>
        </p:nvSpPr>
        <p:spPr>
          <a:xfrm>
            <a:off x="9052560" y="1371600"/>
            <a:ext cx="2651760" cy="1463040"/>
          </a:xfrm>
          <a:prstGeom prst="roundRect">
            <a:avLst>
              <a:gd name="adj" fmla="val 5000"/>
            </a:avLst>
          </a:prstGeom>
          <a:solidFill>
            <a:schemeClr val="bg2"/>
          </a:solidFill>
          <a:ln w="12700">
            <a:solidFill>
              <a:schemeClr val="accent5"/>
            </a:solidFill>
            <a:prstDash val="solid"/>
          </a:ln>
        </p:spPr>
      </p:sp>
      <p:sp>
        <p:nvSpPr>
          <p:cNvPr id="13" name="text-182"/>
          <p:cNvSpPr txBox="1"/>
          <p:nvPr/>
        </p:nvSpPr>
        <p:spPr>
          <a:xfrm>
            <a:off x="9235440" y="1508760"/>
            <a:ext cx="2286000" cy="274320"/>
          </a:xfrm>
          <a:prstGeom prst="rect">
            <a:avLst/>
          </a:prstGeom>
          <a:noFill/>
          <a:ln/>
        </p:spPr>
        <p:txBody>
          <a:bodyPr wrap="square" lIns="0" tIns="0" rIns="0" bIns="0" rtlCol="0" anchor="t"/>
          <a:lstStyle/>
          <a:p>
            <a:pPr indent="0" marL="0">
              <a:buNone/>
            </a:pPr>
            <a:r>
              <a:rPr lang="en-US" sz="1100" spc="100" kern="0" dirty="0">
                <a:solidFill>
                  <a:schemeClr val="accent3"/>
                </a:solidFill>
                <a:latin typeface="Courier New" pitchFamily="34" charset="0"/>
                <a:ea typeface="Courier New" pitchFamily="34" charset="-122"/>
                <a:cs typeface="Courier New" pitchFamily="34" charset="-120"/>
              </a:rPr>
              <a:t>suggestion</a:t>
            </a:r>
            <a:endParaRPr lang="en-US" sz="1100" dirty="0"/>
          </a:p>
        </p:txBody>
      </p:sp>
      <p:sp>
        <p:nvSpPr>
          <p:cNvPr id="14" name="text-183"/>
          <p:cNvSpPr txBox="1"/>
          <p:nvPr/>
        </p:nvSpPr>
        <p:spPr>
          <a:xfrm>
            <a:off x="9235440" y="1828800"/>
            <a:ext cx="2286000" cy="914400"/>
          </a:xfrm>
          <a:prstGeom prst="rect">
            <a:avLst/>
          </a:prstGeom>
          <a:noFill/>
          <a:ln/>
        </p:spPr>
        <p:txBody>
          <a:bodyPr wrap="square" lIns="0" tIns="0" rIns="0" bIns="0" rtlCol="0" anchor="t"/>
          <a:lstStyle/>
          <a:p>
            <a:pPr indent="0" marL="0">
              <a:buNone/>
            </a:pPr>
            <a:r>
              <a:rPr lang="en-US" sz="1500" dirty="0">
                <a:solidFill>
                  <a:schemeClr val="tx1"/>
                </a:solidFill>
              </a:rPr>
              <a:t>Add a semicolon after '10'.</a:t>
            </a:r>
            <a:endParaRPr lang="en-US" sz="1500" dirty="0"/>
          </a:p>
        </p:txBody>
      </p:sp>
      <p:graphicFrame>
        <p:nvGraphicFramePr>
          <p:cNvPr id="9" name="table-184"/>
          <p:cNvGraphicFramePr>
            <a:graphicFrameLocks noGrp="1"/>
          </p:cNvGraphicFramePr>
          <p:nvPr>
            <p:extLst>
              <p:ext uri="{D42A27DB-BD31-4B8C-83A1-F6EECF244321}">
                <p14:modId xmlns:p14="http://schemas.microsoft.com/office/powerpoint/2010/main" val="1579011935"/>
              </p:ext>
            </p:extLst>
          </p:nvPr>
        </p:nvGraphicFramePr>
        <p:xfrm>
          <a:off x="548640" y="3154680"/>
          <a:ext cx="11094415" cy="914400"/>
        </p:xfrm>
        <a:graphic>
          <a:graphicData uri="http://schemas.openxmlformats.org/drawingml/2006/table">
            <a:tbl>
              <a:tblPr/>
              <a:tblGrid>
                <a:gridCol w="2377440"/>
                <a:gridCol w="8716975"/>
              </a:tblGrid>
              <a:tr h="438912">
                <a:tc>
                  <a:txBody>
                    <a:bodyPr/>
                    <a:lstStyle/>
                    <a:p>
                      <a:pPr indent="0" marL="0">
                        <a:buNone/>
                      </a:pPr>
                      <a:r>
                        <a:rPr lang="en-US" sz="1200" b="1" dirty="0">
                          <a:solidFill>
                            <a:schemeClr val="tx2"/>
                          </a:solidFill>
                        </a:rPr>
                        <a:t>Mistake</a:t>
                      </a:r>
                      <a:endParaRPr lang="en-US" sz="12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b="1" dirty="0">
                          <a:solidFill>
                            <a:schemeClr val="tx2"/>
                          </a:solidFill>
                        </a:rPr>
                        <a:t>ErrorBuddy says</a:t>
                      </a:r>
                      <a:endParaRPr lang="en-US" sz="12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r>
              <a:tr h="438912">
                <a:tc>
                  <a:txBody>
                    <a:bodyPr/>
                    <a:lstStyle/>
                    <a:p>
                      <a:pPr indent="0" marL="0">
                        <a:buNone/>
                      </a:pPr>
                      <a:r>
                        <a:rPr lang="en-US" sz="1400" dirty="0">
                          <a:solidFill>
                            <a:schemeClr val="accent1"/>
                          </a:solidFill>
                          <a:latin typeface="Courier New" pitchFamily="34" charset="0"/>
                          <a:ea typeface="Courier New" pitchFamily="34" charset="-122"/>
                          <a:cs typeface="Courier New" pitchFamily="34" charset="-120"/>
                        </a:rPr>
                        <a:t>x + * 3</a:t>
                      </a:r>
                      <a:endParaRPr lang="en-US" sz="1400" dirty="0">
                        <a:latin typeface="Courier New" charset="0"/>
                        <a:ea typeface="Courier New" charset="0"/>
                        <a:cs typeface="Courier New"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Two operators in a row: '+' followed by '*'.</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r>
              <a:tr h="438912">
                <a:tc>
                  <a:txBody>
                    <a:bodyPr/>
                    <a:lstStyle/>
                    <a:p>
                      <a:pPr indent="0" marL="0">
                        <a:buNone/>
                      </a:pPr>
                      <a:r>
                        <a:rPr lang="en-US" sz="1400" dirty="0">
                          <a:solidFill>
                            <a:schemeClr val="accent1"/>
                          </a:solidFill>
                          <a:latin typeface="Courier New" pitchFamily="34" charset="0"/>
                          <a:ea typeface="Courier New" pitchFamily="34" charset="-122"/>
                          <a:cs typeface="Courier New" pitchFamily="34" charset="-120"/>
                        </a:rPr>
                        <a:t>(x + 3</a:t>
                      </a:r>
                      <a:endParaRPr lang="en-US" sz="1400" dirty="0">
                        <a:latin typeface="Courier New" charset="0"/>
                        <a:ea typeface="Courier New" charset="0"/>
                        <a:cs typeface="Courier New"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Missing ')' to close the '(' opened on line 2.</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r>
              <a:tr h="438912">
                <a:tc>
                  <a:txBody>
                    <a:bodyPr/>
                    <a:lstStyle/>
                    <a:p>
                      <a:pPr indent="0" marL="0">
                        <a:buNone/>
                      </a:pPr>
                      <a:r>
                        <a:rPr lang="en-US" sz="1400" dirty="0">
                          <a:solidFill>
                            <a:schemeClr val="accent1"/>
                          </a:solidFill>
                          <a:latin typeface="Courier New" pitchFamily="34" charset="0"/>
                          <a:ea typeface="Courier New" pitchFamily="34" charset="-122"/>
                          <a:cs typeface="Courier New" pitchFamily="34" charset="-120"/>
                        </a:rPr>
                        <a:t>int a = -5;</a:t>
                      </a:r>
                      <a:endParaRPr lang="en-US" sz="1400" dirty="0">
                        <a:latin typeface="Courier New" charset="0"/>
                        <a:ea typeface="Courier New" charset="0"/>
                        <a:cs typeface="Courier New"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Negative numbers such as '-5' are not supported directly. Write 0 - 5.</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r>
              <a:tr h="438912">
                <a:tc>
                  <a:txBody>
                    <a:bodyPr/>
                    <a:lstStyle/>
                    <a:p>
                      <a:pPr indent="0" marL="0">
                        <a:buNone/>
                      </a:pPr>
                      <a:r>
                        <a:rPr lang="en-US" sz="1400" dirty="0">
                          <a:solidFill>
                            <a:schemeClr val="accent1"/>
                          </a:solidFill>
                          <a:latin typeface="Courier New" pitchFamily="34" charset="0"/>
                          <a:ea typeface="Courier New" pitchFamily="34" charset="-122"/>
                          <a:cs typeface="Courier New" pitchFamily="34" charset="-120"/>
                        </a:rPr>
                        <a:t>prnt x;</a:t>
                      </a:r>
                      <a:endParaRPr lang="en-US" sz="1400" dirty="0">
                        <a:latin typeface="Courier New" charset="0"/>
                        <a:ea typeface="Courier New" charset="0"/>
                        <a:cs typeface="Courier New"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Unknown word 'prnt'. Did you mean the keyword 'print'?</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1"/>
                    </a:solidFill>
                  </a:tcPr>
                </a:tc>
              </a:tr>
              <a:tr h="438912">
                <a:tc>
                  <a:txBody>
                    <a:bodyPr/>
                    <a:lstStyle/>
                    <a:p>
                      <a:pPr indent="0" marL="0">
                        <a:buNone/>
                      </a:pPr>
                      <a:r>
                        <a:rPr lang="en-US" sz="1400" dirty="0">
                          <a:solidFill>
                            <a:schemeClr val="accent1"/>
                          </a:solidFill>
                          <a:latin typeface="Courier New" pitchFamily="34" charset="0"/>
                          <a:ea typeface="Courier New" pitchFamily="34" charset="-122"/>
                          <a:cs typeface="Courier New" pitchFamily="34" charset="-120"/>
                        </a:rPr>
                        <a:t>int a;</a:t>
                      </a:r>
                      <a:endParaRPr lang="en-US" sz="1400" dirty="0">
                        <a:latin typeface="Courier New" charset="0"/>
                        <a:ea typeface="Courier New" charset="0"/>
                        <a:cs typeface="Courier New" charset="0"/>
                      </a:endParaRPr>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Variable 'a' is declared without a starting value.</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Diagnosis reads the surrounding tokens</a:t>
            </a:r>
            <a:endParaRPr lang="en-US" sz="3200" dirty="0"/>
          </a:p>
        </p:txBody>
      </p:sp>
      <p:sp>
        <p:nvSpPr>
          <p:cNvPr id="3" name="text-185"/>
          <p:cNvSpPr txBox="1"/>
          <p:nvPr/>
        </p:nvSpPr>
        <p:spPr>
          <a:xfrm>
            <a:off x="548640" y="1325880"/>
            <a:ext cx="11094415" cy="457200"/>
          </a:xfrm>
          <a:prstGeom prst="rect">
            <a:avLst/>
          </a:prstGeom>
          <a:noFill/>
          <a:ln/>
        </p:spPr>
        <p:txBody>
          <a:bodyPr wrap="square" lIns="0" tIns="0" rIns="0" bIns="0" rtlCol="0" anchor="t"/>
          <a:lstStyle/>
          <a:p>
            <a:pPr indent="0" marL="0">
              <a:buNone/>
            </a:pPr>
            <a:r>
              <a:rPr lang="en-US" sz="1700" dirty="0">
                <a:solidFill>
                  <a:schemeClr val="tx2"/>
                </a:solidFill>
              </a:rPr>
              <a:t>expectSemicolon(): the statement is over but the next token is not ';'. What is it instead?</a:t>
            </a:r>
            <a:endParaRPr lang="en-US" sz="1700" dirty="0"/>
          </a:p>
        </p:txBody>
      </p:sp>
      <p:sp>
        <p:nvSpPr>
          <p:cNvPr id="4" name="panel-186"/>
          <p:cNvSpPr/>
          <p:nvPr/>
        </p:nvSpPr>
        <p:spPr>
          <a:xfrm>
            <a:off x="548640" y="1965960"/>
            <a:ext cx="1737360" cy="749808"/>
          </a:xfrm>
          <a:prstGeom prst="roundRect">
            <a:avLst>
              <a:gd name="adj" fmla="val 9756"/>
            </a:avLst>
          </a:prstGeom>
          <a:solidFill>
            <a:srgbClr val="0B0D11"/>
          </a:solidFill>
          <a:ln w="12700">
            <a:solidFill>
              <a:schemeClr val="accent1"/>
            </a:solidFill>
            <a:prstDash val="solid"/>
          </a:ln>
        </p:spPr>
      </p:sp>
      <p:sp>
        <p:nvSpPr>
          <p:cNvPr id="5" name="text-187"/>
          <p:cNvSpPr txBox="1"/>
          <p:nvPr/>
        </p:nvSpPr>
        <p:spPr>
          <a:xfrm>
            <a:off x="548640" y="1965960"/>
            <a:ext cx="1737360" cy="749808"/>
          </a:xfrm>
          <a:prstGeom prst="rect">
            <a:avLst/>
          </a:prstGeom>
          <a:noFill/>
          <a:ln/>
        </p:spPr>
        <p:txBody>
          <a:bodyPr wrap="square" lIns="0" tIns="0" rIns="0" bIns="0" rtlCol="0" anchor="ctr"/>
          <a:lstStyle/>
          <a:p>
            <a:pPr algn="ctr" indent="0" marL="0">
              <a:buNone/>
            </a:pPr>
            <a:r>
              <a:rPr lang="en-US" sz="2000" b="1" dirty="0">
                <a:solidFill>
                  <a:schemeClr val="accent1"/>
                </a:solidFill>
                <a:latin typeface="Courier New" pitchFamily="34" charset="0"/>
                <a:ea typeface="Courier New" pitchFamily="34" charset="-122"/>
                <a:cs typeface="Courier New" pitchFamily="34" charset="-120"/>
              </a:rPr>
              <a:t>)</a:t>
            </a:r>
            <a:endParaRPr lang="en-US" sz="2000" dirty="0"/>
          </a:p>
        </p:txBody>
      </p:sp>
      <p:sp>
        <p:nvSpPr>
          <p:cNvPr id="6" name="arrow-188"/>
          <p:cNvSpPr/>
          <p:nvPr/>
        </p:nvSpPr>
        <p:spPr>
          <a:xfrm>
            <a:off x="2468880" y="2340864"/>
            <a:ext cx="731520" cy="0"/>
          </a:xfrm>
          <a:prstGeom prst="line">
            <a:avLst/>
          </a:prstGeom>
          <a:noFill/>
          <a:ln w="22225">
            <a:solidFill>
              <a:schemeClr val="tx2"/>
            </a:solidFill>
            <a:prstDash val="solid"/>
            <a:tailEnd type="triangle"/>
          </a:ln>
        </p:spPr>
      </p:sp>
      <p:sp>
        <p:nvSpPr>
          <p:cNvPr id="7" name="panel-189"/>
          <p:cNvSpPr/>
          <p:nvPr/>
        </p:nvSpPr>
        <p:spPr>
          <a:xfrm>
            <a:off x="3383280" y="1965960"/>
            <a:ext cx="8257032" cy="749808"/>
          </a:xfrm>
          <a:prstGeom prst="roundRect">
            <a:avLst>
              <a:gd name="adj" fmla="val 9756"/>
            </a:avLst>
          </a:prstGeom>
          <a:solidFill>
            <a:schemeClr val="bg2"/>
          </a:solidFill>
          <a:ln w="12700">
            <a:solidFill>
              <a:schemeClr val="accent5"/>
            </a:solidFill>
            <a:prstDash val="solid"/>
          </a:ln>
        </p:spPr>
      </p:sp>
      <p:sp>
        <p:nvSpPr>
          <p:cNvPr id="8" name="text-190"/>
          <p:cNvSpPr txBox="1"/>
          <p:nvPr/>
        </p:nvSpPr>
        <p:spPr>
          <a:xfrm>
            <a:off x="3611880" y="1965960"/>
            <a:ext cx="7863840" cy="749808"/>
          </a:xfrm>
          <a:prstGeom prst="rect">
            <a:avLst/>
          </a:prstGeom>
          <a:noFill/>
          <a:ln/>
        </p:spPr>
        <p:txBody>
          <a:bodyPr wrap="square" lIns="0" tIns="0" rIns="0" bIns="0" rtlCol="0" anchor="ctr"/>
          <a:lstStyle/>
          <a:p>
            <a:pPr indent="0" marL="0">
              <a:buNone/>
            </a:pPr>
            <a:r>
              <a:rPr lang="en-US" sz="1600" dirty="0">
                <a:solidFill>
                  <a:schemeClr val="tx1"/>
                </a:solidFill>
              </a:rPr>
              <a:t>Found an extra ')' that has no matching '('.</a:t>
            </a:r>
            <a:endParaRPr lang="en-US" sz="1600" dirty="0"/>
          </a:p>
        </p:txBody>
      </p:sp>
      <p:sp>
        <p:nvSpPr>
          <p:cNvPr id="9" name="panel-191"/>
          <p:cNvSpPr/>
          <p:nvPr/>
        </p:nvSpPr>
        <p:spPr>
          <a:xfrm>
            <a:off x="548640" y="2953512"/>
            <a:ext cx="1737360" cy="749808"/>
          </a:xfrm>
          <a:prstGeom prst="roundRect">
            <a:avLst>
              <a:gd name="adj" fmla="val 9756"/>
            </a:avLst>
          </a:prstGeom>
          <a:solidFill>
            <a:srgbClr val="0B0D11"/>
          </a:solidFill>
          <a:ln w="12700">
            <a:solidFill>
              <a:schemeClr val="accent3"/>
            </a:solidFill>
            <a:prstDash val="solid"/>
          </a:ln>
        </p:spPr>
      </p:sp>
      <p:sp>
        <p:nvSpPr>
          <p:cNvPr id="10" name="text-192"/>
          <p:cNvSpPr txBox="1"/>
          <p:nvPr/>
        </p:nvSpPr>
        <p:spPr>
          <a:xfrm>
            <a:off x="548640" y="2953512"/>
            <a:ext cx="1737360" cy="749808"/>
          </a:xfrm>
          <a:prstGeom prst="rect">
            <a:avLst/>
          </a:prstGeom>
          <a:noFill/>
          <a:ln/>
        </p:spPr>
        <p:txBody>
          <a:bodyPr wrap="square" lIns="0" tIns="0" rIns="0" bIns="0" rtlCol="0" anchor="ctr"/>
          <a:lstStyle/>
          <a:p>
            <a:pPr algn="ctr" indent="0" marL="0">
              <a:buNone/>
            </a:pPr>
            <a:r>
              <a:rPr lang="en-US" sz="2000" b="1" dirty="0">
                <a:solidFill>
                  <a:schemeClr val="accent3"/>
                </a:solidFill>
                <a:latin typeface="Courier New" pitchFamily="34" charset="0"/>
                <a:ea typeface="Courier New" pitchFamily="34" charset="-122"/>
                <a:cs typeface="Courier New" pitchFamily="34" charset="-120"/>
              </a:rPr>
              <a:t>=</a:t>
            </a:r>
            <a:endParaRPr lang="en-US" sz="2000" dirty="0"/>
          </a:p>
        </p:txBody>
      </p:sp>
      <p:sp>
        <p:nvSpPr>
          <p:cNvPr id="11" name="arrow-193"/>
          <p:cNvSpPr/>
          <p:nvPr/>
        </p:nvSpPr>
        <p:spPr>
          <a:xfrm>
            <a:off x="2468880" y="3328416"/>
            <a:ext cx="731520" cy="0"/>
          </a:xfrm>
          <a:prstGeom prst="line">
            <a:avLst/>
          </a:prstGeom>
          <a:noFill/>
          <a:ln w="22225">
            <a:solidFill>
              <a:schemeClr val="tx2"/>
            </a:solidFill>
            <a:prstDash val="solid"/>
            <a:tailEnd type="triangle"/>
          </a:ln>
        </p:spPr>
      </p:sp>
      <p:sp>
        <p:nvSpPr>
          <p:cNvPr id="12" name="panel-194"/>
          <p:cNvSpPr/>
          <p:nvPr/>
        </p:nvSpPr>
        <p:spPr>
          <a:xfrm>
            <a:off x="3383280" y="2953512"/>
            <a:ext cx="8257032" cy="749808"/>
          </a:xfrm>
          <a:prstGeom prst="roundRect">
            <a:avLst>
              <a:gd name="adj" fmla="val 9756"/>
            </a:avLst>
          </a:prstGeom>
          <a:solidFill>
            <a:schemeClr val="bg2"/>
          </a:solidFill>
          <a:ln w="12700">
            <a:solidFill>
              <a:schemeClr val="accent5"/>
            </a:solidFill>
            <a:prstDash val="solid"/>
          </a:ln>
        </p:spPr>
      </p:sp>
      <p:sp>
        <p:nvSpPr>
          <p:cNvPr id="13" name="text-195"/>
          <p:cNvSpPr txBox="1"/>
          <p:nvPr/>
        </p:nvSpPr>
        <p:spPr>
          <a:xfrm>
            <a:off x="3611880" y="2953512"/>
            <a:ext cx="7863840" cy="749808"/>
          </a:xfrm>
          <a:prstGeom prst="rect">
            <a:avLst/>
          </a:prstGeom>
          <a:noFill/>
          <a:ln/>
        </p:spPr>
        <p:txBody>
          <a:bodyPr wrap="square" lIns="0" tIns="0" rIns="0" bIns="0" rtlCol="0" anchor="ctr"/>
          <a:lstStyle/>
          <a:p>
            <a:pPr indent="0" marL="0">
              <a:buNone/>
            </a:pPr>
            <a:r>
              <a:rPr lang="en-US" sz="1600" dirty="0">
                <a:solidFill>
                  <a:schemeClr val="tx1"/>
                </a:solidFill>
              </a:rPr>
              <a:t>Unexpected '='. A statement can contain only one '='.</a:t>
            </a:r>
            <a:endParaRPr lang="en-US" sz="1600" dirty="0"/>
          </a:p>
        </p:txBody>
      </p:sp>
      <p:sp>
        <p:nvSpPr>
          <p:cNvPr id="14" name="panel-196"/>
          <p:cNvSpPr/>
          <p:nvPr/>
        </p:nvSpPr>
        <p:spPr>
          <a:xfrm>
            <a:off x="548640" y="3941064"/>
            <a:ext cx="1737360" cy="749808"/>
          </a:xfrm>
          <a:prstGeom prst="roundRect">
            <a:avLst>
              <a:gd name="adj" fmla="val 9756"/>
            </a:avLst>
          </a:prstGeom>
          <a:solidFill>
            <a:srgbClr val="0B0D11"/>
          </a:solidFill>
          <a:ln w="12700">
            <a:solidFill>
              <a:schemeClr val="accent4"/>
            </a:solidFill>
            <a:prstDash val="solid"/>
          </a:ln>
        </p:spPr>
      </p:sp>
      <p:sp>
        <p:nvSpPr>
          <p:cNvPr id="15" name="text-197"/>
          <p:cNvSpPr txBox="1"/>
          <p:nvPr/>
        </p:nvSpPr>
        <p:spPr>
          <a:xfrm>
            <a:off x="548640" y="3941064"/>
            <a:ext cx="1737360" cy="749808"/>
          </a:xfrm>
          <a:prstGeom prst="rect">
            <a:avLst/>
          </a:prstGeom>
          <a:noFill/>
          <a:ln/>
        </p:spPr>
        <p:txBody>
          <a:bodyPr wrap="square" lIns="0" tIns="0" rIns="0" bIns="0" rtlCol="0" anchor="ctr"/>
          <a:lstStyle/>
          <a:p>
            <a:pPr algn="ctr" indent="0" marL="0">
              <a:buNone/>
            </a:pPr>
            <a:r>
              <a:rPr lang="en-US" sz="2000" b="1" dirty="0">
                <a:solidFill>
                  <a:schemeClr val="accent4"/>
                </a:solidFill>
                <a:latin typeface="Courier New" pitchFamily="34" charset="0"/>
                <a:ea typeface="Courier New" pitchFamily="34" charset="-122"/>
                <a:cs typeface="Courier New" pitchFamily="34" charset="-120"/>
              </a:rPr>
              <a:t>x  5  (</a:t>
            </a:r>
            <a:endParaRPr lang="en-US" sz="2000" dirty="0"/>
          </a:p>
        </p:txBody>
      </p:sp>
      <p:sp>
        <p:nvSpPr>
          <p:cNvPr id="16" name="arrow-198"/>
          <p:cNvSpPr/>
          <p:nvPr/>
        </p:nvSpPr>
        <p:spPr>
          <a:xfrm>
            <a:off x="2468880" y="4315968"/>
            <a:ext cx="731520" cy="0"/>
          </a:xfrm>
          <a:prstGeom prst="line">
            <a:avLst/>
          </a:prstGeom>
          <a:noFill/>
          <a:ln w="22225">
            <a:solidFill>
              <a:schemeClr val="tx2"/>
            </a:solidFill>
            <a:prstDash val="solid"/>
            <a:tailEnd type="triangle"/>
          </a:ln>
        </p:spPr>
      </p:sp>
      <p:sp>
        <p:nvSpPr>
          <p:cNvPr id="17" name="panel-199"/>
          <p:cNvSpPr/>
          <p:nvPr/>
        </p:nvSpPr>
        <p:spPr>
          <a:xfrm>
            <a:off x="3383280" y="3941064"/>
            <a:ext cx="8257032" cy="749808"/>
          </a:xfrm>
          <a:prstGeom prst="roundRect">
            <a:avLst>
              <a:gd name="adj" fmla="val 9756"/>
            </a:avLst>
          </a:prstGeom>
          <a:solidFill>
            <a:schemeClr val="bg2"/>
          </a:solidFill>
          <a:ln w="12700">
            <a:solidFill>
              <a:schemeClr val="accent5"/>
            </a:solidFill>
            <a:prstDash val="solid"/>
          </a:ln>
        </p:spPr>
      </p:sp>
      <p:sp>
        <p:nvSpPr>
          <p:cNvPr id="18" name="text-200"/>
          <p:cNvSpPr txBox="1"/>
          <p:nvPr/>
        </p:nvSpPr>
        <p:spPr>
          <a:xfrm>
            <a:off x="3611880" y="3941064"/>
            <a:ext cx="7863840" cy="749808"/>
          </a:xfrm>
          <a:prstGeom prst="rect">
            <a:avLst/>
          </a:prstGeom>
          <a:noFill/>
          <a:ln/>
        </p:spPr>
        <p:txBody>
          <a:bodyPr wrap="square" lIns="0" tIns="0" rIns="0" bIns="0" rtlCol="0" anchor="ctr"/>
          <a:lstStyle/>
          <a:p>
            <a:pPr indent="0" marL="0">
              <a:buNone/>
            </a:pPr>
            <a:r>
              <a:rPr lang="en-US" sz="1600" dirty="0">
                <a:solidFill>
                  <a:schemeClr val="tx1"/>
                </a:solidFill>
              </a:rPr>
              <a:t>Same line → Missing operator between the two values.</a:t>
            </a:r>
            <a:endParaRPr lang="en-US" sz="1600" dirty="0"/>
          </a:p>
        </p:txBody>
      </p:sp>
      <p:sp>
        <p:nvSpPr>
          <p:cNvPr id="19" name="panel-201"/>
          <p:cNvSpPr/>
          <p:nvPr/>
        </p:nvSpPr>
        <p:spPr>
          <a:xfrm>
            <a:off x="548640" y="4928616"/>
            <a:ext cx="1737360" cy="749808"/>
          </a:xfrm>
          <a:prstGeom prst="roundRect">
            <a:avLst>
              <a:gd name="adj" fmla="val 9756"/>
            </a:avLst>
          </a:prstGeom>
          <a:solidFill>
            <a:srgbClr val="0B0D11"/>
          </a:solidFill>
          <a:ln w="12700">
            <a:solidFill>
              <a:schemeClr val="accent2"/>
            </a:solidFill>
            <a:prstDash val="solid"/>
          </a:ln>
        </p:spPr>
      </p:sp>
      <p:sp>
        <p:nvSpPr>
          <p:cNvPr id="20" name="text-202"/>
          <p:cNvSpPr txBox="1"/>
          <p:nvPr/>
        </p:nvSpPr>
        <p:spPr>
          <a:xfrm>
            <a:off x="548640" y="4928616"/>
            <a:ext cx="1737360" cy="749808"/>
          </a:xfrm>
          <a:prstGeom prst="rect">
            <a:avLst/>
          </a:prstGeom>
          <a:noFill/>
          <a:ln/>
        </p:spPr>
        <p:txBody>
          <a:bodyPr wrap="square" lIns="0" tIns="0" rIns="0" bIns="0" rtlCol="0" anchor="ctr"/>
          <a:lstStyle/>
          <a:p>
            <a:pPr algn="ctr" indent="0" marL="0">
              <a:buNone/>
            </a:pPr>
            <a:r>
              <a:rPr lang="en-US" sz="2000" b="1" dirty="0">
                <a:solidFill>
                  <a:schemeClr val="accent2"/>
                </a:solidFill>
                <a:latin typeface="Courier New" pitchFamily="34" charset="0"/>
                <a:ea typeface="Courier New" pitchFamily="34" charset="-122"/>
                <a:cs typeface="Courier New" pitchFamily="34" charset="-120"/>
              </a:rPr>
              <a:t>other</a:t>
            </a:r>
            <a:endParaRPr lang="en-US" sz="2000" dirty="0"/>
          </a:p>
        </p:txBody>
      </p:sp>
      <p:sp>
        <p:nvSpPr>
          <p:cNvPr id="21" name="arrow-203"/>
          <p:cNvSpPr/>
          <p:nvPr/>
        </p:nvSpPr>
        <p:spPr>
          <a:xfrm>
            <a:off x="2468880" y="5303520"/>
            <a:ext cx="731520" cy="0"/>
          </a:xfrm>
          <a:prstGeom prst="line">
            <a:avLst/>
          </a:prstGeom>
          <a:noFill/>
          <a:ln w="22225">
            <a:solidFill>
              <a:schemeClr val="tx2"/>
            </a:solidFill>
            <a:prstDash val="solid"/>
            <a:tailEnd type="triangle"/>
          </a:ln>
        </p:spPr>
      </p:sp>
      <p:sp>
        <p:nvSpPr>
          <p:cNvPr id="22" name="panel-204"/>
          <p:cNvSpPr/>
          <p:nvPr/>
        </p:nvSpPr>
        <p:spPr>
          <a:xfrm>
            <a:off x="3383280" y="4928616"/>
            <a:ext cx="8257032" cy="749808"/>
          </a:xfrm>
          <a:prstGeom prst="roundRect">
            <a:avLst>
              <a:gd name="adj" fmla="val 9756"/>
            </a:avLst>
          </a:prstGeom>
          <a:solidFill>
            <a:schemeClr val="bg2"/>
          </a:solidFill>
          <a:ln w="12700">
            <a:solidFill>
              <a:schemeClr val="accent5"/>
            </a:solidFill>
            <a:prstDash val="solid"/>
          </a:ln>
        </p:spPr>
      </p:sp>
      <p:sp>
        <p:nvSpPr>
          <p:cNvPr id="23" name="text-205"/>
          <p:cNvSpPr txBox="1"/>
          <p:nvPr/>
        </p:nvSpPr>
        <p:spPr>
          <a:xfrm>
            <a:off x="3611880" y="4928616"/>
            <a:ext cx="7863840" cy="749808"/>
          </a:xfrm>
          <a:prstGeom prst="rect">
            <a:avLst/>
          </a:prstGeom>
          <a:noFill/>
          <a:ln/>
        </p:spPr>
        <p:txBody>
          <a:bodyPr wrap="square" lIns="0" tIns="0" rIns="0" bIns="0" rtlCol="0" anchor="ctr"/>
          <a:lstStyle/>
          <a:p>
            <a:pPr indent="0" marL="0">
              <a:buNone/>
            </a:pPr>
            <a:r>
              <a:rPr lang="en-US" sz="1600" dirty="0">
                <a:solidFill>
                  <a:schemeClr val="tx1"/>
                </a:solidFill>
              </a:rPr>
              <a:t>Expected ';' — reported on the line of the previous token.</a:t>
            </a:r>
            <a:endParaRPr lang="en-US" sz="1600" dirty="0"/>
          </a:p>
        </p:txBody>
      </p:sp>
      <p:sp>
        <p:nvSpPr>
          <p:cNvPr id="24" name="text-206"/>
          <p:cNvSpPr txBox="1"/>
          <p:nvPr/>
        </p:nvSpPr>
        <p:spPr>
          <a:xfrm>
            <a:off x="548640" y="5897880"/>
            <a:ext cx="11094415" cy="365760"/>
          </a:xfrm>
          <a:prstGeom prst="rect">
            <a:avLst/>
          </a:prstGeom>
          <a:noFill/>
          <a:ln/>
        </p:spPr>
        <p:txBody>
          <a:bodyPr wrap="square" lIns="0" tIns="0" rIns="0" bIns="0" rtlCol="0" anchor="t"/>
          <a:lstStyle/>
          <a:p>
            <a:pPr indent="0" marL="0">
              <a:buNone/>
            </a:pPr>
            <a:r>
              <a:rPr lang="en-US" sz="1300" dirty="0">
                <a:solidFill>
                  <a:schemeClr val="tx2"/>
                </a:solidFill>
              </a:rPr>
              <a:t>The last rule is why a missing ';' on line 2 is reported on line 2, not on the line where the parser noticed it.</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Typo hints use edit distance</a:t>
            </a:r>
            <a:endParaRPr lang="en-US" sz="3200" dirty="0"/>
          </a:p>
        </p:txBody>
      </p:sp>
      <p:sp>
        <p:nvSpPr>
          <p:cNvPr id="3" name="panel-207"/>
          <p:cNvSpPr/>
          <p:nvPr/>
        </p:nvSpPr>
        <p:spPr>
          <a:xfrm>
            <a:off x="548640" y="1371600"/>
            <a:ext cx="4206240" cy="1463040"/>
          </a:xfrm>
          <a:prstGeom prst="roundRect">
            <a:avLst>
              <a:gd name="adj" fmla="val 5000"/>
            </a:avLst>
          </a:prstGeom>
          <a:solidFill>
            <a:srgbClr val="0B0D11"/>
          </a:solidFill>
          <a:ln w="12700">
            <a:solidFill>
              <a:schemeClr val="accent5"/>
            </a:solidFill>
            <a:prstDash val="solid"/>
          </a:ln>
        </p:spPr>
      </p:sp>
      <p:sp>
        <p:nvSpPr>
          <p:cNvPr id="4" name="text-208"/>
          <p:cNvSpPr txBox="1"/>
          <p:nvPr/>
        </p:nvSpPr>
        <p:spPr>
          <a:xfrm>
            <a:off x="777240" y="1554480"/>
            <a:ext cx="3749040" cy="1097280"/>
          </a:xfrm>
          <a:prstGeom prst="rect">
            <a:avLst/>
          </a:prstGeom>
          <a:noFill/>
          <a:ln/>
        </p:spPr>
        <p:txBody>
          <a:bodyPr wrap="square" lIns="0" tIns="0" rIns="0" bIns="0" rtlCol="0" anchor="t"/>
          <a:lstStyle/>
          <a:p>
            <a:pPr indent="0" marL="0">
              <a:spcAft>
                <a:spcPts val="300"/>
              </a:spcAft>
              <a:buNone/>
            </a:pPr>
            <a:r>
              <a:rPr lang="en-US" sz="1600" dirty="0">
                <a:solidFill>
                  <a:schemeClr val="accent1"/>
                </a:solidFill>
                <a:latin typeface="Courier New" pitchFamily="34" charset="0"/>
                <a:ea typeface="Courier New" pitchFamily="34" charset="-122"/>
                <a:cs typeface="Courier New" pitchFamily="34" charset="-120"/>
              </a:rPr>
              <a:t>scroe</a:t>
            </a:r>
            <a:pPr indent="0" marL="0">
              <a:spcAft>
                <a:spcPts val="300"/>
              </a:spcAft>
              <a:buNone/>
            </a:pPr>
            <a:r>
              <a:rPr lang="en-US" sz="1600" dirty="0">
                <a:solidFill>
                  <a:schemeClr val="tx1"/>
                </a:solidFill>
                <a:latin typeface="Courier New" pitchFamily="34" charset="0"/>
                <a:ea typeface="Courier New" pitchFamily="34" charset="-122"/>
                <a:cs typeface="Courier New" pitchFamily="34" charset="-120"/>
              </a:rPr>
              <a:t> → score   2 edits</a:t>
            </a:r>
            <a:endParaRPr lang="en-US" sz="1600" dirty="0"/>
          </a:p>
          <a:p>
            <a:pPr indent="0" marL="0">
              <a:spcAft>
                <a:spcPts val="300"/>
              </a:spcAft>
              <a:buNone/>
            </a:pPr>
            <a:r>
              <a:rPr lang="en-US" sz="1600" dirty="0">
                <a:solidFill>
                  <a:schemeClr val="accent1"/>
                </a:solidFill>
                <a:latin typeface="Courier New" pitchFamily="34" charset="0"/>
                <a:ea typeface="Courier New" pitchFamily="34" charset="-122"/>
                <a:cs typeface="Courier New" pitchFamily="34" charset="-120"/>
              </a:rPr>
              <a:t>prnt </a:t>
            </a:r>
            <a:pPr indent="0" marL="0">
              <a:spcAft>
                <a:spcPts val="300"/>
              </a:spcAft>
              <a:buNone/>
            </a:pPr>
            <a:r>
              <a:rPr lang="en-US" sz="1600" dirty="0">
                <a:solidFill>
                  <a:schemeClr val="tx1"/>
                </a:solidFill>
                <a:latin typeface="Courier New" pitchFamily="34" charset="0"/>
                <a:ea typeface="Courier New" pitchFamily="34" charset="-122"/>
                <a:cs typeface="Courier New" pitchFamily="34" charset="-120"/>
              </a:rPr>
              <a:t> → print   1 edit</a:t>
            </a:r>
            <a:endParaRPr lang="en-US" sz="1600" dirty="0"/>
          </a:p>
          <a:p>
            <a:pPr indent="0" marL="0">
              <a:spcAft>
                <a:spcPts val="300"/>
              </a:spcAft>
              <a:buNone/>
            </a:pPr>
            <a:r>
              <a:rPr lang="en-US" sz="1600" dirty="0">
                <a:solidFill>
                  <a:schemeClr val="accent1"/>
                </a:solidFill>
                <a:latin typeface="Courier New" pitchFamily="34" charset="0"/>
                <a:ea typeface="Courier New" pitchFamily="34" charset="-122"/>
                <a:cs typeface="Courier New" pitchFamily="34" charset="-120"/>
              </a:rPr>
              <a:t>mx   </a:t>
            </a:r>
            <a:pPr indent="0" marL="0">
              <a:spcAft>
                <a:spcPts val="300"/>
              </a:spcAft>
              <a:buNone/>
            </a:pPr>
            <a:r>
              <a:rPr lang="en-US" sz="1600" dirty="0">
                <a:solidFill>
                  <a:schemeClr val="tx1"/>
                </a:solidFill>
                <a:latin typeface="Courier New" pitchFamily="34" charset="0"/>
                <a:ea typeface="Courier New" pitchFamily="34" charset="-122"/>
                <a:cs typeface="Courier New" pitchFamily="34" charset="-120"/>
              </a:rPr>
              <a:t> → max     1 edit</a:t>
            </a:r>
            <a:endParaRPr lang="en-US" sz="1600" dirty="0"/>
          </a:p>
        </p:txBody>
      </p:sp>
      <p:sp>
        <p:nvSpPr>
          <p:cNvPr id="5" name="text-209"/>
          <p:cNvSpPr txBox="1"/>
          <p:nvPr/>
        </p:nvSpPr>
        <p:spPr>
          <a:xfrm>
            <a:off x="548640" y="3108960"/>
            <a:ext cx="4206240" cy="1280160"/>
          </a:xfrm>
          <a:prstGeom prst="rect">
            <a:avLst/>
          </a:prstGeom>
          <a:noFill/>
          <a:ln/>
        </p:spPr>
        <p:txBody>
          <a:bodyPr wrap="square" lIns="0" tIns="0" rIns="0" bIns="0" rtlCol="0" anchor="t"/>
          <a:lstStyle/>
          <a:p>
            <a:pPr indent="0" marL="0">
              <a:buNone/>
            </a:pPr>
            <a:r>
              <a:rPr lang="en-US" sz="1500" b="1" dirty="0">
                <a:solidFill>
                  <a:schemeClr val="accent2"/>
                </a:solidFill>
              </a:rPr>
              <a:t>Shipped rule</a:t>
            </a:r>
            <a:endParaRPr lang="en-US" sz="1500" dirty="0"/>
          </a:p>
          <a:p>
            <a:pPr indent="0" marL="0">
              <a:buNone/>
            </a:pPr>
            <a:r>
              <a:rPr lang="en-US" sz="1500" dirty="0">
                <a:solidFill>
                  <a:schemeClr val="tx1"/>
                </a:solidFill>
              </a:rPr>
              <a:t>Allow 1 edit for names of up to 3 letters, 2 for longer names, and never suggest the word itself.</a:t>
            </a:r>
            <a:endParaRPr lang="en-US" sz="1500" dirty="0"/>
          </a:p>
        </p:txBody>
      </p:sp>
      <p:sp>
        <p:nvSpPr>
          <p:cNvPr id="6" name="text-210"/>
          <p:cNvSpPr txBox="1"/>
          <p:nvPr/>
        </p:nvSpPr>
        <p:spPr>
          <a:xfrm>
            <a:off x="548640" y="4572000"/>
            <a:ext cx="4206240" cy="1097280"/>
          </a:xfrm>
          <a:prstGeom prst="rect">
            <a:avLst/>
          </a:prstGeom>
          <a:noFill/>
          <a:ln/>
        </p:spPr>
        <p:txBody>
          <a:bodyPr wrap="square" lIns="0" tIns="0" rIns="0" bIns="0" rtlCol="0" anchor="t"/>
          <a:lstStyle/>
          <a:p>
            <a:pPr indent="0" marL="0">
              <a:buNone/>
            </a:pPr>
            <a:r>
              <a:rPr lang="en-US" sz="1300" dirty="0">
                <a:solidFill>
                  <a:schemeClr val="tx2"/>
                </a:solidFill>
              </a:rPr>
              <a:t>Levenshtein distance in a single rolling row (parser.cpp, editDistance). Measured on 23 typo cases from case_study/corpus.py.</a:t>
            </a:r>
            <a:endParaRPr lang="en-US" sz="1300" dirty="0"/>
          </a:p>
        </p:txBody>
      </p:sp>
      <p:graphicFrame>
        <p:nvGraphicFramePr>
          <p:cNvPr id="7" name="chart-211" descr=""/>
          <p:cNvGraphicFramePr/>
          <p:nvPr/>
        </p:nvGraphicFramePr>
        <p:xfrm>
          <a:off x="5120640" y="1280160"/>
          <a:ext cx="6519672" cy="48463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Case study: the line where the fix belongs</a:t>
            </a:r>
            <a:endParaRPr lang="en-US" sz="3200" dirty="0"/>
          </a:p>
        </p:txBody>
      </p:sp>
      <p:graphicFrame>
        <p:nvGraphicFramePr>
          <p:cNvPr id="3" name="chart-212" descr=""/>
          <p:cNvGraphicFramePr/>
          <p:nvPr/>
        </p:nvGraphicFramePr>
        <p:xfrm>
          <a:off x="548640" y="128016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4" name="text-213"/>
          <p:cNvSpPr txBox="1"/>
          <p:nvPr/>
        </p:nvSpPr>
        <p:spPr>
          <a:xfrm>
            <a:off x="7772400" y="1371600"/>
            <a:ext cx="3840480" cy="77724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24 / 24</a:t>
            </a:r>
            <a:endParaRPr lang="en-US" sz="4800" dirty="0"/>
          </a:p>
        </p:txBody>
      </p:sp>
      <p:sp>
        <p:nvSpPr>
          <p:cNvPr id="5" name="text-214"/>
          <p:cNvSpPr txBox="1"/>
          <p:nvPr/>
        </p:nvSpPr>
        <p:spPr>
          <a:xfrm>
            <a:off x="7772400" y="2194560"/>
            <a:ext cx="3840480" cy="548640"/>
          </a:xfrm>
          <a:prstGeom prst="rect">
            <a:avLst/>
          </a:prstGeom>
          <a:noFill/>
          <a:ln/>
        </p:spPr>
        <p:txBody>
          <a:bodyPr wrap="square" lIns="0" tIns="0" rIns="0" bIns="0" rtlCol="0" anchor="t"/>
          <a:lstStyle/>
          <a:p>
            <a:pPr indent="0" marL="0">
              <a:buNone/>
            </a:pPr>
            <a:r>
              <a:rPr lang="en-US" sz="1400" dirty="0">
                <a:solidFill>
                  <a:schemeClr val="tx2"/>
                </a:solidFill>
              </a:rPr>
              <a:t>mistakes caught by ErrorBuddy (gcc: 23)</a:t>
            </a:r>
            <a:endParaRPr lang="en-US" sz="1400" dirty="0"/>
          </a:p>
        </p:txBody>
      </p:sp>
      <p:sp>
        <p:nvSpPr>
          <p:cNvPr id="6" name="text-215"/>
          <p:cNvSpPr txBox="1"/>
          <p:nvPr/>
        </p:nvSpPr>
        <p:spPr>
          <a:xfrm>
            <a:off x="7772400" y="2971800"/>
            <a:ext cx="3840480" cy="77724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0</a:t>
            </a:r>
            <a:endParaRPr lang="en-US" sz="4800" dirty="0"/>
          </a:p>
        </p:txBody>
      </p:sp>
      <p:sp>
        <p:nvSpPr>
          <p:cNvPr id="7" name="text-216"/>
          <p:cNvSpPr txBox="1"/>
          <p:nvPr/>
        </p:nvSpPr>
        <p:spPr>
          <a:xfrm>
            <a:off x="7772400" y="3794760"/>
            <a:ext cx="3840480" cy="548640"/>
          </a:xfrm>
          <a:prstGeom prst="rect">
            <a:avLst/>
          </a:prstGeom>
          <a:noFill/>
          <a:ln/>
        </p:spPr>
        <p:txBody>
          <a:bodyPr wrap="square" lIns="0" tIns="0" rIns="0" bIns="0" rtlCol="0" anchor="t"/>
          <a:lstStyle/>
          <a:p>
            <a:pPr indent="0" marL="0">
              <a:buNone/>
            </a:pPr>
            <a:r>
              <a:rPr lang="en-US" sz="1400" dirty="0">
                <a:solidFill>
                  <a:schemeClr val="tx2"/>
                </a:solidFill>
              </a:rPr>
              <a:t>reports later than the fix line (gcc: 3)</a:t>
            </a:r>
            <a:endParaRPr lang="en-US" sz="1400" dirty="0"/>
          </a:p>
        </p:txBody>
      </p:sp>
      <p:sp>
        <p:nvSpPr>
          <p:cNvPr id="8" name="text-217"/>
          <p:cNvSpPr txBox="1"/>
          <p:nvPr/>
        </p:nvSpPr>
        <p:spPr>
          <a:xfrm>
            <a:off x="7772400" y="4572000"/>
            <a:ext cx="3840480" cy="777240"/>
          </a:xfrm>
          <a:prstGeom prst="rect">
            <a:avLst/>
          </a:prstGeom>
          <a:noFill/>
          <a:ln/>
        </p:spPr>
        <p:txBody>
          <a:bodyPr wrap="square" lIns="0" tIns="0" rIns="0" bIns="0" rtlCol="0" anchor="t"/>
          <a:lstStyle/>
          <a:p>
            <a:pPr indent="0" marL="0">
              <a:buNone/>
            </a:pPr>
            <a:r>
              <a:rPr lang="en-US" sz="4800" b="1" dirty="0">
                <a:solidFill>
                  <a:schemeClr val="accent3"/>
                </a:solidFill>
                <a:latin typeface="Cambria" pitchFamily="34" charset="0"/>
                <a:ea typeface="Cambria" pitchFamily="34" charset="-122"/>
                <a:cs typeface="Cambria" pitchFamily="34" charset="-120"/>
              </a:rPr>
              <a:t>3</a:t>
            </a:r>
            <a:endParaRPr lang="en-US" sz="4800" dirty="0"/>
          </a:p>
        </p:txBody>
      </p:sp>
      <p:sp>
        <p:nvSpPr>
          <p:cNvPr id="9" name="text-218"/>
          <p:cNvSpPr txBox="1"/>
          <p:nvPr/>
        </p:nvSpPr>
        <p:spPr>
          <a:xfrm>
            <a:off x="7772400" y="5394960"/>
            <a:ext cx="3840480" cy="548640"/>
          </a:xfrm>
          <a:prstGeom prst="rect">
            <a:avLst/>
          </a:prstGeom>
          <a:noFill/>
          <a:ln/>
        </p:spPr>
        <p:txBody>
          <a:bodyPr wrap="square" lIns="0" tIns="0" rIns="0" bIns="0" rtlCol="0" anchor="t"/>
          <a:lstStyle/>
          <a:p>
            <a:pPr indent="0" marL="0">
              <a:buNone/>
            </a:pPr>
            <a:r>
              <a:rPr lang="en-US" sz="1400" dirty="0">
                <a:solidFill>
                  <a:schemeClr val="tx2"/>
                </a:solidFill>
              </a:rPr>
              <a:t>late cases were all a missing ';'</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Seeing it work: the web playground</a:t>
            </a:r>
            <a:endParaRPr lang="en-US" sz="3200" dirty="0"/>
          </a:p>
        </p:txBody>
      </p:sp>
      <p:pic>
        <p:nvPicPr>
          <p:cNvPr id="3" name="Image 0" descr="ErrorBuddy web playground showing a missing-semicolon error on line 2 with the suggestion and the phase strip">    </p:cNvPr>
          <p:cNvPicPr>
            <a:picLocks noChangeAspect="1"/>
          </p:cNvPicPr>
          <p:nvPr/>
        </p:nvPicPr>
        <p:blipFill>
          <a:blip r:embed="rId1"/>
          <a:stretch>
            <a:fillRect/>
          </a:stretch>
        </p:blipFill>
        <p:spPr>
          <a:xfrm>
            <a:off x="548640" y="1325880"/>
            <a:ext cx="7498080" cy="4478020"/>
          </a:xfrm>
          <a:prstGeom prst="rect">
            <a:avLst/>
          </a:prstGeom>
        </p:spPr>
      </p:pic>
      <p:sp>
        <p:nvSpPr>
          <p:cNvPr id="4" name="text-219"/>
          <p:cNvSpPr txBox="1"/>
          <p:nvPr/>
        </p:nvSpPr>
        <p:spPr>
          <a:xfrm>
            <a:off x="8366760" y="1371600"/>
            <a:ext cx="3273552" cy="45720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make web → http://localhost:8795</a:t>
            </a:r>
            <a:endParaRPr lang="en-US" sz="1500" dirty="0"/>
          </a:p>
          <a:p>
            <a:pPr marL="342900" indent="-342900">
              <a:spcAft>
                <a:spcPts val="1000"/>
              </a:spcAft>
              <a:buSzPct val="100000"/>
              <a:buChar char="•"/>
            </a:pPr>
            <a:r>
              <a:rPr lang="en-US" sz="1500" dirty="0">
                <a:solidFill>
                  <a:schemeClr val="tx1"/>
                </a:solidFill>
              </a:rPr>
              <a:t>web/server.py: Python standard library only</a:t>
            </a:r>
            <a:endParaRPr lang="en-US" sz="1500" dirty="0"/>
          </a:p>
          <a:p>
            <a:pPr marL="342900" indent="-342900">
              <a:spcAft>
                <a:spcPts val="1000"/>
              </a:spcAft>
              <a:buSzPct val="100000"/>
              <a:buChar char="•"/>
            </a:pPr>
            <a:r>
              <a:rPr lang="en-US" sz="1500" dirty="0">
                <a:solidFill>
                  <a:schemeClr val="tx1"/>
                </a:solidFill>
              </a:rPr>
              <a:t>POST /api/compile runs the real ./errorbuddy --tokens</a:t>
            </a:r>
            <a:endParaRPr lang="en-US" sz="1500" dirty="0"/>
          </a:p>
          <a:p>
            <a:pPr marL="342900" indent="-342900">
              <a:spcAft>
                <a:spcPts val="1000"/>
              </a:spcAft>
              <a:buSzPct val="100000"/>
              <a:buChar char="•"/>
            </a:pPr>
            <a:r>
              <a:rPr lang="en-US" sz="1500" dirty="0">
                <a:solidFill>
                  <a:schemeClr val="tx1"/>
                </a:solidFill>
              </a:rPr>
              <a:t>Parses its output into JSON: tokens, error, TAC, symbols</a:t>
            </a:r>
            <a:endParaRPr lang="en-US" sz="1500" dirty="0"/>
          </a:p>
          <a:p>
            <a:pPr marL="342900" indent="-342900">
              <a:spcAft>
                <a:spcPts val="1000"/>
              </a:spcAft>
              <a:buSzPct val="100000"/>
              <a:buChar char="•"/>
            </a:pPr>
            <a:r>
              <a:rPr lang="en-US" sz="1500" dirty="0">
                <a:solidFill>
                  <a:schemeClr val="tx1"/>
                </a:solidFill>
              </a:rPr>
              <a:t>Editor highlights the error line; phase strip shows where it stopped</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Built and tested today, and what comes next</a:t>
            </a:r>
            <a:endParaRPr lang="en-US" sz="3200" dirty="0"/>
          </a:p>
        </p:txBody>
      </p:sp>
      <p:sp>
        <p:nvSpPr>
          <p:cNvPr id="3" name="text-220"/>
          <p:cNvSpPr txBox="1"/>
          <p:nvPr/>
        </p:nvSpPr>
        <p:spPr>
          <a:xfrm>
            <a:off x="548640" y="5806440"/>
            <a:ext cx="11094415" cy="365760"/>
          </a:xfrm>
          <a:prstGeom prst="rect">
            <a:avLst/>
          </a:prstGeom>
          <a:noFill/>
          <a:ln/>
        </p:spPr>
        <p:txBody>
          <a:bodyPr wrap="square" lIns="0" tIns="0" rIns="0" bIns="0" rtlCol="0" anchor="t"/>
          <a:lstStyle/>
          <a:p>
            <a:pPr indent="0" marL="0">
              <a:buNone/>
            </a:pPr>
            <a:r>
              <a:rPr lang="en-US" sz="1300" dirty="0">
                <a:solidFill>
                  <a:schemeClr val="tx2"/>
                </a:solidFill>
              </a:rPr>
              <a:t>Kept small on purpose so every phase is complete. The right column is planned, not built.</a:t>
            </a:r>
            <a:endParaRPr lang="en-US" sz="1300" dirty="0"/>
          </a:p>
        </p:txBody>
      </p:sp>
      <p:sp>
        <p:nvSpPr>
          <p:cNvPr id="4" name="panel-221"/>
          <p:cNvSpPr/>
          <p:nvPr/>
        </p:nvSpPr>
        <p:spPr>
          <a:xfrm>
            <a:off x="548640" y="1371600"/>
            <a:ext cx="4206240" cy="4206240"/>
          </a:xfrm>
          <a:prstGeom prst="roundRect">
            <a:avLst>
              <a:gd name="adj" fmla="val 1739"/>
            </a:avLst>
          </a:prstGeom>
          <a:solidFill>
            <a:schemeClr val="bg2"/>
          </a:solidFill>
          <a:ln w="12700">
            <a:solidFill>
              <a:schemeClr val="accent5"/>
            </a:solidFill>
            <a:prstDash val="solid"/>
          </a:ln>
        </p:spPr>
      </p:sp>
      <p:sp>
        <p:nvSpPr>
          <p:cNvPr id="5" name="text-222"/>
          <p:cNvSpPr txBox="1"/>
          <p:nvPr/>
        </p:nvSpPr>
        <p:spPr>
          <a:xfrm>
            <a:off x="822960" y="1554480"/>
            <a:ext cx="3657600" cy="274320"/>
          </a:xfrm>
          <a:prstGeom prst="rect">
            <a:avLst/>
          </a:prstGeom>
          <a:noFill/>
          <a:ln/>
        </p:spPr>
        <p:txBody>
          <a:bodyPr wrap="square" lIns="0" tIns="0" rIns="0" bIns="0" rtlCol="0" anchor="t"/>
          <a:lstStyle/>
          <a:p>
            <a:pPr indent="0" marL="0">
              <a:buNone/>
            </a:pPr>
            <a:r>
              <a:rPr lang="en-US" sz="1100" spc="100" kern="0" dirty="0">
                <a:solidFill>
                  <a:schemeClr val="accent2"/>
                </a:solidFill>
                <a:latin typeface="Courier New" pitchFamily="34" charset="0"/>
                <a:ea typeface="Courier New" pitchFamily="34" charset="-122"/>
                <a:cs typeface="Courier New" pitchFamily="34" charset="-120"/>
              </a:rPr>
              <a:t>BUILT</a:t>
            </a:r>
            <a:endParaRPr lang="en-US" sz="1100" dirty="0"/>
          </a:p>
        </p:txBody>
      </p:sp>
      <p:sp>
        <p:nvSpPr>
          <p:cNvPr id="6" name="text-223"/>
          <p:cNvSpPr txBox="1"/>
          <p:nvPr/>
        </p:nvSpPr>
        <p:spPr>
          <a:xfrm>
            <a:off x="822960" y="1965960"/>
            <a:ext cx="3657600" cy="3474720"/>
          </a:xfrm>
          <a:prstGeom prst="rect">
            <a:avLst/>
          </a:prstGeom>
          <a:noFill/>
          <a:ln/>
        </p:spPr>
        <p:txBody>
          <a:bodyPr wrap="square" lIns="0" tIns="0" rIns="0" bIns="0" rtlCol="0" anchor="t"/>
          <a:lstStyle/>
          <a:p>
            <a:pPr marL="342900" indent="-342900">
              <a:spcAft>
                <a:spcPts val="900"/>
              </a:spcAft>
              <a:buSzPct val="100000"/>
              <a:buChar char="•"/>
            </a:pPr>
            <a:r>
              <a:rPr lang="en-US" sz="1700" dirty="0">
                <a:solidFill>
                  <a:schemeClr val="tx1"/>
                </a:solidFill>
              </a:rPr>
              <a:t>int variables with a required starting value</a:t>
            </a:r>
            <a:endParaRPr lang="en-US" sz="1700" dirty="0"/>
          </a:p>
          <a:p>
            <a:pPr marL="342900" indent="-342900">
              <a:spcAft>
                <a:spcPts val="900"/>
              </a:spcAft>
              <a:buSzPct val="100000"/>
              <a:buChar char="•"/>
            </a:pPr>
            <a:r>
              <a:rPr lang="en-US" sz="1700" dirty="0">
                <a:solidFill>
                  <a:schemeClr val="tx1"/>
                </a:solidFill>
              </a:rPr>
              <a:t>+ - * / with precedence and parentheses</a:t>
            </a:r>
            <a:endParaRPr lang="en-US" sz="1700" dirty="0"/>
          </a:p>
          <a:p>
            <a:pPr marL="342900" indent="-342900">
              <a:spcAft>
                <a:spcPts val="900"/>
              </a:spcAft>
              <a:buSzPct val="100000"/>
              <a:buChar char="•"/>
            </a:pPr>
            <a:r>
              <a:rPr lang="en-US" sz="1700" dirty="0">
                <a:solidFill>
                  <a:schemeClr val="tx1"/>
                </a:solidFill>
              </a:rPr>
              <a:t>print any expression; // comments</a:t>
            </a:r>
            <a:endParaRPr lang="en-US" sz="1700" dirty="0"/>
          </a:p>
          <a:p>
            <a:pPr marL="342900" indent="-342900">
              <a:spcAft>
                <a:spcPts val="900"/>
              </a:spcAft>
              <a:buSzPct val="100000"/>
              <a:buChar char="•"/>
            </a:pPr>
            <a:r>
              <a:rPr lang="en-US" sz="1700" dirty="0">
                <a:solidFill>
                  <a:schemeClr val="tx1"/>
                </a:solidFill>
              </a:rPr>
              <a:t>TAC, symbol table, phase summary</a:t>
            </a:r>
            <a:endParaRPr lang="en-US" sz="1700" dirty="0"/>
          </a:p>
          <a:p>
            <a:pPr marL="342900" indent="-342900">
              <a:spcAft>
                <a:spcPts val="900"/>
              </a:spcAft>
              <a:buSzPct val="100000"/>
              <a:buChar char="•"/>
            </a:pPr>
            <a:r>
              <a:rPr lang="en-US" sz="1700" dirty="0">
                <a:solidFill>
                  <a:schemeClr val="tx1"/>
                </a:solidFill>
              </a:rPr>
              <a:t>Stops at the first error</a:t>
            </a:r>
            <a:endParaRPr lang="en-US" sz="1700" dirty="0"/>
          </a:p>
          <a:p>
            <a:pPr marL="342900" indent="-342900">
              <a:spcAft>
                <a:spcPts val="900"/>
              </a:spcAft>
              <a:buSzPct val="100000"/>
              <a:buChar char="•"/>
            </a:pPr>
            <a:r>
              <a:rPr lang="en-US" sz="1700" dirty="0">
                <a:solidFill>
                  <a:schemeClr val="tx1"/>
                </a:solidFill>
              </a:rPr>
              <a:t>Web playground</a:t>
            </a:r>
            <a:endParaRPr lang="en-US" sz="1700" dirty="0"/>
          </a:p>
        </p:txBody>
      </p:sp>
      <p:sp>
        <p:nvSpPr>
          <p:cNvPr id="7" name="panel-224"/>
          <p:cNvSpPr/>
          <p:nvPr/>
        </p:nvSpPr>
        <p:spPr>
          <a:xfrm>
            <a:off x="4983480" y="1371600"/>
            <a:ext cx="2377440" cy="4206240"/>
          </a:xfrm>
          <a:prstGeom prst="roundRect">
            <a:avLst>
              <a:gd name="adj" fmla="val 3077"/>
            </a:avLst>
          </a:prstGeom>
          <a:solidFill>
            <a:srgbClr val="13261D"/>
          </a:solidFill>
          <a:ln w="12700">
            <a:solidFill>
              <a:schemeClr val="accent2"/>
            </a:solidFill>
            <a:prstDash val="solid"/>
          </a:ln>
        </p:spPr>
      </p:sp>
      <p:sp>
        <p:nvSpPr>
          <p:cNvPr id="8" name="text-225"/>
          <p:cNvSpPr txBox="1"/>
          <p:nvPr/>
        </p:nvSpPr>
        <p:spPr>
          <a:xfrm>
            <a:off x="4983480" y="2377440"/>
            <a:ext cx="2377440" cy="914400"/>
          </a:xfrm>
          <a:prstGeom prst="rect">
            <a:avLst/>
          </a:prstGeom>
          <a:noFill/>
          <a:ln/>
        </p:spPr>
        <p:txBody>
          <a:bodyPr wrap="square" lIns="0" tIns="0" rIns="0" bIns="0" rtlCol="0" anchor="t"/>
          <a:lstStyle/>
          <a:p>
            <a:pPr algn="ctr" indent="0" marL="0">
              <a:buNone/>
            </a:pPr>
            <a:r>
              <a:rPr lang="en-US" sz="4400" b="1" dirty="0">
                <a:solidFill>
                  <a:schemeClr val="accent2"/>
                </a:solidFill>
                <a:latin typeface="Cambria" pitchFamily="34" charset="0"/>
                <a:ea typeface="Cambria" pitchFamily="34" charset="-122"/>
                <a:cs typeface="Cambria" pitchFamily="34" charset="-120"/>
              </a:rPr>
              <a:t>10 / 10</a:t>
            </a:r>
            <a:endParaRPr lang="en-US" sz="4400" dirty="0"/>
          </a:p>
        </p:txBody>
      </p:sp>
      <p:sp>
        <p:nvSpPr>
          <p:cNvPr id="9" name="text-226"/>
          <p:cNvSpPr txBox="1"/>
          <p:nvPr/>
        </p:nvSpPr>
        <p:spPr>
          <a:xfrm>
            <a:off x="5166360" y="3337560"/>
            <a:ext cx="2011680" cy="1097280"/>
          </a:xfrm>
          <a:prstGeom prst="rect">
            <a:avLst/>
          </a:prstGeom>
          <a:noFill/>
          <a:ln/>
        </p:spPr>
        <p:txBody>
          <a:bodyPr wrap="square" lIns="0" tIns="0" rIns="0" bIns="0" rtlCol="0" anchor="t"/>
          <a:lstStyle/>
          <a:p>
            <a:pPr algn="ctr" indent="0" marL="0">
              <a:buNone/>
            </a:pPr>
            <a:r>
              <a:rPr lang="en-US" sz="1300" dirty="0">
                <a:solidFill>
                  <a:schemeClr val="tx2"/>
                </a:solidFill>
              </a:rPr>
              <a:t>example programs match their expected output in make test</a:t>
            </a:r>
            <a:endParaRPr lang="en-US" sz="1300" dirty="0"/>
          </a:p>
        </p:txBody>
      </p:sp>
      <p:sp>
        <p:nvSpPr>
          <p:cNvPr id="10" name="panel-227"/>
          <p:cNvSpPr/>
          <p:nvPr/>
        </p:nvSpPr>
        <p:spPr>
          <a:xfrm>
            <a:off x="7589520" y="1371600"/>
            <a:ext cx="4050792" cy="4206240"/>
          </a:xfrm>
          <a:prstGeom prst="roundRect">
            <a:avLst>
              <a:gd name="adj" fmla="val 1806"/>
            </a:avLst>
          </a:prstGeom>
          <a:solidFill>
            <a:schemeClr val="bg2"/>
          </a:solidFill>
          <a:ln w="12700">
            <a:solidFill>
              <a:schemeClr val="accent5"/>
            </a:solidFill>
            <a:prstDash val="solid"/>
          </a:ln>
        </p:spPr>
      </p:sp>
      <p:sp>
        <p:nvSpPr>
          <p:cNvPr id="11" name="text-228"/>
          <p:cNvSpPr txBox="1"/>
          <p:nvPr/>
        </p:nvSpPr>
        <p:spPr>
          <a:xfrm>
            <a:off x="7863840" y="1554480"/>
            <a:ext cx="3657600" cy="274320"/>
          </a:xfrm>
          <a:prstGeom prst="rect">
            <a:avLst/>
          </a:prstGeom>
          <a:noFill/>
          <a:ln/>
        </p:spPr>
        <p:txBody>
          <a:bodyPr wrap="square" lIns="0" tIns="0" rIns="0" bIns="0" rtlCol="0" anchor="t"/>
          <a:lstStyle/>
          <a:p>
            <a:pPr indent="0" marL="0">
              <a:buNone/>
            </a:pPr>
            <a:r>
              <a:rPr lang="en-US" sz="1100" spc="100" kern="0" dirty="0">
                <a:solidFill>
                  <a:schemeClr val="accent3"/>
                </a:solidFill>
                <a:latin typeface="Courier New" pitchFamily="34" charset="0"/>
                <a:ea typeface="Courier New" pitchFamily="34" charset="-122"/>
                <a:cs typeface="Courier New" pitchFamily="34" charset="-120"/>
              </a:rPr>
              <a:t>NEXT (FROM THE PROPOSAL)</a:t>
            </a:r>
            <a:endParaRPr lang="en-US" sz="1100" dirty="0"/>
          </a:p>
        </p:txBody>
      </p:sp>
      <p:sp>
        <p:nvSpPr>
          <p:cNvPr id="12" name="text-229"/>
          <p:cNvSpPr txBox="1"/>
          <p:nvPr/>
        </p:nvSpPr>
        <p:spPr>
          <a:xfrm>
            <a:off x="7863840" y="1965960"/>
            <a:ext cx="3566160" cy="3474720"/>
          </a:xfrm>
          <a:prstGeom prst="rect">
            <a:avLst/>
          </a:prstGeom>
          <a:noFill/>
          <a:ln/>
        </p:spPr>
        <p:txBody>
          <a:bodyPr wrap="square" lIns="0" tIns="0" rIns="0" bIns="0" rtlCol="0" anchor="t"/>
          <a:lstStyle/>
          <a:p>
            <a:pPr marL="342900" indent="-342900">
              <a:spcAft>
                <a:spcPts val="900"/>
              </a:spcAft>
              <a:buSzPct val="100000"/>
              <a:buChar char="•"/>
            </a:pPr>
            <a:r>
              <a:rPr lang="en-US" sz="1700" dirty="0">
                <a:solidFill>
                  <a:schemeClr val="tx1"/>
                </a:solidFill>
              </a:rPr>
              <a:t>if/else, while and for loops</a:t>
            </a:r>
            <a:endParaRPr lang="en-US" sz="1700" dirty="0"/>
          </a:p>
          <a:p>
            <a:pPr marL="342900" indent="-342900">
              <a:spcAft>
                <a:spcPts val="900"/>
              </a:spcAft>
              <a:buSzPct val="100000"/>
              <a:buChar char="•"/>
            </a:pPr>
            <a:r>
              <a:rPr lang="en-US" sz="1700" dirty="0">
                <a:solidFill>
                  <a:schemeClr val="tx1"/>
                </a:solidFill>
              </a:rPr>
              <a:t>Comparison and logical operators, printf</a:t>
            </a:r>
            <a:endParaRPr lang="en-US" sz="1700" dirty="0"/>
          </a:p>
          <a:p>
            <a:pPr marL="342900" indent="-342900">
              <a:spcAft>
                <a:spcPts val="900"/>
              </a:spcAft>
              <a:buSzPct val="100000"/>
              <a:buChar char="•"/>
            </a:pPr>
            <a:r>
              <a:rPr lang="en-US" sz="1700" dirty="0">
                <a:solidFill>
                  <a:schemeClr val="tx1"/>
                </a:solidFill>
              </a:rPr>
              <a:t>Error recovery: several errors per run</a:t>
            </a:r>
            <a:endParaRPr lang="en-US" sz="1700" dirty="0"/>
          </a:p>
          <a:p>
            <a:pPr marL="342900" indent="-342900">
              <a:spcAft>
                <a:spcPts val="900"/>
              </a:spcAft>
              <a:buSzPct val="100000"/>
              <a:buChar char="•"/>
            </a:pPr>
            <a:r>
              <a:rPr lang="en-US" sz="1700" dirty="0">
                <a:solidFill>
                  <a:schemeClr val="tx1"/>
                </a:solidFill>
              </a:rPr>
              <a:t>Functions and arrays; char and float</a:t>
            </a:r>
            <a:endParaRPr lang="en-US" sz="1700" dirty="0"/>
          </a:p>
          <a:p>
            <a:pPr marL="342900" indent="-342900">
              <a:spcAft>
                <a:spcPts val="900"/>
              </a:spcAft>
              <a:buSzPct val="100000"/>
              <a:buChar char="•"/>
            </a:pPr>
            <a:r>
              <a:rPr lang="en-US" sz="1700" dirty="0">
                <a:solidFill>
                  <a:schemeClr val="tx1"/>
                </a:solidFill>
              </a:rPr>
              <a:t>Constant folding and other optimisations</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230"/>
          <p:cNvSpPr txBox="1"/>
          <p:nvPr/>
        </p:nvSpPr>
        <p:spPr>
          <a:xfrm>
            <a:off x="731520" y="1463040"/>
            <a:ext cx="5486400" cy="822960"/>
          </a:xfrm>
          <a:prstGeom prst="rect">
            <a:avLst/>
          </a:prstGeom>
          <a:noFill/>
          <a:ln/>
        </p:spPr>
        <p:txBody>
          <a:bodyPr wrap="square" lIns="0" tIns="0" rIns="0" bIns="0" rtlCol="0" anchor="t"/>
          <a:lstStyle/>
          <a:p>
            <a:pPr indent="0" marL="0">
              <a:buNone/>
            </a:pPr>
            <a:r>
              <a:rPr lang="en-US" sz="4000" b="1" dirty="0">
                <a:solidFill>
                  <a:schemeClr val="tx1"/>
                </a:solidFill>
                <a:latin typeface="Cambria" pitchFamily="34" charset="0"/>
                <a:ea typeface="Cambria" pitchFamily="34" charset="-122"/>
                <a:cs typeface="Cambria" pitchFamily="34" charset="-120"/>
              </a:rPr>
              <a:t>Error</a:t>
            </a:r>
            <a:pPr indent="0" marL="0">
              <a:buNone/>
            </a:pPr>
            <a:r>
              <a:rPr lang="en-US" sz="4000" b="1" dirty="0">
                <a:solidFill>
                  <a:schemeClr val="accent1"/>
                </a:solidFill>
                <a:latin typeface="Cambria" pitchFamily="34" charset="0"/>
                <a:ea typeface="Cambria" pitchFamily="34" charset="-122"/>
                <a:cs typeface="Cambria" pitchFamily="34" charset="-120"/>
              </a:rPr>
              <a:t>Buddy</a:t>
            </a:r>
            <a:endParaRPr lang="en-US" sz="4000" dirty="0"/>
          </a:p>
        </p:txBody>
      </p:sp>
      <p:sp>
        <p:nvSpPr>
          <p:cNvPr id="3" name="text-231"/>
          <p:cNvSpPr txBox="1"/>
          <p:nvPr/>
        </p:nvSpPr>
        <p:spPr>
          <a:xfrm>
            <a:off x="731520" y="2468880"/>
            <a:ext cx="10058400" cy="1645920"/>
          </a:xfrm>
          <a:prstGeom prst="rect">
            <a:avLst/>
          </a:prstGeom>
          <a:noFill/>
          <a:ln/>
        </p:spPr>
        <p:txBody>
          <a:bodyPr wrap="square" lIns="0" tIns="0" rIns="0" bIns="0" rtlCol="0" anchor="t"/>
          <a:lstStyle/>
          <a:p>
            <a:pPr indent="0" marL="0">
              <a:buNone/>
            </a:pPr>
            <a:r>
              <a:rPr lang="en-US" sz="2800" i="1" dirty="0">
                <a:solidFill>
                  <a:schemeClr val="tx1"/>
                </a:solidFill>
                <a:latin typeface="Cambria" pitchFamily="34" charset="0"/>
                <a:ea typeface="Cambria" pitchFamily="34" charset="-122"/>
                <a:cs typeface="Cambria" pitchFamily="34" charset="-120"/>
              </a:rPr>
              <a:t>A complete small compiler, lexer to three-address code, whose main contribution is error messages that teach: the right line, plain words, and a concrete fix.</a:t>
            </a:r>
            <a:endParaRPr lang="en-US" sz="2800" dirty="0"/>
          </a:p>
        </p:txBody>
      </p:sp>
      <p:sp>
        <p:nvSpPr>
          <p:cNvPr id="4" name="pill-232"/>
          <p:cNvSpPr/>
          <p:nvPr/>
        </p:nvSpPr>
        <p:spPr>
          <a:xfrm>
            <a:off x="731520" y="4572000"/>
            <a:ext cx="1554480" cy="365760"/>
          </a:xfrm>
          <a:prstGeom prst="roundRect">
            <a:avLst>
              <a:gd name="adj" fmla="val 50000"/>
            </a:avLst>
          </a:prstGeom>
          <a:solidFill>
            <a:schemeClr val="bg2"/>
          </a:solidFill>
          <a:ln w="12700">
            <a:solidFill>
              <a:schemeClr val="accent5"/>
            </a:solidFill>
            <a:prstDash val="solid"/>
          </a:ln>
        </p:spPr>
      </p:sp>
      <p:sp>
        <p:nvSpPr>
          <p:cNvPr id="5" name="dot-233"/>
          <p:cNvSpPr/>
          <p:nvPr/>
        </p:nvSpPr>
        <p:spPr>
          <a:xfrm>
            <a:off x="877824" y="4709160"/>
            <a:ext cx="91440" cy="91440"/>
          </a:xfrm>
          <a:prstGeom prst="ellipse">
            <a:avLst/>
          </a:prstGeom>
          <a:solidFill>
            <a:schemeClr val="accent2"/>
          </a:solidFill>
          <a:ln w="12700">
            <a:solidFill>
              <a:schemeClr val="accent2"/>
            </a:solidFill>
            <a:prstDash val="solid"/>
          </a:ln>
        </p:spPr>
      </p:sp>
      <p:sp>
        <p:nvSpPr>
          <p:cNvPr id="6" name="text-234"/>
          <p:cNvSpPr txBox="1"/>
          <p:nvPr/>
        </p:nvSpPr>
        <p:spPr>
          <a:xfrm>
            <a:off x="1060704" y="4572000"/>
            <a:ext cx="1143000" cy="365760"/>
          </a:xfrm>
          <a:prstGeom prst="rect">
            <a:avLst/>
          </a:prstGeom>
          <a:noFill/>
          <a:ln/>
        </p:spPr>
        <p:txBody>
          <a:bodyPr wrap="square" lIns="0" tIns="0" rIns="0" bIns="0" rtlCol="0" anchor="ctr"/>
          <a:lstStyle/>
          <a:p>
            <a:pPr indent="0" marL="0">
              <a:buNone/>
            </a:pPr>
            <a:r>
              <a:rPr lang="en-US" sz="1300" dirty="0">
                <a:solidFill>
                  <a:schemeClr val="tx1"/>
                </a:solidFill>
              </a:rPr>
              <a:t>make test</a:t>
            </a:r>
            <a:endParaRPr lang="en-US" sz="1300" dirty="0"/>
          </a:p>
        </p:txBody>
      </p:sp>
      <p:sp>
        <p:nvSpPr>
          <p:cNvPr id="7" name="pill-235"/>
          <p:cNvSpPr/>
          <p:nvPr/>
        </p:nvSpPr>
        <p:spPr>
          <a:xfrm>
            <a:off x="2468880" y="4572000"/>
            <a:ext cx="2926080" cy="365760"/>
          </a:xfrm>
          <a:prstGeom prst="roundRect">
            <a:avLst>
              <a:gd name="adj" fmla="val 50000"/>
            </a:avLst>
          </a:prstGeom>
          <a:solidFill>
            <a:schemeClr val="bg2"/>
          </a:solidFill>
          <a:ln w="12700">
            <a:solidFill>
              <a:schemeClr val="accent5"/>
            </a:solidFill>
            <a:prstDash val="solid"/>
          </a:ln>
        </p:spPr>
      </p:sp>
      <p:sp>
        <p:nvSpPr>
          <p:cNvPr id="8" name="dot-236"/>
          <p:cNvSpPr/>
          <p:nvPr/>
        </p:nvSpPr>
        <p:spPr>
          <a:xfrm>
            <a:off x="2615184" y="4709160"/>
            <a:ext cx="91440" cy="91440"/>
          </a:xfrm>
          <a:prstGeom prst="ellipse">
            <a:avLst/>
          </a:prstGeom>
          <a:solidFill>
            <a:schemeClr val="accent4"/>
          </a:solidFill>
          <a:ln w="12700">
            <a:solidFill>
              <a:schemeClr val="accent4"/>
            </a:solidFill>
            <a:prstDash val="solid"/>
          </a:ln>
        </p:spPr>
      </p:sp>
      <p:sp>
        <p:nvSpPr>
          <p:cNvPr id="9" name="text-237"/>
          <p:cNvSpPr txBox="1"/>
          <p:nvPr/>
        </p:nvSpPr>
        <p:spPr>
          <a:xfrm>
            <a:off x="2798064" y="4572000"/>
            <a:ext cx="2514600" cy="365760"/>
          </a:xfrm>
          <a:prstGeom prst="rect">
            <a:avLst/>
          </a:prstGeom>
          <a:noFill/>
          <a:ln/>
        </p:spPr>
        <p:txBody>
          <a:bodyPr wrap="square" lIns="0" tIns="0" rIns="0" bIns="0" rtlCol="0" anchor="ctr"/>
          <a:lstStyle/>
          <a:p>
            <a:pPr indent="0" marL="0">
              <a:buNone/>
            </a:pPr>
            <a:r>
              <a:rPr lang="en-US" sz="1300" dirty="0">
                <a:solidFill>
                  <a:schemeClr val="tx1"/>
                </a:solidFill>
              </a:rPr>
              <a:t>make web  →  localhost:8795</a:t>
            </a:r>
            <a:endParaRPr lang="en-US" sz="1300" dirty="0"/>
          </a:p>
        </p:txBody>
      </p:sp>
      <p:sp>
        <p:nvSpPr>
          <p:cNvPr id="10" name="pill-238"/>
          <p:cNvSpPr/>
          <p:nvPr/>
        </p:nvSpPr>
        <p:spPr>
          <a:xfrm>
            <a:off x="5577840" y="4572000"/>
            <a:ext cx="3383280" cy="365760"/>
          </a:xfrm>
          <a:prstGeom prst="roundRect">
            <a:avLst>
              <a:gd name="adj" fmla="val 50000"/>
            </a:avLst>
          </a:prstGeom>
          <a:solidFill>
            <a:schemeClr val="bg2"/>
          </a:solidFill>
          <a:ln w="12700">
            <a:solidFill>
              <a:schemeClr val="accent5"/>
            </a:solidFill>
            <a:prstDash val="solid"/>
          </a:ln>
        </p:spPr>
      </p:sp>
      <p:sp>
        <p:nvSpPr>
          <p:cNvPr id="11" name="dot-239"/>
          <p:cNvSpPr/>
          <p:nvPr/>
        </p:nvSpPr>
        <p:spPr>
          <a:xfrm>
            <a:off x="5724144" y="4709160"/>
            <a:ext cx="91440" cy="91440"/>
          </a:xfrm>
          <a:prstGeom prst="ellipse">
            <a:avLst/>
          </a:prstGeom>
          <a:solidFill>
            <a:schemeClr val="accent3"/>
          </a:solidFill>
          <a:ln w="12700">
            <a:solidFill>
              <a:schemeClr val="accent3"/>
            </a:solidFill>
            <a:prstDash val="solid"/>
          </a:ln>
        </p:spPr>
      </p:sp>
      <p:sp>
        <p:nvSpPr>
          <p:cNvPr id="12" name="text-240"/>
          <p:cNvSpPr txBox="1"/>
          <p:nvPr/>
        </p:nvSpPr>
        <p:spPr>
          <a:xfrm>
            <a:off x="5907024" y="4572000"/>
            <a:ext cx="2971800" cy="365760"/>
          </a:xfrm>
          <a:prstGeom prst="rect">
            <a:avLst/>
          </a:prstGeom>
          <a:noFill/>
          <a:ln/>
        </p:spPr>
        <p:txBody>
          <a:bodyPr wrap="square" lIns="0" tIns="0" rIns="0" bIns="0" rtlCol="0" anchor="ctr"/>
          <a:lstStyle/>
          <a:p>
            <a:pPr indent="0" marL="0">
              <a:buNone/>
            </a:pPr>
            <a:r>
              <a:rPr lang="en-US" sz="1300" dirty="0">
                <a:solidFill>
                  <a:schemeClr val="tx1"/>
                </a:solidFill>
              </a:rPr>
              <a:t>python3 case_study/run_study.py</a:t>
            </a:r>
            <a:endParaRPr lang="en-US" sz="1300" dirty="0"/>
          </a:p>
        </p:txBody>
      </p:sp>
    </p:spTree>
  </p:cSld>
  <p:clrMapOvr>
    <a:masterClrMapping/>
  </p:clrMapOvr>
</p:sld>
</file>

<file path=ppt/theme/theme1.xml><?xml version="1.0" encoding="utf-8"?>
<a:theme xmlns:a="http://schemas.openxmlformats.org/drawingml/2006/main" name="ErrorBuddy Dark">
  <a:themeElements>
    <a:clrScheme name="ErrorBuddy Dark">
      <a:dk1>
        <a:srgbClr val="EEF0F3"/>
      </a:dk1>
      <a:lt1>
        <a:srgbClr val="111318"/>
      </a:lt1>
      <a:dk2>
        <a:srgbClr val="9AA1AD"/>
      </a:dk2>
      <a:lt2>
        <a:srgbClr val="1B1F27"/>
      </a:lt2>
      <a:accent1>
        <a:srgbClr val="EF6F5E"/>
      </a:accent1>
      <a:accent2>
        <a:srgbClr val="4CC38A"/>
      </a:accent2>
      <a:accent3>
        <a:srgbClr val="E0A84A"/>
      </a:accent3>
      <a:accent4>
        <a:srgbClr val="7AA2F7"/>
      </a:accent4>
      <a:accent5>
        <a:srgbClr val="2E3440"/>
      </a:accent5>
      <a:accent6>
        <a:srgbClr val="C792EA"/>
      </a:accent6>
      <a:hlink>
        <a:srgbClr val="7AA2F7"/>
      </a:hlink>
      <a:folHlink>
        <a:srgbClr val="C792EA"/>
      </a:folHlink>
    </a:clrScheme>
    <a:fontScheme name="ErrorBuddy Dar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ErrorBuddy: Architecture and Working</dc:title>
  <dc:subject>PptxGenJS Presentation</dc:subject>
  <dc:creator>Vardan Pandya</dc:creator>
  <cp:lastModifiedBy>Vardan Pandya</cp:lastModifiedBy>
  <cp:revision>1</cp:revision>
  <dcterms:created xsi:type="dcterms:W3CDTF">2026-10-26T09:14:21Z</dcterms:created>
  <dcterms:modified xsi:type="dcterms:W3CDTF">2026-10-26T09:14:21Z</dcterms:modified>
</cp:coreProperties>
</file>