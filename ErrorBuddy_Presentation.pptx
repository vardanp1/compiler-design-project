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28016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ErrorBuddy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4B8A6"/>
                </a:solidFill>
                <a:latin typeface="Calibri"/>
              </a:rPr>
              <a:t>A beginner-friendly C compiler that explains its own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Lexer  •  Parser  •  Semantic Analysis  •  Three-Address Code  •  Friendly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Compiler Design Project   |   Implemented in C++17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Calibri"/>
              </a:rPr>
              <a:t>Beginners lose hours on compiler errors they cannot 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5120640" cy="1463040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48463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3   int a = 5;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4   int b = 10          &lt;- real mistake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5   printf("%d", a + b);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920240"/>
            <a:ext cx="5440680" cy="1463040"/>
          </a:xfrm>
          <a:prstGeom prst="rect">
            <a:avLst/>
          </a:prstGeom>
          <a:solidFill>
            <a:srgbClr val="3B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11680"/>
            <a:ext cx="52120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CA5A5"/>
                </a:solidFill>
                <a:latin typeface="Consolas"/>
              </a:rPr>
              <a:t>gcc says:</a:t>
            </a:r>
          </a:p>
          <a:p>
            <a:pPr algn="l"/>
            <a:r>
              <a:rPr sz="1600" b="0">
                <a:solidFill>
                  <a:srgbClr val="FCA5A5"/>
                </a:solidFill>
                <a:latin typeface="Consolas"/>
              </a:rPr>
              <a:t>program.c:5:5: error: expected</a:t>
            </a:r>
          </a:p>
          <a:p>
            <a:pPr algn="l"/>
            <a:r>
              <a:rPr sz="1600" b="0">
                <a:solidFill>
                  <a:srgbClr val="FCA5A5"/>
                </a:solidFill>
                <a:latin typeface="Consolas"/>
              </a:rPr>
              <a:t>',' or ';' before 'printf'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49039"/>
            <a:ext cx="356616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49039"/>
            <a:ext cx="82296" cy="2194560"/>
          </a:xfrm>
          <a:prstGeom prst="rect">
            <a:avLst/>
          </a:prstGeom>
          <a:solidFill>
            <a:srgbClr val="DC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5876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F1B2D"/>
                </a:solidFill>
                <a:latin typeface="Calibri"/>
              </a:rPr>
              <a:t>Wrong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15968"/>
            <a:ext cx="32004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Error points to line 5.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The fix belongs on line 4.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749039"/>
            <a:ext cx="356616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3749039"/>
            <a:ext cx="82296" cy="2194560"/>
          </a:xfrm>
          <a:prstGeom prst="rect">
            <a:avLst/>
          </a:prstGeom>
          <a:solidFill>
            <a:srgbClr val="DC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85876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F1B2D"/>
                </a:solidFill>
                <a:latin typeface="Calibri"/>
              </a:rPr>
              <a:t>Jargon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315968"/>
            <a:ext cx="32004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"expected ... before"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Grammar terms, not plain English.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3749039"/>
            <a:ext cx="329184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3749039"/>
            <a:ext cx="82296" cy="2194560"/>
          </a:xfrm>
          <a:prstGeom prst="rect">
            <a:avLst/>
          </a:prstGeom>
          <a:solidFill>
            <a:srgbClr val="DC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858768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F1B2D"/>
                </a:solidFill>
                <a:latin typeface="Calibri"/>
              </a:rPr>
              <a:t>No 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315968"/>
            <a:ext cx="29260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Says what is wrong,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never how to fix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463040"/>
            <a:ext cx="822960" cy="8229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444752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Calibri"/>
              </a:rPr>
              <a:t>Build a working compiler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01952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Source  →  three-address code (TAC)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606040"/>
            <a:ext cx="822960" cy="8229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587752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Calibri"/>
              </a:rPr>
              <a:t>Cover all core phases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44952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Lexical, Syntax, Semantic, Intermediate Code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49039"/>
            <a:ext cx="822960" cy="8229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30752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Calibri"/>
              </a:rPr>
              <a:t>Report errors like a tutor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187952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Right line, plain words, one concrete fix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892040"/>
            <a:ext cx="822960" cy="8229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73752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Calibri"/>
              </a:rPr>
              <a:t>Use C++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330952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Hand-written, standard library, no Lex / Yacc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Calibri"/>
              </a:rPr>
              <a:t>A compiler for beginner C whose errors teach instead of confuse.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6B7280"/>
                </a:solidFill>
                <a:latin typeface="Calibri"/>
              </a:rPr>
              <a:t>Every error is a structured object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77440"/>
            <a:ext cx="1645920" cy="6858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16459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377440"/>
            <a:ext cx="3383280" cy="6858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2377440"/>
            <a:ext cx="320040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where the fix belongs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46120"/>
            <a:ext cx="1645920" cy="6858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46120"/>
            <a:ext cx="16459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246120"/>
            <a:ext cx="3383280" cy="6858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3246120"/>
            <a:ext cx="320040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lexical / syntax / semantic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114800"/>
            <a:ext cx="1645920" cy="6858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16459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MESSAGE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114800"/>
            <a:ext cx="3383280" cy="6858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114800"/>
            <a:ext cx="320040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what rule was broken, in plain English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983479"/>
            <a:ext cx="1645920" cy="6858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83479"/>
            <a:ext cx="16459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4983479"/>
            <a:ext cx="3383280" cy="6858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4983479"/>
            <a:ext cx="320040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one concrete suggestion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9202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6B7280"/>
                </a:solidFill>
                <a:latin typeface="Calibri"/>
              </a:rPr>
              <a:t>ErrorBuddy output, same mistake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377440"/>
            <a:ext cx="5257800" cy="3291840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468880"/>
            <a:ext cx="498348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Error on line 4:</a:t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Expected ';' at the end of</a:t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the statement.</a:t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Suggestion: Add a semicolon</a:t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after '10'.</a:t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(Found during: Syntax Analysis)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Language Scope: Beginner C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5394960" cy="4480560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120640" cy="4297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int main() {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  int sum = 0;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  for (int i = 1; i &lt;= 10; i++) {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    if (i % 2 == 0)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      sum = sum + i;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  }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  printf("%d\n", sum);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  return 0;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74920" cy="10058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82296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81328"/>
            <a:ext cx="470915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F1B2D"/>
                </a:solidFill>
                <a:latin typeface="Calibri"/>
              </a:rPr>
              <a:t>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38528"/>
            <a:ext cx="470915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int variables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14600"/>
            <a:ext cx="5074920" cy="10058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514600"/>
            <a:ext cx="82296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624328"/>
            <a:ext cx="470915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F1B2D"/>
                </a:solidFill>
                <a:latin typeface="Calibri"/>
              </a:rPr>
              <a:t>Operators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081528"/>
            <a:ext cx="470915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+  -  *  /  %   ==  !=  &lt;  &gt;   &amp;&amp;  ||  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657600"/>
            <a:ext cx="5074920" cy="10058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657600"/>
            <a:ext cx="82296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767328"/>
            <a:ext cx="470915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F1B2D"/>
                </a:solidFill>
                <a:latin typeface="Calibri"/>
              </a:rPr>
              <a:t>Control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224528"/>
            <a:ext cx="470915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if / else,  while,  for,  { } blocks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800600"/>
            <a:ext cx="5074920" cy="10058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800600"/>
            <a:ext cx="82296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910328"/>
            <a:ext cx="470915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F1B2D"/>
                </a:solidFill>
                <a:latin typeface="Calibri"/>
              </a:rPr>
              <a:t>I/O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367528"/>
            <a:ext cx="470915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printf with %d, inside main()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8978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Every valid program is real C that gcc accepts.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1920240" cy="118872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Calibri"/>
              </a:rPr>
              <a:t>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1828800"/>
            <a:ext cx="411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1554480"/>
            <a:ext cx="1920240" cy="118872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6459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Lexer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1031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Calibri"/>
              </a:rPr>
              <a:t>text →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1828800"/>
            <a:ext cx="411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554480"/>
            <a:ext cx="1920240" cy="118872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6459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Parser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1031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Calibri"/>
              </a:rPr>
              <a:t>grammar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1828800"/>
            <a:ext cx="411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554480"/>
            <a:ext cx="1920240" cy="118872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6459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Semantic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1031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Calibri"/>
              </a:rPr>
              <a:t>symbol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1828800"/>
            <a:ext cx="411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554480"/>
            <a:ext cx="1920240" cy="118872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16459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Code 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1031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Calibri"/>
              </a:rPr>
              <a:t>emits TAC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78892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14B8A6"/>
                </a:solidFill>
                <a:latin typeface="Calibri"/>
              </a:rPr>
              <a:t>Phases 2 + 3 + 4 run together in ONE 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3154680"/>
            <a:ext cx="685800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657600"/>
            <a:ext cx="3566160" cy="22860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657600"/>
            <a:ext cx="82296" cy="2286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76732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Success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24528"/>
            <a:ext cx="32004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TAC + symbol table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+ phase summary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3657600"/>
            <a:ext cx="3566160" cy="22860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3657600"/>
            <a:ext cx="82296" cy="2286000"/>
          </a:xfrm>
          <a:prstGeom prst="rect">
            <a:avLst/>
          </a:prstGeom>
          <a:solidFill>
            <a:srgbClr val="DC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76732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Error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224528"/>
            <a:ext cx="32004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Friendly explanation.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No partial code shown.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3657600"/>
            <a:ext cx="3291840" cy="22860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79" y="3657600"/>
            <a:ext cx="82296" cy="2286000"/>
          </a:xfrm>
          <a:prstGeom prst="rect">
            <a:avLst/>
          </a:prstGeom>
          <a:solidFill>
            <a:srgbClr val="F5B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3767328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CompileError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224528"/>
            <a:ext cx="292608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One shared type used by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every phase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Implementation: Phases 1 &amp;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5394960" cy="4480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71600"/>
            <a:ext cx="82296" cy="4480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8132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1  Lexical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502920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Hand-written scanner, char by char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Tokens carry line numbers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Skips comments and #include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Rejects  @   2nd   unclosed "string"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40480"/>
            <a:ext cx="5029200" cy="1737360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39" y="3931920"/>
            <a:ext cx="47548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if (a == 10)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KEYWORD    if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IDENTIFIER a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OPERATOR   ==   NUMBER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166360" cy="4480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82296" cy="4480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813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2  Syntax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938528"/>
            <a:ext cx="480060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Recursive descent parser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One C++ function per grammar rule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Precedence built into the grammar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Left-associative:  10 - 4 - 3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else binds to nearest 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114800"/>
            <a:ext cx="4800600" cy="1463040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206240"/>
            <a:ext cx="45262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expression()  →  +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  term()      →  b * 2 first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   factor()   →  b ,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Implementation: Phases 3 &amp;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539496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71600"/>
            <a:ext cx="82296" cy="2194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8132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3  Semantic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50292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Scoped symbol table: a stack of maps,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one per { } block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2606040" cy="45720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260604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Undeclared var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834640"/>
            <a:ext cx="2606040" cy="45720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834640"/>
            <a:ext cx="260604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Redeclaration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80"/>
            <a:ext cx="2606040" cy="45720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83280"/>
            <a:ext cx="260604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Uninitialised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383280"/>
            <a:ext cx="2606040" cy="45720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383280"/>
            <a:ext cx="260604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printf %d mismatch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16636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82296" cy="2194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4813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4  Three-Address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938528"/>
            <a:ext cx="48006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One operator per instruction.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Control flow = labels + jumps.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148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80560"/>
            <a:ext cx="5394960" cy="1371600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7200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E5E7EB"/>
                </a:solidFill>
                <a:latin typeface="Consolas"/>
              </a:rPr>
              <a:t>if (a &gt; b) max = a;</a:t>
            </a:r>
          </a:p>
          <a:p>
            <a:pPr algn="l"/>
            <a:r>
              <a:rPr sz="1700" b="0">
                <a:solidFill>
                  <a:srgbClr val="E5E7EB"/>
                </a:solidFill>
                <a:latin typeface="Consolas"/>
              </a:rPr>
              <a:t>else       max = b;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1148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TAC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480560"/>
            <a:ext cx="5166360" cy="1737360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572000"/>
            <a:ext cx="48920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86EFAC"/>
                </a:solidFill>
                <a:latin typeface="Consolas"/>
              </a:rPr>
              <a:t>  t1 = a &gt; b</a:t>
            </a:r>
          </a:p>
          <a:p>
            <a:pPr algn="l"/>
            <a:r>
              <a:rPr sz="1500" b="0">
                <a:solidFill>
                  <a:srgbClr val="86EFAC"/>
                </a:solidFill>
                <a:latin typeface="Consolas"/>
              </a:rPr>
              <a:t>  ifFalse t1 goto L1</a:t>
            </a:r>
          </a:p>
          <a:p>
            <a:pPr algn="l"/>
            <a:r>
              <a:rPr sz="1500" b="0">
                <a:solidFill>
                  <a:srgbClr val="86EFAC"/>
                </a:solidFill>
                <a:latin typeface="Consolas"/>
              </a:rPr>
              <a:t>  max = a ; goto L2</a:t>
            </a:r>
          </a:p>
          <a:p>
            <a:pPr algn="l"/>
            <a:r>
              <a:rPr sz="1500" b="0">
                <a:solidFill>
                  <a:srgbClr val="86EFAC"/>
                </a:solidFill>
                <a:latin typeface="Consolas"/>
              </a:rPr>
              <a:t>L1: max = b</a:t>
            </a:r>
          </a:p>
          <a:p>
            <a:pPr algn="l"/>
            <a:r>
              <a:rPr sz="1500" b="0">
                <a:solidFill>
                  <a:srgbClr val="86EFAC"/>
                </a:solidFill>
                <a:latin typeface="Consolas"/>
              </a:rPr>
              <a:t>L2: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Implementation: Error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Calibri"/>
              </a:rPr>
              <a:t>Finds the likely cause, not just the failing token.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3749039" cy="621792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5661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if (x =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45720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920240"/>
            <a:ext cx="6537960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920240"/>
            <a:ext cx="63093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Did you mean '=='?  '=' stores a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670048"/>
            <a:ext cx="3749039" cy="621792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70048"/>
            <a:ext cx="35661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{ ... missing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70048"/>
            <a:ext cx="45720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670048"/>
            <a:ext cx="6537960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670048"/>
            <a:ext cx="63093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Missing '}' for the '{' opened on line 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9856"/>
            <a:ext cx="3749039" cy="621792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19856"/>
            <a:ext cx="35661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printf("%d")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419856"/>
            <a:ext cx="45720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3419856"/>
            <a:ext cx="6537960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419856"/>
            <a:ext cx="63093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printf has %d but no value to print.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169664"/>
            <a:ext cx="3749039" cy="621792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69664"/>
            <a:ext cx="35661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retrun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169664"/>
            <a:ext cx="45720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4169664"/>
            <a:ext cx="6537960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4169664"/>
            <a:ext cx="63093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Did you mean the keyword 'return'?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919472"/>
            <a:ext cx="3749039" cy="621792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19472"/>
            <a:ext cx="35661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E5E7EB"/>
                </a:solidFill>
                <a:latin typeface="Consolas"/>
              </a:rPr>
              <a:t>int b =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919472"/>
            <a:ext cx="45720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4919472"/>
            <a:ext cx="6537960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919472"/>
            <a:ext cx="63093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Expected ';'. Reported on the line of '10'.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760720"/>
            <a:ext cx="3566160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76072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Token look-around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5760720"/>
            <a:ext cx="3566160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76072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Levenshtein edit distance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5760720"/>
            <a:ext cx="3566160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576072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Line-accurate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Result: gcc vs ErrorBuddy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5394960" cy="2743200"/>
          </a:xfrm>
          <a:prstGeom prst="rect">
            <a:avLst/>
          </a:prstGeom>
          <a:solidFill>
            <a:srgbClr val="3B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CA5A5"/>
                </a:solidFill>
                <a:latin typeface="Calibri"/>
              </a:rPr>
              <a:t>gcc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50292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CA5A5"/>
                </a:solidFill>
                <a:latin typeface="Consolas"/>
              </a:rPr>
              <a:t>program.c:5:5: error:</a:t>
            </a:r>
          </a:p>
          <a:p>
            <a:pPr algn="l"/>
            <a:r>
              <a:rPr sz="1800" b="0">
                <a:solidFill>
                  <a:srgbClr val="FCA5A5"/>
                </a:solidFill>
                <a:latin typeface="Consolas"/>
              </a:rPr>
              <a:t>expected ',' or ';'</a:t>
            </a:r>
          </a:p>
          <a:p>
            <a:pPr algn="l"/>
            <a:r>
              <a:rPr sz="1800" b="0">
                <a:solidFill>
                  <a:srgbClr val="FCA5A5"/>
                </a:solidFill>
                <a:latin typeface="Consolas"/>
              </a:rPr>
              <a:t>before 'printf'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166360" cy="2743200"/>
          </a:xfrm>
          <a:prstGeom prst="rect">
            <a:avLst/>
          </a:prstGeom>
          <a:solidFill>
            <a:srgbClr val="16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86EFAC"/>
                </a:solidFill>
                <a:latin typeface="Calibri"/>
              </a:rPr>
              <a:t>ErrorBuddy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84632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Error on line 4:</a:t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Expected ';' at the end of</a:t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the statement.</a:t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Suggestion: Add a semicolon</a:t>
            </a:r>
          </a:p>
          <a:p>
            <a:pPr algn="l"/>
            <a:r>
              <a:rPr sz="1700" b="0">
                <a:solidFill>
                  <a:srgbClr val="86EFAC"/>
                </a:solidFill>
                <a:latin typeface="Consolas"/>
              </a:rPr>
              <a:t>after '10'.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80560"/>
            <a:ext cx="3566160" cy="14630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80560"/>
            <a:ext cx="82296" cy="1463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✓ Right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fix 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480560"/>
            <a:ext cx="3566160" cy="14630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480560"/>
            <a:ext cx="82296" cy="1463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459028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✓ Plain words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5047488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named rule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4480560"/>
            <a:ext cx="3566160" cy="14630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4480560"/>
            <a:ext cx="82296" cy="1463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59028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✓ Actionable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047488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what to 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Tools &amp;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5394960" cy="19202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71600"/>
            <a:ext cx="82296" cy="1920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8132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5029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C++17  •  standard library only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g++  •  Makefile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566160"/>
            <a:ext cx="5394960" cy="2377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82296" cy="2377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75887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33087"/>
            <a:ext cx="5029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One sample program per error type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Expected output stored for each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Automated:  make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6B7280"/>
                </a:solidFill>
                <a:latin typeface="Calibri"/>
              </a:rPr>
              <a:t>Test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82880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Valid program + precedence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3172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33172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Undeclared variable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8346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Duplicate declaration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33756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Missing semicolon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8404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Two operators in a 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34340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Missing / extra parenthesis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84632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Division by zero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4924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3492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Empty program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8978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B2D"/>
                </a:solidFill>
                <a:latin typeface="Calibri"/>
              </a:rPr>
              <a:t>Status: 10 / 10 tests passing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3566160" cy="19202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63040"/>
            <a:ext cx="82296" cy="1920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Functions &amp; arrays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user-defined, beyond main()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463040"/>
            <a:ext cx="3566160" cy="19202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463040"/>
            <a:ext cx="82296" cy="1920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57276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Error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29968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report several errors per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463040"/>
            <a:ext cx="3566160" cy="19202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463040"/>
            <a:ext cx="82296" cy="1920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57276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More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029968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char, float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3566160" cy="19202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657600"/>
            <a:ext cx="82296" cy="1920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6732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constant folding on TAC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657600"/>
            <a:ext cx="3566160" cy="19202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3657600"/>
            <a:ext cx="82296" cy="1920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76732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Web playground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224528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try it in the browser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3657600"/>
            <a:ext cx="3566160" cy="19202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3657600"/>
            <a:ext cx="82296" cy="1920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76732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0F1B2D"/>
                </a:solidFill>
                <a:latin typeface="Calibri"/>
              </a:rPr>
              <a:t>Assembly 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224528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TAC → target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760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Kept simple on purpose: int only, one function, stops at first 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0F1B2D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ErrorBuddy  |  Compiler Design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109728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Calibri"/>
              </a:rPr>
              <a:t>Complete 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6B7280"/>
                </a:solidFill>
                <a:latin typeface="Calibri"/>
              </a:rPr>
              <a:t>Lexer → Parser → Semantic → TAC, built in C++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34640"/>
            <a:ext cx="109728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Calibri"/>
              </a:rPr>
              <a:t>Core contribution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6B7280"/>
                </a:solidFill>
                <a:latin typeface="Calibri"/>
              </a:rPr>
              <a:t>Errors that teach: right line, plain words, concrete 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206240"/>
            <a:ext cx="109728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Calibri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6B7280"/>
                </a:solidFill>
                <a:latin typeface="Calibri"/>
              </a:rPr>
              <a:t>Less time debugging, more time learning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486400"/>
            <a:ext cx="10789920" cy="7315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486400"/>
            <a:ext cx="107899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ErrorBuddy: the right line, plain words, and a concrete fix. 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