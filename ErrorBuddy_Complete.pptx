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charts/chart1.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charts/chart2.xml" ContentType="application/vnd.openxmlformats-officedocument.drawingml.chart+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2b8cb78f-fd74-12f4-274c-d80b01efb0a2}">
          <p14:sldIdLst>
            <p14:sldId id="256"/>
            <p14:sldId id="257"/>
          </p14:sldIdLst>
        </p14:section>
        <p14:section name="Problem and idea" id="{282c3c44-24ef-d2c7-f277-a75c7b289c2c}">
          <p14:sldIdLst>
            <p14:sldId id="258"/>
            <p14:sldId id="259"/>
            <p14:sldId id="260"/>
            <p14:sldId id="261"/>
          </p14:sldIdLst>
        </p14:section>
        <p14:section name="The language" id="{aa2fefc2-3a54-9de0-66cd-7510fa24a73b}">
          <p14:sldIdLst>
            <p14:sldId id="262"/>
            <p14:sldId id="263"/>
          </p14:sldIdLst>
        </p14:section>
        <p14:section name="Architecture" id="{2d325972-bc19-2a0b-8b1f-1048751a224d}">
          <p14:sldIdLst>
            <p14:sldId id="264"/>
            <p14:sldId id="265"/>
            <p14:sldId id="266"/>
            <p14:sldId id="267"/>
            <p14:sldId id="268"/>
          </p14:sldIdLst>
        </p14:section>
        <p14:section name="The five phases" id="{ab005029-b148-ae07-6be7-c121cb79f204}">
          <p14:sldIdLst>
            <p14:sldId id="269"/>
            <p14:sldId id="270"/>
            <p14:sldId id="271"/>
            <p14:sldId id="272"/>
            <p14:sldId id="273"/>
            <p14:sldId id="274"/>
            <p14:sldId id="275"/>
            <p14:sldId id="276"/>
            <p14:sldId id="277"/>
          </p14:sldIdLst>
        </p14:section>
        <p14:section name="Tools and evaluation" id="{cdedd118-462a-085a-411e-80695e666fd7}">
          <p14:sldIdLst>
            <p14:sldId id="278"/>
            <p14:sldId id="279"/>
            <p14:sldId id="280"/>
            <p14:sldId id="281"/>
            <p14:sldId id="282"/>
          </p14:sldIdLst>
        </p14:section>
        <p14:section name="Scope" id="{7c53298a-fe76-1365-7bfb-0f2dd003bc82}">
          <p14:sldIdLst>
            <p14:sldId id="283"/>
            <p14:sldId id="284"/>
            <p14:sldId id="28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ECE8E1"/>
                </a:solidFill>
                <a:latin typeface="+mn-lt"/>
              </a:defRPr>
            </a:pPr>
            <a:r>
              <a:rPr sz="1300" b="0" i="0" u="none" strike="noStrike">
                <a:solidFill>
                  <a:srgbClr val="ECE8E1"/>
                </a:solidFill>
                <a:latin typeface="+mn-lt"/>
              </a:rPr>
              <a:t>Hint policies on 23 typo cases</a:t>
            </a:r>
          </a:p>
        </c:rich>
      </c:tx>
      <c:layout/>
      <c:overlay val="0"/>
    </c:title>
    <c:autoTitleDeleted val="0"/>
    <c:plotArea>
      <c:layout/>
      <c:barChart>
        <c:barDir val="col"/>
        <c:grouping val="clustered"/>
        <c:varyColors val="0"/>
        <c:ser>
          <c:idx val="0"/>
          <c:order val="0"/>
          <c:tx>
            <c:strRef>
              <c:f>Sheet1!$B$1</c:f>
              <c:strCache>
                <c:ptCount val="1"/>
                <c:pt idx="0">
                  <c:v>Right suggestion</c:v>
                </c:pt>
              </c:strCache>
            </c:strRef>
          </c:tx>
          <c:spPr>
            <a:solidFill>
              <a:srgbClr val="4CC38A"/>
            </a:solidFill>
            <a:effectLst/>
          </c:spPr>
          <c:invertIfNegative val="0"/>
          <c:dLbls>
            <c:numFmt formatCode="#,##0" sourceLinked="0"/>
            <c:txPr>
              <a:bodyPr/>
              <a:lstStyle/>
              <a:p>
                <a:pPr>
                  <a:defRPr b="0" i="0" strike="noStrike" sz="1100" u="none">
                    <a:solidFill>
                      <a:srgbClr val="ECE8E1"/>
                    </a:solidFill>
                    <a:latin typeface="+mn-lt"/>
                  </a:defRPr>
                </a:pPr>
              </a:p>
            </c:txPr>
            <c:showLegendKey val="0"/>
            <c:showVal val="1"/>
            <c:showCatName val="0"/>
            <c:showSerName val="0"/>
            <c:showPercent val="0"/>
            <c:showBubbleSize val="0"/>
            <c:showLeaderLines val="0"/>
          </c:dLbls>
          <c:cat>
            <c:multiLvlStrRef>
              <c:f>Sheet1!$A$2:$A$5</c:f>
              <c:multiLvlStrCache>
                <c:ptCount val="4"/>
                <c:lvl>
                  <c:pt idx="0">
                    <c:v>1 edit</c:v>
                  </c:pt>
                  <c:pt idx="1">
                    <c:v>Shipped</c:v>
                  </c:pt>
                  <c:pt idx="2">
                    <c:v>2 edits</c:v>
                  </c:pt>
                  <c:pt idx="3">
                    <c:v>3 edits</c:v>
                  </c:pt>
                </c:lvl>
              </c:multiLvlStrCache>
            </c:multiLvlStrRef>
          </c:cat>
          <c:val>
            <c:numRef>
              <c:f>Sheet1!$B$2:$B$5</c:f>
              <c:numCache>
                <c:formatCode>General</c:formatCode>
                <c:ptCount val="4"/>
                <c:pt idx="0">
                  <c:v>10</c:v>
                </c:pt>
                <c:pt idx="1">
                  <c:v>12</c:v>
                </c:pt>
                <c:pt idx="2">
                  <c:v>13</c:v>
                </c:pt>
                <c:pt idx="3">
                  <c:v>13</c:v>
                </c:pt>
              </c:numCache>
            </c:numRef>
          </c:val>
        </c:ser>
        <c:ser>
          <c:idx val="1"/>
          <c:order val="1"/>
          <c:tx>
            <c:strRef>
              <c:f>Sheet1!$C$1</c:f>
              <c:strCache>
                <c:ptCount val="1"/>
                <c:pt idx="0">
                  <c:v>Wrong suggestion</c:v>
                </c:pt>
              </c:strCache>
            </c:strRef>
          </c:tx>
          <c:spPr>
            <a:solidFill>
              <a:srgbClr val="F2775F"/>
            </a:solidFill>
            <a:effectLst/>
          </c:spPr>
          <c:invertIfNegative val="0"/>
          <c:dLbls>
            <c:numFmt formatCode="#,##0" sourceLinked="0"/>
            <c:txPr>
              <a:bodyPr/>
              <a:lstStyle/>
              <a:p>
                <a:pPr>
                  <a:defRPr b="0" i="0" strike="noStrike" sz="1100" u="none">
                    <a:solidFill>
                      <a:srgbClr val="ECE8E1"/>
                    </a:solidFill>
                    <a:latin typeface="+mn-lt"/>
                  </a:defRPr>
                </a:pPr>
              </a:p>
            </c:txPr>
            <c:showLegendKey val="0"/>
            <c:showVal val="1"/>
            <c:showCatName val="0"/>
            <c:showSerName val="0"/>
            <c:showPercent val="0"/>
            <c:showBubbleSize val="0"/>
            <c:showLeaderLines val="0"/>
          </c:dLbls>
          <c:cat>
            <c:multiLvlStrRef>
              <c:f>Sheet1!$A$2:$A$5</c:f>
              <c:multiLvlStrCache>
                <c:ptCount val="4"/>
                <c:lvl>
                  <c:pt idx="0">
                    <c:v>1 edit</c:v>
                  </c:pt>
                  <c:pt idx="1">
                    <c:v>Shipped</c:v>
                  </c:pt>
                  <c:pt idx="2">
                    <c:v>2 edits</c:v>
                  </c:pt>
                  <c:pt idx="3">
                    <c:v>3 edits</c:v>
                  </c:pt>
                </c:lvl>
              </c:multiLvlStrCache>
            </c:multiLvlStrRef>
          </c:cat>
          <c:val>
            <c:numRef>
              <c:f>Sheet1!$C$2:$C$5</c:f>
              <c:numCache>
                <c:formatCode>General</c:formatCode>
                <c:ptCount val="4"/>
                <c:pt idx="0">
                  <c:v>8</c:v>
                </c:pt>
                <c:pt idx="1">
                  <c:v>6</c:v>
                </c:pt>
                <c:pt idx="2">
                  <c:v>9</c:v>
                </c:pt>
                <c:pt idx="3">
                  <c:v>10</c:v>
                </c:pt>
              </c:numCache>
            </c:numRef>
          </c:val>
        </c:ser>
        <c:dLbls>
          <c:numFmt formatCode="#,##0" sourceLinked="0"/>
          <c:txPr>
            <a:bodyPr/>
            <a:lstStyle/>
            <a:p>
              <a:pPr>
                <a:defRPr b="0" i="0" strike="noStrike" sz="1100" u="none">
                  <a:solidFill>
                    <a:srgbClr val="ECE8E1"/>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9AA2AD"/>
                </a:solidFill>
                <a:latin typeface="+mn-lt"/>
              </a:defRPr>
            </a:pPr>
            <a:endParaRPr lang="en-US"/>
          </a:p>
        </c:txPr>
        <c:crossAx val="2094734552"/>
        <c:crosses val="autoZero"/>
        <c:auto val="1"/>
        <c:lblAlgn val="ctr"/>
        <c:noMultiLvlLbl val="1"/>
      </c:catAx>
      <c:valAx>
        <c:axId val="2094734552"/>
        <c:scaling>
          <c:orientation val="minMax"/>
          <c:max val="15"/>
          <c:min val="0"/>
        </c:scaling>
        <c:delete val="0"/>
        <c:axPos val="l"/>
        <c:majorGridlines>
          <c:spPr>
            <a:ln w="6350" cap="flat">
              <a:solidFill>
                <a:srgbClr val="2D333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9AA2AD"/>
                </a:solidFill>
                <a:latin typeface="+mn-lt"/>
              </a:defRPr>
            </a:pPr>
            <a:endParaRPr lang="en-US"/>
          </a:p>
        </c:txPr>
        <c:crossAx val="2094734554"/>
        <c:crosses val="autoZero"/>
        <c:crossBetween val="between"/>
        <c:majorUnit val="5"/>
      </c:valAx>
      <c:spPr>
        <a:noFill/>
        <a:ln>
          <a:noFill/>
        </a:ln>
        <a:effectLst/>
      </c:spPr>
    </c:plotArea>
    <c:legend>
      <c:legendPos val="b"/>
      <c:overlay val="0"/>
      <c:txPr>
        <a:bodyPr/>
        <a:lstStyle/>
        <a:p>
          <a:pPr>
            <a:defRPr sz="1100">
              <a:solidFill>
                <a:srgbClr val="9AA2AD"/>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ECE8E1"/>
                </a:solidFill>
                <a:latin typeface="+mn-lt"/>
              </a:defRPr>
            </a:pPr>
            <a:r>
              <a:rPr sz="1300" b="0" i="0" u="none" strike="noStrike">
                <a:solidFill>
                  <a:srgbClr val="ECE8E1"/>
                </a:solidFill>
                <a:latin typeface="+mn-lt"/>
              </a:rPr>
              <a:t>Mistakes reported on the exact fix line (of 24)</a:t>
            </a:r>
          </a:p>
        </c:rich>
      </c:tx>
      <c:layout/>
      <c:overlay val="0"/>
    </c:title>
    <c:autoTitleDeleted val="0"/>
    <c:plotArea>
      <c:layout/>
      <c:barChart>
        <c:barDir val="bar"/>
        <c:grouping val="clustered"/>
        <c:varyColors val="0"/>
        <c:ser>
          <c:idx val="0"/>
          <c:order val="0"/>
          <c:tx>
            <c:strRef>
              <c:f>Sheet1!$B$1</c:f>
              <c:strCache>
                <c:ptCount val="1"/>
                <c:pt idx="0">
                  <c:v>Exact fix line</c:v>
                </c:pt>
              </c:strCache>
            </c:strRef>
          </c:tx>
          <c:spPr>
            <a:solidFill>
              <a:srgbClr val="9AA2AD"/>
            </a:solidFill>
            <a:effectLst/>
          </c:spPr>
          <c:invertIfNegative val="0"/>
          <c:dLbls>
            <c:numFmt formatCode="#,##0" sourceLinked="0"/>
            <c:txPr>
              <a:bodyPr/>
              <a:lstStyle/>
              <a:p>
                <a:pPr>
                  <a:defRPr b="0" i="0" strike="noStrike" sz="1200" u="none">
                    <a:solidFill>
                      <a:srgbClr val="ECE8E1"/>
                    </a:solidFill>
                    <a:latin typeface="+mn-lt"/>
                  </a:defRPr>
                </a:pPr>
              </a:p>
            </c:txPr>
            <c:showLegendKey val="0"/>
            <c:showVal val="1"/>
            <c:showCatName val="0"/>
            <c:showSerName val="0"/>
            <c:showPercent val="0"/>
            <c:showBubbleSize val="0"/>
            <c:showLeaderLines val="0"/>
          </c:dLbls>
          <c:dPt>
            <c:idx val="0"/>
            <c:invertIfNegative val="0"/>
            <c:bubble3D val="0"/>
            <c:spPr>
              <a:solidFill>
                <a:srgbClr val="9AA2AD"/>
              </a:solidFill>
              <a:effectLst/>
            </c:spPr>
          </c:dPt>
          <c:dPt>
            <c:idx val="1"/>
            <c:invertIfNegative val="0"/>
            <c:bubble3D val="0"/>
            <c:spPr>
              <a:solidFill>
                <a:srgbClr val="9AA2AD"/>
              </a:solidFill>
              <a:effectLst/>
            </c:spPr>
          </c:dPt>
          <c:dPt>
            <c:idx val="2"/>
            <c:invertIfNegative val="0"/>
            <c:bubble3D val="0"/>
            <c:spPr>
              <a:solidFill>
                <a:srgbClr val="4CC38A"/>
              </a:solidFill>
              <a:effectLst/>
            </c:spPr>
          </c:dPt>
          <c:cat>
            <c:multiLvlStrRef>
              <c:f>Sheet1!$A$2:$A$4</c:f>
              <c:multiLvlStrCache>
                <c:ptCount val="3"/>
                <c:lvl>
                  <c:pt idx="0">
                    <c:v>gcc 11.4</c:v>
                  </c:pt>
                  <c:pt idx="1">
                    <c:v>ErrorBuddy, detection point</c:v>
                  </c:pt>
                  <c:pt idx="2">
                    <c:v>ErrorBuddy, fix point (shipped)</c:v>
                  </c:pt>
                </c:lvl>
              </c:multiLvlStrCache>
            </c:multiLvlStrRef>
          </c:cat>
          <c:val>
            <c:numRef>
              <c:f>Sheet1!$B$2:$B$4</c:f>
              <c:numCache>
                <c:formatCode>General</c:formatCode>
                <c:ptCount val="3"/>
                <c:pt idx="0">
                  <c:v>20</c:v>
                </c:pt>
                <c:pt idx="1">
                  <c:v>21</c:v>
                </c:pt>
                <c:pt idx="2">
                  <c:v>24</c:v>
                </c:pt>
              </c:numCache>
            </c:numRef>
          </c:val>
        </c:ser>
        <c:dLbls>
          <c:numFmt formatCode="#,##0" sourceLinked="0"/>
          <c:txPr>
            <a:bodyPr/>
            <a:lstStyle/>
            <a:p>
              <a:pPr>
                <a:defRPr b="0" i="0" strike="noStrike" sz="1200" u="none">
                  <a:solidFill>
                    <a:srgbClr val="ECE8E1"/>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9AA2AD"/>
                </a:solidFill>
                <a:latin typeface="+mn-lt"/>
              </a:defRPr>
            </a:pPr>
            <a:endParaRPr lang="en-US"/>
          </a:p>
        </c:txPr>
        <c:crossAx val="2094734552"/>
        <c:crosses val="autoZero"/>
        <c:auto val="1"/>
        <c:lblAlgn val="ctr"/>
        <c:noMultiLvlLbl val="1"/>
      </c:catAx>
      <c:valAx>
        <c:axId val="2094734552"/>
        <c:scaling>
          <c:orientation val="minMax"/>
          <c:max val="25"/>
          <c:min val="0"/>
        </c:scaling>
        <c:delete val="0"/>
        <c:axPos val="b"/>
        <c:majorGridlines>
          <c:spPr>
            <a:ln w="6350" cap="flat">
              <a:solidFill>
                <a:srgbClr val="2D333D"/>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9AA2AD"/>
                </a:solidFill>
                <a:latin typeface="+mn-lt"/>
              </a:defRPr>
            </a:pPr>
            <a:endParaRPr lang="en-US"/>
          </a:p>
        </c:txPr>
        <c:crossAx val="2094734554"/>
        <c:crosses val="autoZero"/>
        <c:crossBetween val="between"/>
        <c:majorUnit val="5"/>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ErrorBuddy is a small compiler written in C++17 with only the standard library. It takes a beginner language through lexing, parsing, semantic checks and three-address code, and its main contribution is the error message: the line where the fix belongs, plain English, and one concrete suggestion. This deck combines the earlier presentation and the architecture deck into one: problem, language, architecture, each phase, the web playground, testing, the case study, and what is built versus planned.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are from the source tree as of 26 Oct 2026: lexer.cpp, parser.cpp, main.cpp and the two headers add up to about 730 lines. make test passes all 10 example programs, and the case study shows every one of 24 classic mistakes reported on the line where the fix belongs.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beginner forgets one semicolon. gcc reports the next line, uses parser vocabulary like 'expected ... before', and never says what to type. Students lose a lot of time on messages like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ErrorBuddy's idea: an error is not a string, it is a CompileError with four fields. Any phase can throw it. main.cpp prints it in one fixed format. The four fields are what make the message teachable: where, which phase, what went wrong, and how to fix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were the project goals: a working compiler down to intermediate code, every core phase, errors that read like a tutor, and only hand-written C++ with no Lex or Yacc so every message is under our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variable is an int and must be declared with a starting value. Arithmetic is + - * / with normal precedence and parentheses. print outputs any expression. Statements end with a semicolon and // starts a comment. There is no unary minus, no loops, no if/else and no functions, and compilation stops at the first error. The original proposal targeted a larger beginner-C subset; that is covered on the scope slide as planned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three C++ files. lexer.cpp is Phase 1. parser.cpp does Phases 2 to 4 in a single pass: while it recognises a statement it checks its meaning and emits its TAC. That is syntax-directed translation. Errors use one channel: a CompileError struct defined in lexer.h that any phase can throw. main.cpp catches it and prints it, and then no TAC is shown. Exit codes: 0 success, 1 compile error, 2 bad usage or unreadable file, 3 internal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Line counts from wc -l on 26 Oct 2026. The compiler itself is about 730 lines across the three .cpp files and two headers. CompileError lives in lexer.h so every phase can include and throw it. The parser holds most of Phase 5 as well: the diagnosis helpers and the typo hints.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Running ./errorbuddy examples/precedence.txt --tokens. main() reads the arguments and the whole file. tokenize() returns 22 tokens plus END_OF_FILE, each tagged with its line, and --tokens prints them as a table. The parser then loops over statements; for each one it parses, checks names and values against the symbol table, and appends TAC. If every statement passes, main prints TAC, symbol table and the phase summary and exits 0. At the first problem a CompileError is thrown, main prints the four fields, no TAC is shown, and the exit code is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control flow of parser.cpp. parseProgram rejects an empty file, then calls statement until END_OF_FILE. statement dispatches on the first token. Every rule descends through expression, term and factor; binary computes the value, checks division by zero and int range, and emits one TAC instruction. expectSemicolon ends each statement and, if the semicolon is missing, diagnoses why. Each coral note is a place a CompileError can be thrown.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hand-written scanner: one loop over the characters. A newline increments the line counter, whitespace and // comments are skipped, runs of digits become NUMBER, letters or underscore start a name and int and print become keywords, and single characters become symbols. It always appends END_OF_FILE. The line stored on every token is what later makes accurate error lines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Recursive descent: each grammar rule is one C++ function. expression calls term, term calls factor. Because * and / live one level deeper than + and -, they bind tighter without any precedence table. The while loops in expression and term make operators left-associative, so 10 - 4 - 3 is (10 - 4) - 3. factor recurses on '(' with a nesting limit of 200. Writing the parser by hand gives full control over every error message, which is the point of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trace for int c = a + b * 2. declaration calls expression; term returns a; plus is seen; the next term takes b, sees star, takes 2 and calls binary, which emits t1 = b * 2. Back in expression, binary emits t2 = a + t1. expectSemicolon finds the semicolon, c goes into the symbol table, and c = t2 is emitted. Code for each statement is emitted as soon as it is parsed, so TAC stays in source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symbol table is a std::map from name to Symbol {declaredLine, value}. Semantic checks run inside the parser at the moment each name or operator is seen. A name is added only after its initial value is parsed, so int a = a + 1 is caught. Because the language has no input and no loops, every value is known at compile time; that is how a / zero is caught even when zero is a variable.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output for examples/valid.txt: 12 instructions. Each instruction has at most one operator. Temporaries t1, t2 and so on are numbered by newTemp, which skips any name the user already wrote so a temp never clashes with a variable. Parentheses only change grouping and produce no instructions. TAC is printed only if the whole program passes.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row is real ErrorBuddy output from the examples folder or the case-study corpus. The message names the rule that was broken in plain English, and the suggestion says what to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expectSemicolon runs when a statement should be over. If the next token is not a semicolon, it looks at what it is instead to name the likely cause. The last rule is why a missing semicolon on line 2 is reported on line 2, not on line 3 where the parser noticed it. factorError and unknownStatementError use the same idea: look at the previous and next token instead of printing a generic syntax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Hints use Levenshtein distance computed in a single rolling row (editDistance in parser.cpp). The case study tried four policies on 23 typo cases from case_study/corpus.py. Looser limits find more right answers but also more wrong ones. The shipped rule allows 1 edit for names up to 3 letters, 2 for longer names, skips names shorter than 3 letters as candidates, and never suggests the word itself. It gives the fewest wrong suggestions, 6, while still getting 12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web starts web/server.py on port 8795, using only the Python standard library. POST /api/compile writes the source to a temp file and runs the real ./errorbuddy with --tokens and a 5-second timeout, then parses its text output into JSON: tokens, error, TAC, symbols and phases. The page recompiles about 350 ms after you stop typing, highlights the error line, and the phase strip shows where compilation stopped. Example buttons load the programs from examples/. Nothing is reimplemented in JavaScript.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test runs every program in examples/ and diffs its output against examples/expected/*.out. One sample program per error type plus two valid programs. All 10 passed when this deck was built on 26 Oct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case_study/run_study.py runs 24 classic beginner mistakes through gcc 11.4 (the equivalent C, -Wall -Wextra, first diagnostic) and through two ErrorBuddy variants. Detection point reports the line where the parser noticed the problem; fix point, which is shipped, reports the previous token's line for a missing semicolon. gcc missed one case entirely: division by a variable that is 0. Its three late reports, and the detection-point variant's three, were all a missing semicolon.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case_study/out_lexer.txt compares the shipped lexer with a variant that drops one rule. Without the comment rule, // becomes two slashes and the next line fails. Without the digit-then-letter rule, 2nd splits into 2 and nd and the message no longer names the real mistake. Without whole-word keyword matching, interest is read as int + erest.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original proposal targeted a beginner-C subset with if/else, while and for loops, comparison and logical operators and printf. What is implemented is a smaller language, int, arithmetic and print, so that every phase could be built completely and the error messages could be the focus. The right column is planned work, not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recap: five phases in three C++ files, errors carried as one structured object, every one of 24 case-study mistakes reported on the line where the fix belongs, and 10 of 10 example programs passing. The commands on the right reproduce everything shown in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EB_TITLE">
    <p:bg>
      <p:bgPr>
        <a:solidFill>
          <a:srgbClr val="101318"/>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1097280"/>
            <a:ext cx="4389120" cy="914400"/>
          </a:xfrm>
          <a:prstGeom prst="rect">
            <a:avLst/>
          </a:prstGeom>
          <a:noFill/>
          <a:ln/>
        </p:spPr>
        <p:txBody>
          <a:bodyPr wrap="square" rtlCol="0"/>
          <a:lstStyle>
            <a:lvl1pPr algn="l" indent="0" marL="0">
              <a:buNone/>
              <a:defRPr lang="en-US" sz="4600" b="1" dirty="0">
                <a:solidFill>
                  <a:schemeClr val="bg1"/>
                </a:solidFill>
              </a:defRPr>
            </a:lvl1pPr>
          </a:lstStyle>
          <a:p>
            <a:pPr algn="l" indent="0" marL="0">
              <a:buNone/>
            </a:pPr>
            <a:endParaRPr lang="en-US" sz="4600" dirty="0"/>
          </a:p>
        </p:txBody>
      </p:sp>
      <p:sp>
        <p:nvSpPr>
          <p:cNvPr id="3" name="Text 0"/>
          <p:cNvSpPr/>
          <p:nvPr>
            <p:ph idx="101" type="body" hasCustomPrompt="1"/>
          </p:nvPr>
        </p:nvSpPr>
        <p:spPr>
          <a:xfrm>
            <a:off x="457200" y="2148840"/>
            <a:ext cx="4114800" cy="109728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EB_SECTION">
    <p:bg>
      <p:bgPr>
        <a:solidFill>
          <a:srgbClr val="101318"/>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011680"/>
            <a:ext cx="8229600" cy="8229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457200" y="2880360"/>
            <a:ext cx="7315200" cy="731520"/>
          </a:xfrm>
          <a:prstGeom prst="rect">
            <a:avLst/>
          </a:prstGeom>
          <a:noFill/>
          <a:ln/>
        </p:spPr>
        <p:txBody>
          <a:bodyPr wrap="square" rtlCol="0"/>
          <a:lstStyle>
            <a:lvl1pPr indent="0" marL="0">
              <a:buNone/>
              <a:defRPr lang="en-US" sz="1600" dirty="0">
                <a:solidFill>
                  <a:schemeClr val="bg2"/>
                </a:solidFill>
              </a:defRPr>
            </a:lvl1pPr>
          </a:lstStyle>
          <a:p>
            <a:pPr indent="0" marL="0">
              <a:buNone/>
            </a:pPr>
            <a:endParaRPr lang="en-US" sz="1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EB_CONTENT">
    <p:bg>
      <p:bgPr>
        <a:solidFill>
          <a:srgbClr val="101318"/>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rtlCol="0"/>
          <a:lstStyle>
            <a:lvl1pPr algn="l" indent="0" marL="0">
              <a:buNone/>
              <a:defRPr lang="en-US" sz="2600" b="1" dirty="0">
                <a:solidFill>
                  <a:schemeClr val="bg1"/>
                </a:solidFill>
              </a:defRPr>
            </a:lvl1pPr>
          </a:lstStyle>
          <a:p>
            <a:pPr algn="l" indent="0" marL="0">
              <a:buNone/>
            </a:pPr>
            <a:endParaRPr lang="en-US" sz="2600" dirty="0"/>
          </a:p>
        </p:txBody>
      </p:sp>
      <p:sp>
        <p:nvSpPr>
          <p:cNvPr id="3" name="Text 0"/>
          <p:cNvSpPr/>
          <p:nvPr/>
        </p:nvSpPr>
        <p:spPr>
          <a:xfrm>
            <a:off x="5120640" y="4736592"/>
            <a:ext cx="3108960" cy="274320"/>
          </a:xfrm>
          <a:prstGeom prst="rect">
            <a:avLst/>
          </a:prstGeom>
          <a:noFill/>
          <a:ln/>
        </p:spPr>
        <p:txBody>
          <a:bodyPr wrap="square" lIns="0" tIns="0" rIns="0" bIns="0" rtlCol="0" anchor="ctr"/>
          <a:lstStyle/>
          <a:p>
            <a:pPr algn="r" indent="0" marL="0">
              <a:buNone/>
            </a:pPr>
            <a:r>
              <a:rPr lang="en-US" sz="1000" dirty="0">
                <a:solidFill>
                  <a:schemeClr val="bg2"/>
                </a:solidFill>
              </a:rPr>
              <a:t>ErrorBuddy  ·  Compiler Design Project</a:t>
            </a:r>
            <a:endParaRPr lang="en-US" sz="1000" dirty="0"/>
          </a:p>
        </p:txBody>
      </p:sp>
      <p:sp>
        <p:nvSpPr>
          <p:cNvPr id="25" name="Slide Number Placeholder 0"/>
          <p:cNvSpPr>
            <a:spLocks noGrp="1"/>
          </p:cNvSpPr>
          <p:nvPr>
            <p:ph type="sldNum" sz="quarter" idx="4294967295"/>
          </p:nvPr>
        </p:nvSpPr>
        <p:spPr>
          <a:xfrm>
            <a:off x="8321040" y="473659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3659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4.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457200" y="1097280"/>
            <a:ext cx="4389120" cy="914400"/>
          </a:xfrm>
          <a:prstGeom prst="rect">
            <a:avLst/>
          </a:prstGeom>
          <a:noFill/>
          <a:ln/>
        </p:spPr>
        <p:txBody>
          <a:bodyPr wrap="square" lIns="0" tIns="0" rIns="0" bIns="0" rtlCol="0" anchor="ctr"/>
          <a:lstStyle/>
          <a:p>
            <a:pPr algn="l" indent="0" marL="0">
              <a:buNone/>
            </a:pPr>
            <a:r>
              <a:rPr lang="en-US" sz="4600" b="1" dirty="0">
                <a:solidFill>
                  <a:schemeClr val="bg1"/>
                </a:solidFill>
              </a:rPr>
              <a:t>Error</a:t>
            </a:r>
            <a:pPr algn="l" indent="0" marL="0">
              <a:buNone/>
            </a:pPr>
            <a:r>
              <a:rPr lang="en-US" sz="4600" b="1" dirty="0">
                <a:solidFill>
                  <a:schemeClr val="accent1"/>
                </a:solidFill>
              </a:rPr>
              <a:t>Buddy</a:t>
            </a:r>
            <a:endParaRPr lang="en-US" sz="4600" dirty="0"/>
          </a:p>
        </p:txBody>
      </p:sp>
      <p:sp>
        <p:nvSpPr>
          <p:cNvPr id="3" name="Text 0"/>
          <p:cNvSpPr/>
          <p:nvPr>
            <p:ph idx="101" type="body" hasCustomPrompt="1"/>
          </p:nvPr>
        </p:nvSpPr>
        <p:spPr>
          <a:xfrm>
            <a:off x="457200" y="2148840"/>
            <a:ext cx="4114800" cy="1097280"/>
          </a:xfrm>
          <a:prstGeom prst="rect">
            <a:avLst/>
          </a:prstGeom>
          <a:noFill/>
          <a:ln/>
        </p:spPr>
        <p:txBody>
          <a:bodyPr wrap="square" lIns="0" tIns="0" rIns="0" bIns="0" rtlCol="0" anchor="t"/>
          <a:lstStyle/>
          <a:p>
            <a:pPr indent="0" marL="0">
              <a:buNone/>
            </a:pPr>
            <a:r>
              <a:rPr lang="en-US" sz="1800" dirty="0">
                <a:solidFill>
                  <a:schemeClr val="bg2"/>
                </a:solidFill>
              </a:rPr>
              <a:t>A beginner compiler that explains its own errors: the right line, plain words, one concrete fix.</a:t>
            </a:r>
            <a:endParaRPr lang="en-US" sz="1800" dirty="0"/>
          </a:p>
        </p:txBody>
      </p:sp>
      <p:sp>
        <p:nvSpPr>
          <p:cNvPr id="4" name="text-1"/>
          <p:cNvSpPr txBox="1"/>
          <p:nvPr/>
        </p:nvSpPr>
        <p:spPr>
          <a:xfrm>
            <a:off x="457200" y="3429000"/>
            <a:ext cx="4023360" cy="274320"/>
          </a:xfrm>
          <a:prstGeom prst="rect">
            <a:avLst/>
          </a:prstGeom>
          <a:noFill/>
          <a:ln/>
        </p:spPr>
        <p:txBody>
          <a:bodyPr wrap="square" lIns="0" tIns="0" rIns="0" bIns="0" rtlCol="0" anchor="t"/>
          <a:lstStyle/>
          <a:p>
            <a:pPr indent="0" marL="0">
              <a:buNone/>
            </a:pPr>
            <a:r>
              <a:rPr lang="en-US" sz="1300" dirty="0">
                <a:solidFill>
                  <a:schemeClr val="bg2"/>
                </a:solidFill>
              </a:rPr>
              <a:t>Compiler Design Project · C++17</a:t>
            </a:r>
            <a:endParaRPr lang="en-US" sz="1300" dirty="0"/>
          </a:p>
        </p:txBody>
      </p:sp>
      <p:sp>
        <p:nvSpPr>
          <p:cNvPr id="5" name="text-2"/>
          <p:cNvSpPr txBox="1"/>
          <p:nvPr/>
        </p:nvSpPr>
        <p:spPr>
          <a:xfrm>
            <a:off x="457200" y="3703320"/>
            <a:ext cx="4023360" cy="274320"/>
          </a:xfrm>
          <a:prstGeom prst="rect">
            <a:avLst/>
          </a:prstGeom>
          <a:noFill/>
          <a:ln/>
        </p:spPr>
        <p:txBody>
          <a:bodyPr wrap="square" lIns="0" tIns="0" rIns="0" bIns="0" rtlCol="0" anchor="t"/>
          <a:lstStyle/>
          <a:p>
            <a:pPr indent="0" marL="0">
              <a:buNone/>
            </a:pPr>
            <a:r>
              <a:rPr lang="en-US" sz="1300" i="1" dirty="0">
                <a:solidFill>
                  <a:schemeClr val="bg2"/>
                </a:solidFill>
              </a:rPr>
              <a:t>Architecture, every phase, evaluation and scope in one deck</a:t>
            </a:r>
            <a:endParaRPr lang="en-US" sz="1300" dirty="0"/>
          </a:p>
        </p:txBody>
      </p:sp>
      <p:sp>
        <p:nvSpPr>
          <p:cNvPr id="6" name="panel-3"/>
          <p:cNvSpPr/>
          <p:nvPr/>
        </p:nvSpPr>
        <p:spPr>
          <a:xfrm>
            <a:off x="4937760" y="1097280"/>
            <a:ext cx="3749040" cy="2926080"/>
          </a:xfrm>
          <a:prstGeom prst="roundRect">
            <a:avLst>
              <a:gd name="adj" fmla="val 2500"/>
            </a:avLst>
          </a:prstGeom>
          <a:solidFill>
            <a:schemeClr val="tx1"/>
          </a:solidFill>
          <a:ln w="9525">
            <a:solidFill>
              <a:schemeClr val="accent5"/>
            </a:solidFill>
            <a:prstDash val="solid"/>
          </a:ln>
        </p:spPr>
      </p:sp>
      <p:sp>
        <p:nvSpPr>
          <p:cNvPr id="7" name="text-4"/>
          <p:cNvSpPr txBox="1"/>
          <p:nvPr/>
        </p:nvSpPr>
        <p:spPr>
          <a:xfrm>
            <a:off x="5074920" y="1207008"/>
            <a:ext cx="3474720" cy="2706624"/>
          </a:xfrm>
          <a:prstGeom prst="rect">
            <a:avLst/>
          </a:prstGeom>
          <a:noFill/>
          <a:ln/>
        </p:spPr>
        <p:txBody>
          <a:bodyPr wrap="square" lIns="0" tIns="0" rIns="0" bIns="0" rtlCol="0" anchor="t"/>
          <a:lstStyle/>
          <a:p>
            <a:pPr indent="0" marL="0">
              <a:lnSpc>
                <a:spcPct val="110000"/>
              </a:lnSpc>
              <a:buNone/>
            </a:pPr>
            <a:r>
              <a:rPr lang="en-US" sz="1300" dirty="0">
                <a:solidFill>
                  <a:srgbClr val="4CC38A"/>
                </a:solidFill>
                <a:latin typeface="Courier New" pitchFamily="34" charset="0"/>
                <a:ea typeface="Courier New" pitchFamily="34" charset="-122"/>
                <a:cs typeface="Courier New" pitchFamily="34" charset="-120"/>
              </a:rPr>
              <a:t>$ </a:t>
            </a:r>
            <a:pPr indent="0" marL="0">
              <a:lnSpc>
                <a:spcPct val="110000"/>
              </a:lnSpc>
              <a:buNone/>
            </a:pPr>
            <a:r>
              <a:rPr lang="en-US" sz="1300" dirty="0">
                <a:solidFill>
                  <a:schemeClr val="bg1"/>
                </a:solidFill>
                <a:latin typeface="Courier New" pitchFamily="34" charset="0"/>
                <a:ea typeface="Courier New" pitchFamily="34" charset="-122"/>
                <a:cs typeface="Courier New" pitchFamily="34" charset="-120"/>
              </a:rPr>
              <a:t>./errorbuddy missing_semicolon.txt</a:t>
            </a:r>
            <a:endParaRPr lang="en-US" sz="1300" dirty="0"/>
          </a:p>
          <a:p>
            <a:pPr indent="0" marL="0">
              <a:lnSpc>
                <a:spcPct val="110000"/>
              </a:lnSpc>
              <a:buNone/>
            </a:pPr>
            <a:endParaRPr lang="en-US" sz="1300" dirty="0"/>
          </a:p>
          <a:p>
            <a:pPr indent="0" marL="0">
              <a:lnSpc>
                <a:spcPct val="110000"/>
              </a:lnSpc>
              <a:buNone/>
            </a:pPr>
            <a:r>
              <a:rPr lang="en-US" sz="1300" dirty="0">
                <a:solidFill>
                  <a:srgbClr val="F2775F"/>
                </a:solidFill>
                <a:latin typeface="Courier New" pitchFamily="34" charset="0"/>
                <a:ea typeface="Courier New" pitchFamily="34" charset="-122"/>
                <a:cs typeface="Courier New" pitchFamily="34" charset="-120"/>
              </a:rPr>
              <a:t>Error on line 2:</a:t>
            </a:r>
            <a:endParaRPr lang="en-US" sz="1300" dirty="0"/>
          </a:p>
          <a:p>
            <a:pPr indent="0" marL="0">
              <a:lnSpc>
                <a:spcPct val="110000"/>
              </a:lnSpc>
              <a:buNone/>
            </a:pPr>
            <a:r>
              <a:rPr lang="en-US" sz="1300" dirty="0">
                <a:solidFill>
                  <a:schemeClr val="bg1"/>
                </a:solidFill>
                <a:latin typeface="Courier New" pitchFamily="34" charset="0"/>
                <a:ea typeface="Courier New" pitchFamily="34" charset="-122"/>
                <a:cs typeface="Courier New" pitchFamily="34" charset="-120"/>
              </a:rPr>
              <a:t>Expected ';' at the end of the</a:t>
            </a:r>
            <a:endParaRPr lang="en-US" sz="1300" dirty="0"/>
          </a:p>
          <a:p>
            <a:pPr indent="0" marL="0">
              <a:lnSpc>
                <a:spcPct val="110000"/>
              </a:lnSpc>
              <a:buNone/>
            </a:pPr>
            <a:r>
              <a:rPr lang="en-US" sz="1300" dirty="0">
                <a:solidFill>
                  <a:schemeClr val="bg1"/>
                </a:solidFill>
                <a:latin typeface="Courier New" pitchFamily="34" charset="0"/>
                <a:ea typeface="Courier New" pitchFamily="34" charset="-122"/>
                <a:cs typeface="Courier New" pitchFamily="34" charset="-120"/>
              </a:rPr>
              <a:t>statement.</a:t>
            </a:r>
            <a:endParaRPr lang="en-US" sz="1300" dirty="0"/>
          </a:p>
          <a:p>
            <a:pPr indent="0" marL="0">
              <a:lnSpc>
                <a:spcPct val="110000"/>
              </a:lnSpc>
              <a:buNone/>
            </a:pPr>
            <a:r>
              <a:rPr lang="en-US" sz="1300" dirty="0">
                <a:solidFill>
                  <a:srgbClr val="E2B451"/>
                </a:solidFill>
                <a:latin typeface="Courier New" pitchFamily="34" charset="0"/>
                <a:ea typeface="Courier New" pitchFamily="34" charset="-122"/>
                <a:cs typeface="Courier New" pitchFamily="34" charset="-120"/>
              </a:rPr>
              <a:t>Suggestion: </a:t>
            </a:r>
            <a:pPr indent="0" marL="0">
              <a:lnSpc>
                <a:spcPct val="110000"/>
              </a:lnSpc>
              <a:buNone/>
            </a:pPr>
            <a:r>
              <a:rPr lang="en-US" sz="1300" dirty="0">
                <a:solidFill>
                  <a:schemeClr val="bg1"/>
                </a:solidFill>
                <a:latin typeface="Courier New" pitchFamily="34" charset="0"/>
                <a:ea typeface="Courier New" pitchFamily="34" charset="-122"/>
                <a:cs typeface="Courier New" pitchFamily="34" charset="-120"/>
              </a:rPr>
              <a:t>Add a semicolon</a:t>
            </a:r>
            <a:endParaRPr lang="en-US" sz="1300" dirty="0"/>
          </a:p>
          <a:p>
            <a:pPr indent="0" marL="0">
              <a:lnSpc>
                <a:spcPct val="110000"/>
              </a:lnSpc>
              <a:buNone/>
            </a:pPr>
            <a:r>
              <a:rPr lang="en-US" sz="1300" dirty="0">
                <a:solidFill>
                  <a:schemeClr val="bg1"/>
                </a:solidFill>
                <a:latin typeface="Courier New" pitchFamily="34" charset="0"/>
                <a:ea typeface="Courier New" pitchFamily="34" charset="-122"/>
                <a:cs typeface="Courier New" pitchFamily="34" charset="-120"/>
              </a:rPr>
              <a:t>after '10'.</a:t>
            </a:r>
            <a:endParaRPr lang="en-US" sz="1300" dirty="0"/>
          </a:p>
          <a:p>
            <a:pPr indent="0" marL="0">
              <a:lnSpc>
                <a:spcPct val="110000"/>
              </a:lnSpc>
              <a:buNone/>
            </a:pPr>
            <a:endParaRPr lang="en-US" sz="1300" dirty="0"/>
          </a:p>
          <a:p>
            <a:pPr indent="0" marL="0">
              <a:lnSpc>
                <a:spcPct val="110000"/>
              </a:lnSpc>
              <a:buNone/>
            </a:pPr>
            <a:r>
              <a:rPr lang="en-US" sz="1300" dirty="0">
                <a:solidFill>
                  <a:srgbClr val="9AA2AD"/>
                </a:solidFill>
                <a:latin typeface="Courier New" pitchFamily="34" charset="0"/>
                <a:ea typeface="Courier New" pitchFamily="34" charset="-122"/>
                <a:cs typeface="Courier New" pitchFamily="34" charset="-120"/>
              </a:rPr>
              <a:t>(Found during: Syntax Analysis)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600" b="1" dirty="0">
                <a:solidFill>
                  <a:schemeClr val="bg1"/>
                </a:solidFill>
              </a:rPr>
              <a:t>ErrorBuddy at a glance</a:t>
            </a:r>
            <a:endParaRPr lang="en-US" sz="2600" dirty="0"/>
          </a:p>
        </p:txBody>
      </p:sp>
      <p:sp>
        <p:nvSpPr>
          <p:cNvPr id="4" name="panel-5"/>
          <p:cNvSpPr/>
          <p:nvPr/>
        </p:nvSpPr>
        <p:spPr>
          <a:xfrm>
            <a:off x="457200" y="1143000"/>
            <a:ext cx="1280160" cy="1463040"/>
          </a:xfrm>
          <a:prstGeom prst="roundRect">
            <a:avLst>
              <a:gd name="adj" fmla="val 5714"/>
            </a:avLst>
          </a:prstGeom>
          <a:solidFill>
            <a:schemeClr val="tx2"/>
          </a:solidFill>
          <a:ln w="9525">
            <a:solidFill>
              <a:schemeClr val="accent5"/>
            </a:solidFill>
            <a:prstDash val="solid"/>
          </a:ln>
        </p:spPr>
      </p:sp>
      <p:sp>
        <p:nvSpPr>
          <p:cNvPr id="5" name="text-6"/>
          <p:cNvSpPr txBox="1"/>
          <p:nvPr/>
        </p:nvSpPr>
        <p:spPr>
          <a:xfrm>
            <a:off x="457200" y="1325880"/>
            <a:ext cx="1280160" cy="640080"/>
          </a:xfrm>
          <a:prstGeom prst="rect">
            <a:avLst/>
          </a:prstGeom>
          <a:noFill/>
          <a:ln/>
        </p:spPr>
        <p:txBody>
          <a:bodyPr wrap="square" lIns="0" tIns="0" rIns="0" bIns="0" rtlCol="0" anchor="t"/>
          <a:lstStyle/>
          <a:p>
            <a:pPr algn="ctr" indent="0" marL="0">
              <a:buNone/>
            </a:pPr>
            <a:r>
              <a:rPr lang="en-US" sz="3000" b="1" dirty="0">
                <a:solidFill>
                  <a:schemeClr val="bg1"/>
                </a:solidFill>
                <a:latin typeface="Courier New" pitchFamily="34" charset="0"/>
                <a:ea typeface="Courier New" pitchFamily="34" charset="-122"/>
                <a:cs typeface="Courier New" pitchFamily="34" charset="-120"/>
              </a:rPr>
              <a:t>5</a:t>
            </a:r>
            <a:endParaRPr lang="en-US" sz="3000" dirty="0"/>
          </a:p>
        </p:txBody>
      </p:sp>
      <p:sp>
        <p:nvSpPr>
          <p:cNvPr id="6" name="text-7"/>
          <p:cNvSpPr txBox="1"/>
          <p:nvPr/>
        </p:nvSpPr>
        <p:spPr>
          <a:xfrm>
            <a:off x="548640" y="2011680"/>
            <a:ext cx="1097280" cy="502920"/>
          </a:xfrm>
          <a:prstGeom prst="rect">
            <a:avLst/>
          </a:prstGeom>
          <a:noFill/>
          <a:ln/>
        </p:spPr>
        <p:txBody>
          <a:bodyPr wrap="square" lIns="0" tIns="0" rIns="0" bIns="0" rtlCol="0" anchor="t"/>
          <a:lstStyle/>
          <a:p>
            <a:pPr algn="ctr" indent="0" marL="0">
              <a:buNone/>
            </a:pPr>
            <a:r>
              <a:rPr lang="en-US" sz="1200" dirty="0">
                <a:solidFill>
                  <a:schemeClr val="bg2"/>
                </a:solidFill>
              </a:rPr>
              <a:t>compiler phases</a:t>
            </a:r>
            <a:endParaRPr lang="en-US" sz="1200" dirty="0"/>
          </a:p>
        </p:txBody>
      </p:sp>
      <p:sp>
        <p:nvSpPr>
          <p:cNvPr id="7" name="panel-8"/>
          <p:cNvSpPr/>
          <p:nvPr/>
        </p:nvSpPr>
        <p:spPr>
          <a:xfrm>
            <a:off x="1874520" y="1143000"/>
            <a:ext cx="1280160" cy="1463040"/>
          </a:xfrm>
          <a:prstGeom prst="roundRect">
            <a:avLst>
              <a:gd name="adj" fmla="val 5714"/>
            </a:avLst>
          </a:prstGeom>
          <a:solidFill>
            <a:schemeClr val="tx2"/>
          </a:solidFill>
          <a:ln w="9525">
            <a:solidFill>
              <a:schemeClr val="accent5"/>
            </a:solidFill>
            <a:prstDash val="solid"/>
          </a:ln>
        </p:spPr>
      </p:sp>
      <p:sp>
        <p:nvSpPr>
          <p:cNvPr id="8" name="text-9"/>
          <p:cNvSpPr txBox="1"/>
          <p:nvPr/>
        </p:nvSpPr>
        <p:spPr>
          <a:xfrm>
            <a:off x="1874520" y="1325880"/>
            <a:ext cx="1280160" cy="640080"/>
          </a:xfrm>
          <a:prstGeom prst="rect">
            <a:avLst/>
          </a:prstGeom>
          <a:noFill/>
          <a:ln/>
        </p:spPr>
        <p:txBody>
          <a:bodyPr wrap="square" lIns="0" tIns="0" rIns="0" bIns="0" rtlCol="0" anchor="t"/>
          <a:lstStyle/>
          <a:p>
            <a:pPr algn="ctr" indent="0" marL="0">
              <a:buNone/>
            </a:pPr>
            <a:r>
              <a:rPr lang="en-US" sz="3000" b="1" dirty="0">
                <a:solidFill>
                  <a:schemeClr val="bg1"/>
                </a:solidFill>
                <a:latin typeface="Courier New" pitchFamily="34" charset="0"/>
                <a:ea typeface="Courier New" pitchFamily="34" charset="-122"/>
                <a:cs typeface="Courier New" pitchFamily="34" charset="-120"/>
              </a:rPr>
              <a:t>3</a:t>
            </a:r>
            <a:endParaRPr lang="en-US" sz="3000" dirty="0"/>
          </a:p>
        </p:txBody>
      </p:sp>
      <p:sp>
        <p:nvSpPr>
          <p:cNvPr id="9" name="text-10"/>
          <p:cNvSpPr txBox="1"/>
          <p:nvPr/>
        </p:nvSpPr>
        <p:spPr>
          <a:xfrm>
            <a:off x="1965960" y="2011680"/>
            <a:ext cx="1097280" cy="502920"/>
          </a:xfrm>
          <a:prstGeom prst="rect">
            <a:avLst/>
          </a:prstGeom>
          <a:noFill/>
          <a:ln/>
        </p:spPr>
        <p:txBody>
          <a:bodyPr wrap="square" lIns="0" tIns="0" rIns="0" bIns="0" rtlCol="0" anchor="t"/>
          <a:lstStyle/>
          <a:p>
            <a:pPr algn="ctr" indent="0" marL="0">
              <a:buNone/>
            </a:pPr>
            <a:r>
              <a:rPr lang="en-US" sz="1200" dirty="0">
                <a:solidFill>
                  <a:schemeClr val="bg2"/>
                </a:solidFill>
              </a:rPr>
              <a:t>C++ source files</a:t>
            </a:r>
            <a:endParaRPr lang="en-US" sz="1200" dirty="0"/>
          </a:p>
        </p:txBody>
      </p:sp>
      <p:sp>
        <p:nvSpPr>
          <p:cNvPr id="10" name="panel-11"/>
          <p:cNvSpPr/>
          <p:nvPr/>
        </p:nvSpPr>
        <p:spPr>
          <a:xfrm>
            <a:off x="3291840" y="1143000"/>
            <a:ext cx="1280160" cy="1463040"/>
          </a:xfrm>
          <a:prstGeom prst="roundRect">
            <a:avLst>
              <a:gd name="adj" fmla="val 5714"/>
            </a:avLst>
          </a:prstGeom>
          <a:solidFill>
            <a:schemeClr val="tx2"/>
          </a:solidFill>
          <a:ln w="9525">
            <a:solidFill>
              <a:schemeClr val="accent5"/>
            </a:solidFill>
            <a:prstDash val="solid"/>
          </a:ln>
        </p:spPr>
      </p:sp>
      <p:sp>
        <p:nvSpPr>
          <p:cNvPr id="11" name="text-12"/>
          <p:cNvSpPr txBox="1"/>
          <p:nvPr/>
        </p:nvSpPr>
        <p:spPr>
          <a:xfrm>
            <a:off x="3291840" y="1325880"/>
            <a:ext cx="1280160" cy="640080"/>
          </a:xfrm>
          <a:prstGeom prst="rect">
            <a:avLst/>
          </a:prstGeom>
          <a:noFill/>
          <a:ln/>
        </p:spPr>
        <p:txBody>
          <a:bodyPr wrap="square" lIns="0" tIns="0" rIns="0" bIns="0" rtlCol="0" anchor="t"/>
          <a:lstStyle/>
          <a:p>
            <a:pPr algn="ctr" indent="0" marL="0">
              <a:buNone/>
            </a:pPr>
            <a:r>
              <a:rPr lang="en-US" sz="3000" b="1" dirty="0">
                <a:solidFill>
                  <a:schemeClr val="bg1"/>
                </a:solidFill>
                <a:latin typeface="Courier New" pitchFamily="34" charset="0"/>
                <a:ea typeface="Courier New" pitchFamily="34" charset="-122"/>
                <a:cs typeface="Courier New" pitchFamily="34" charset="-120"/>
              </a:rPr>
              <a:t>~730</a:t>
            </a:r>
            <a:endParaRPr lang="en-US" sz="3000" dirty="0"/>
          </a:p>
        </p:txBody>
      </p:sp>
      <p:sp>
        <p:nvSpPr>
          <p:cNvPr id="12" name="text-13"/>
          <p:cNvSpPr txBox="1"/>
          <p:nvPr/>
        </p:nvSpPr>
        <p:spPr>
          <a:xfrm>
            <a:off x="3383280" y="2011680"/>
            <a:ext cx="1097280" cy="502920"/>
          </a:xfrm>
          <a:prstGeom prst="rect">
            <a:avLst/>
          </a:prstGeom>
          <a:noFill/>
          <a:ln/>
        </p:spPr>
        <p:txBody>
          <a:bodyPr wrap="square" lIns="0" tIns="0" rIns="0" bIns="0" rtlCol="0" anchor="t"/>
          <a:lstStyle/>
          <a:p>
            <a:pPr algn="ctr" indent="0" marL="0">
              <a:buNone/>
            </a:pPr>
            <a:r>
              <a:rPr lang="en-US" sz="1200" dirty="0">
                <a:solidFill>
                  <a:schemeClr val="bg2"/>
                </a:solidFill>
              </a:rPr>
              <a:t>lines of C++</a:t>
            </a:r>
            <a:endParaRPr lang="en-US" sz="1200" dirty="0"/>
          </a:p>
        </p:txBody>
      </p:sp>
      <p:sp>
        <p:nvSpPr>
          <p:cNvPr id="13" name="panel-14"/>
          <p:cNvSpPr/>
          <p:nvPr/>
        </p:nvSpPr>
        <p:spPr>
          <a:xfrm>
            <a:off x="457200" y="2834640"/>
            <a:ext cx="1280160" cy="1463040"/>
          </a:xfrm>
          <a:prstGeom prst="roundRect">
            <a:avLst>
              <a:gd name="adj" fmla="val 5714"/>
            </a:avLst>
          </a:prstGeom>
          <a:solidFill>
            <a:schemeClr val="tx2"/>
          </a:solidFill>
          <a:ln w="9525">
            <a:solidFill>
              <a:schemeClr val="accent5"/>
            </a:solidFill>
            <a:prstDash val="solid"/>
          </a:ln>
        </p:spPr>
      </p:sp>
      <p:sp>
        <p:nvSpPr>
          <p:cNvPr id="14" name="text-15"/>
          <p:cNvSpPr txBox="1"/>
          <p:nvPr/>
        </p:nvSpPr>
        <p:spPr>
          <a:xfrm>
            <a:off x="457200" y="3017520"/>
            <a:ext cx="1280160" cy="640080"/>
          </a:xfrm>
          <a:prstGeom prst="rect">
            <a:avLst/>
          </a:prstGeom>
          <a:noFill/>
          <a:ln/>
        </p:spPr>
        <p:txBody>
          <a:bodyPr wrap="square" lIns="0" tIns="0" rIns="0" bIns="0" rtlCol="0" anchor="t"/>
          <a:lstStyle/>
          <a:p>
            <a:pPr algn="ctr" indent="0" marL="0">
              <a:buNone/>
            </a:pPr>
            <a:r>
              <a:rPr lang="en-US" sz="3000" b="1" dirty="0">
                <a:solidFill>
                  <a:schemeClr val="accent2"/>
                </a:solidFill>
                <a:latin typeface="Courier New" pitchFamily="34" charset="0"/>
                <a:ea typeface="Courier New" pitchFamily="34" charset="-122"/>
                <a:cs typeface="Courier New" pitchFamily="34" charset="-120"/>
              </a:rPr>
              <a:t>10/10</a:t>
            </a:r>
            <a:endParaRPr lang="en-US" sz="3000" dirty="0"/>
          </a:p>
        </p:txBody>
      </p:sp>
      <p:sp>
        <p:nvSpPr>
          <p:cNvPr id="15" name="text-16"/>
          <p:cNvSpPr txBox="1"/>
          <p:nvPr/>
        </p:nvSpPr>
        <p:spPr>
          <a:xfrm>
            <a:off x="548640" y="3703320"/>
            <a:ext cx="1097280" cy="502920"/>
          </a:xfrm>
          <a:prstGeom prst="rect">
            <a:avLst/>
          </a:prstGeom>
          <a:noFill/>
          <a:ln/>
        </p:spPr>
        <p:txBody>
          <a:bodyPr wrap="square" lIns="0" tIns="0" rIns="0" bIns="0" rtlCol="0" anchor="t"/>
          <a:lstStyle/>
          <a:p>
            <a:pPr algn="ctr" indent="0" marL="0">
              <a:buNone/>
            </a:pPr>
            <a:r>
              <a:rPr lang="en-US" sz="1200" dirty="0">
                <a:solidFill>
                  <a:schemeClr val="bg2"/>
                </a:solidFill>
              </a:rPr>
              <a:t>tests pass (make test)</a:t>
            </a:r>
            <a:endParaRPr lang="en-US" sz="1200" dirty="0"/>
          </a:p>
        </p:txBody>
      </p:sp>
      <p:sp>
        <p:nvSpPr>
          <p:cNvPr id="16" name="panel-17"/>
          <p:cNvSpPr/>
          <p:nvPr/>
        </p:nvSpPr>
        <p:spPr>
          <a:xfrm>
            <a:off x="1874520" y="2834640"/>
            <a:ext cx="1280160" cy="1463040"/>
          </a:xfrm>
          <a:prstGeom prst="roundRect">
            <a:avLst>
              <a:gd name="adj" fmla="val 5714"/>
            </a:avLst>
          </a:prstGeom>
          <a:solidFill>
            <a:schemeClr val="tx2"/>
          </a:solidFill>
          <a:ln w="9525">
            <a:solidFill>
              <a:schemeClr val="accent5"/>
            </a:solidFill>
            <a:prstDash val="solid"/>
          </a:ln>
        </p:spPr>
      </p:sp>
      <p:sp>
        <p:nvSpPr>
          <p:cNvPr id="17" name="text-18"/>
          <p:cNvSpPr txBox="1"/>
          <p:nvPr/>
        </p:nvSpPr>
        <p:spPr>
          <a:xfrm>
            <a:off x="1874520" y="3017520"/>
            <a:ext cx="1280160" cy="640080"/>
          </a:xfrm>
          <a:prstGeom prst="rect">
            <a:avLst/>
          </a:prstGeom>
          <a:noFill/>
          <a:ln/>
        </p:spPr>
        <p:txBody>
          <a:bodyPr wrap="square" lIns="0" tIns="0" rIns="0" bIns="0" rtlCol="0" anchor="t"/>
          <a:lstStyle/>
          <a:p>
            <a:pPr algn="ctr" indent="0" marL="0">
              <a:buNone/>
            </a:pPr>
            <a:r>
              <a:rPr lang="en-US" sz="3000" b="1" dirty="0">
                <a:solidFill>
                  <a:schemeClr val="accent2"/>
                </a:solidFill>
                <a:latin typeface="Courier New" pitchFamily="34" charset="0"/>
                <a:ea typeface="Courier New" pitchFamily="34" charset="-122"/>
                <a:cs typeface="Courier New" pitchFamily="34" charset="-120"/>
              </a:rPr>
              <a:t>24/24</a:t>
            </a:r>
            <a:endParaRPr lang="en-US" sz="3000" dirty="0"/>
          </a:p>
        </p:txBody>
      </p:sp>
      <p:sp>
        <p:nvSpPr>
          <p:cNvPr id="18" name="text-19"/>
          <p:cNvSpPr txBox="1"/>
          <p:nvPr/>
        </p:nvSpPr>
        <p:spPr>
          <a:xfrm>
            <a:off x="1965960" y="3703320"/>
            <a:ext cx="1097280" cy="502920"/>
          </a:xfrm>
          <a:prstGeom prst="rect">
            <a:avLst/>
          </a:prstGeom>
          <a:noFill/>
          <a:ln/>
        </p:spPr>
        <p:txBody>
          <a:bodyPr wrap="square" lIns="0" tIns="0" rIns="0" bIns="0" rtlCol="0" anchor="t"/>
          <a:lstStyle/>
          <a:p>
            <a:pPr algn="ctr" indent="0" marL="0">
              <a:buNone/>
            </a:pPr>
            <a:r>
              <a:rPr lang="en-US" sz="1200" dirty="0">
                <a:solidFill>
                  <a:schemeClr val="bg2"/>
                </a:solidFill>
              </a:rPr>
              <a:t>mistakes on the fix line</a:t>
            </a:r>
            <a:endParaRPr lang="en-US" sz="1200" dirty="0"/>
          </a:p>
        </p:txBody>
      </p:sp>
      <p:sp>
        <p:nvSpPr>
          <p:cNvPr id="19" name="text-20"/>
          <p:cNvSpPr txBox="1"/>
          <p:nvPr/>
        </p:nvSpPr>
        <p:spPr>
          <a:xfrm>
            <a:off x="4937760" y="1143000"/>
            <a:ext cx="3657600" cy="228600"/>
          </a:xfrm>
          <a:prstGeom prst="rect">
            <a:avLst/>
          </a:prstGeom>
          <a:noFill/>
          <a:ln/>
        </p:spPr>
        <p:txBody>
          <a:bodyPr wrap="square" lIns="0" tIns="0" rIns="0" bIns="0" rtlCol="0" anchor="t"/>
          <a:lstStyle/>
          <a:p>
            <a:pPr indent="0" marL="0">
              <a:buNone/>
            </a:pPr>
            <a:r>
              <a:rPr lang="en-US" sz="1000" b="1" spc="150" kern="0" dirty="0">
                <a:solidFill>
                  <a:schemeClr val="bg2"/>
                </a:solidFill>
              </a:rPr>
              <a:t>IN THIS DECK</a:t>
            </a:r>
            <a:endParaRPr lang="en-US" sz="1000" dirty="0"/>
          </a:p>
        </p:txBody>
      </p:sp>
      <p:sp>
        <p:nvSpPr>
          <p:cNvPr id="20" name="text-21"/>
          <p:cNvSpPr txBox="1"/>
          <p:nvPr/>
        </p:nvSpPr>
        <p:spPr>
          <a:xfrm>
            <a:off x="4937760" y="1463040"/>
            <a:ext cx="457200" cy="411480"/>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01</a:t>
            </a:r>
            <a:endParaRPr lang="en-US" sz="1400" dirty="0"/>
          </a:p>
        </p:txBody>
      </p:sp>
      <p:sp>
        <p:nvSpPr>
          <p:cNvPr id="21" name="text-22"/>
          <p:cNvSpPr txBox="1"/>
          <p:nvPr/>
        </p:nvSpPr>
        <p:spPr>
          <a:xfrm>
            <a:off x="5440680" y="1463040"/>
            <a:ext cx="3246120" cy="457200"/>
          </a:xfrm>
          <a:prstGeom prst="rect">
            <a:avLst/>
          </a:prstGeom>
          <a:noFill/>
          <a:ln/>
        </p:spPr>
        <p:txBody>
          <a:bodyPr wrap="square" lIns="0" tIns="0" rIns="0" bIns="0" rtlCol="0" anchor="t"/>
          <a:lstStyle/>
          <a:p>
            <a:pPr indent="0" marL="0">
              <a:buNone/>
            </a:pPr>
            <a:r>
              <a:rPr lang="en-US" sz="1400" b="1" dirty="0">
                <a:solidFill>
                  <a:schemeClr val="bg1"/>
                </a:solidFill>
              </a:rPr>
              <a:t>Problem and idea</a:t>
            </a:r>
            <a:endParaRPr lang="en-US" sz="1400" dirty="0"/>
          </a:p>
          <a:p>
            <a:pPr indent="0" marL="0">
              <a:buNone/>
            </a:pPr>
            <a:r>
              <a:rPr lang="en-US" sz="1100" dirty="0">
                <a:solidFill>
                  <a:schemeClr val="bg2"/>
                </a:solidFill>
              </a:rPr>
              <a:t>why compiler errors confuse beginners</a:t>
            </a:r>
            <a:endParaRPr lang="en-US" sz="1400" dirty="0"/>
          </a:p>
        </p:txBody>
      </p:sp>
      <p:sp>
        <p:nvSpPr>
          <p:cNvPr id="22" name="text-23"/>
          <p:cNvSpPr txBox="1"/>
          <p:nvPr/>
        </p:nvSpPr>
        <p:spPr>
          <a:xfrm>
            <a:off x="4937760" y="1965960"/>
            <a:ext cx="457200" cy="411480"/>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02</a:t>
            </a:r>
            <a:endParaRPr lang="en-US" sz="1400" dirty="0"/>
          </a:p>
        </p:txBody>
      </p:sp>
      <p:sp>
        <p:nvSpPr>
          <p:cNvPr id="23" name="text-24"/>
          <p:cNvSpPr txBox="1"/>
          <p:nvPr/>
        </p:nvSpPr>
        <p:spPr>
          <a:xfrm>
            <a:off x="5440680" y="1965960"/>
            <a:ext cx="3246120" cy="457200"/>
          </a:xfrm>
          <a:prstGeom prst="rect">
            <a:avLst/>
          </a:prstGeom>
          <a:noFill/>
          <a:ln/>
        </p:spPr>
        <p:txBody>
          <a:bodyPr wrap="square" lIns="0" tIns="0" rIns="0" bIns="0" rtlCol="0" anchor="t"/>
          <a:lstStyle/>
          <a:p>
            <a:pPr indent="0" marL="0">
              <a:buNone/>
            </a:pPr>
            <a:r>
              <a:rPr lang="en-US" sz="1400" b="1" dirty="0">
                <a:solidFill>
                  <a:schemeClr val="bg1"/>
                </a:solidFill>
              </a:rPr>
              <a:t>The language</a:t>
            </a:r>
            <a:endParaRPr lang="en-US" sz="1400" dirty="0"/>
          </a:p>
          <a:p>
            <a:pPr indent="0" marL="0">
              <a:buNone/>
            </a:pPr>
            <a:r>
              <a:rPr lang="en-US" sz="1100" dirty="0">
                <a:solidFill>
                  <a:schemeClr val="bg2"/>
                </a:solidFill>
              </a:rPr>
              <a:t>what ErrorBuddy compiles</a:t>
            </a:r>
            <a:endParaRPr lang="en-US" sz="1400" dirty="0"/>
          </a:p>
        </p:txBody>
      </p:sp>
      <p:sp>
        <p:nvSpPr>
          <p:cNvPr id="24" name="text-25"/>
          <p:cNvSpPr txBox="1"/>
          <p:nvPr/>
        </p:nvSpPr>
        <p:spPr>
          <a:xfrm>
            <a:off x="4937760" y="2468880"/>
            <a:ext cx="457200" cy="411480"/>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03</a:t>
            </a:r>
            <a:endParaRPr lang="en-US" sz="1400" dirty="0"/>
          </a:p>
        </p:txBody>
      </p:sp>
      <p:sp>
        <p:nvSpPr>
          <p:cNvPr id="25" name="text-26"/>
          <p:cNvSpPr txBox="1"/>
          <p:nvPr/>
        </p:nvSpPr>
        <p:spPr>
          <a:xfrm>
            <a:off x="5440680" y="2468880"/>
            <a:ext cx="3246120" cy="457200"/>
          </a:xfrm>
          <a:prstGeom prst="rect">
            <a:avLst/>
          </a:prstGeom>
          <a:noFill/>
          <a:ln/>
        </p:spPr>
        <p:txBody>
          <a:bodyPr wrap="square" lIns="0" tIns="0" rIns="0" bIns="0" rtlCol="0" anchor="t"/>
          <a:lstStyle/>
          <a:p>
            <a:pPr indent="0" marL="0">
              <a:buNone/>
            </a:pPr>
            <a:r>
              <a:rPr lang="en-US" sz="1400" b="1" dirty="0">
                <a:solidFill>
                  <a:schemeClr val="bg1"/>
                </a:solidFill>
              </a:rPr>
              <a:t>Architecture</a:t>
            </a:r>
            <a:endParaRPr lang="en-US" sz="1400" dirty="0"/>
          </a:p>
          <a:p>
            <a:pPr indent="0" marL="0">
              <a:buNone/>
            </a:pPr>
            <a:r>
              <a:rPr lang="en-US" sz="1100" dirty="0">
                <a:solidFill>
                  <a:schemeClr val="bg2"/>
                </a:solidFill>
              </a:rPr>
              <a:t>files, data flow, one compile end to end</a:t>
            </a:r>
            <a:endParaRPr lang="en-US" sz="1400" dirty="0"/>
          </a:p>
        </p:txBody>
      </p:sp>
      <p:sp>
        <p:nvSpPr>
          <p:cNvPr id="26" name="text-27"/>
          <p:cNvSpPr txBox="1"/>
          <p:nvPr/>
        </p:nvSpPr>
        <p:spPr>
          <a:xfrm>
            <a:off x="4937760" y="2971800"/>
            <a:ext cx="457200" cy="411480"/>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04</a:t>
            </a:r>
            <a:endParaRPr lang="en-US" sz="1400" dirty="0"/>
          </a:p>
        </p:txBody>
      </p:sp>
      <p:sp>
        <p:nvSpPr>
          <p:cNvPr id="27" name="text-28"/>
          <p:cNvSpPr txBox="1"/>
          <p:nvPr/>
        </p:nvSpPr>
        <p:spPr>
          <a:xfrm>
            <a:off x="5440680" y="2971800"/>
            <a:ext cx="3246120" cy="457200"/>
          </a:xfrm>
          <a:prstGeom prst="rect">
            <a:avLst/>
          </a:prstGeom>
          <a:noFill/>
          <a:ln/>
        </p:spPr>
        <p:txBody>
          <a:bodyPr wrap="square" lIns="0" tIns="0" rIns="0" bIns="0" rtlCol="0" anchor="t"/>
          <a:lstStyle/>
          <a:p>
            <a:pPr indent="0" marL="0">
              <a:buNone/>
            </a:pPr>
            <a:r>
              <a:rPr lang="en-US" sz="1400" b="1" dirty="0">
                <a:solidFill>
                  <a:schemeClr val="bg1"/>
                </a:solidFill>
              </a:rPr>
              <a:t>The five phases</a:t>
            </a:r>
            <a:endParaRPr lang="en-US" sz="1400" dirty="0"/>
          </a:p>
          <a:p>
            <a:pPr indent="0" marL="0">
              <a:buNone/>
            </a:pPr>
            <a:r>
              <a:rPr lang="en-US" sz="1100" dirty="0">
                <a:solidFill>
                  <a:schemeClr val="bg2"/>
                </a:solidFill>
              </a:rPr>
              <a:t>lexer, parser, symbol table, TAC, errors</a:t>
            </a:r>
            <a:endParaRPr lang="en-US" sz="1400" dirty="0"/>
          </a:p>
        </p:txBody>
      </p:sp>
      <p:sp>
        <p:nvSpPr>
          <p:cNvPr id="28" name="text-29"/>
          <p:cNvSpPr txBox="1"/>
          <p:nvPr/>
        </p:nvSpPr>
        <p:spPr>
          <a:xfrm>
            <a:off x="4937760" y="3474720"/>
            <a:ext cx="457200" cy="411480"/>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05</a:t>
            </a:r>
            <a:endParaRPr lang="en-US" sz="1400" dirty="0"/>
          </a:p>
        </p:txBody>
      </p:sp>
      <p:sp>
        <p:nvSpPr>
          <p:cNvPr id="29" name="text-30"/>
          <p:cNvSpPr txBox="1"/>
          <p:nvPr/>
        </p:nvSpPr>
        <p:spPr>
          <a:xfrm>
            <a:off x="5440680" y="3474720"/>
            <a:ext cx="3246120" cy="457200"/>
          </a:xfrm>
          <a:prstGeom prst="rect">
            <a:avLst/>
          </a:prstGeom>
          <a:noFill/>
          <a:ln/>
        </p:spPr>
        <p:txBody>
          <a:bodyPr wrap="square" lIns="0" tIns="0" rIns="0" bIns="0" rtlCol="0" anchor="t"/>
          <a:lstStyle/>
          <a:p>
            <a:pPr indent="0" marL="0">
              <a:buNone/>
            </a:pPr>
            <a:r>
              <a:rPr lang="en-US" sz="1400" b="1" dirty="0">
                <a:solidFill>
                  <a:schemeClr val="bg1"/>
                </a:solidFill>
              </a:rPr>
              <a:t>Tools and evaluation</a:t>
            </a:r>
            <a:endParaRPr lang="en-US" sz="1400" dirty="0"/>
          </a:p>
          <a:p>
            <a:pPr indent="0" marL="0">
              <a:buNone/>
            </a:pPr>
            <a:r>
              <a:rPr lang="en-US" sz="1100" dirty="0">
                <a:solidFill>
                  <a:schemeClr val="bg2"/>
                </a:solidFill>
              </a:rPr>
              <a:t>playground, tests, case study</a:t>
            </a:r>
            <a:endParaRPr lang="en-US" sz="1400" dirty="0"/>
          </a:p>
        </p:txBody>
      </p:sp>
      <p:sp>
        <p:nvSpPr>
          <p:cNvPr id="30" name="text-31"/>
          <p:cNvSpPr txBox="1"/>
          <p:nvPr/>
        </p:nvSpPr>
        <p:spPr>
          <a:xfrm>
            <a:off x="4937760" y="3977640"/>
            <a:ext cx="457200" cy="411480"/>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06</a:t>
            </a:r>
            <a:endParaRPr lang="en-US" sz="1400" dirty="0"/>
          </a:p>
        </p:txBody>
      </p:sp>
      <p:sp>
        <p:nvSpPr>
          <p:cNvPr id="31" name="text-32"/>
          <p:cNvSpPr txBox="1"/>
          <p:nvPr/>
        </p:nvSpPr>
        <p:spPr>
          <a:xfrm>
            <a:off x="5440680" y="3977640"/>
            <a:ext cx="3246120" cy="457200"/>
          </a:xfrm>
          <a:prstGeom prst="rect">
            <a:avLst/>
          </a:prstGeom>
          <a:noFill/>
          <a:ln/>
        </p:spPr>
        <p:txBody>
          <a:bodyPr wrap="square" lIns="0" tIns="0" rIns="0" bIns="0" rtlCol="0" anchor="t"/>
          <a:lstStyle/>
          <a:p>
            <a:pPr indent="0" marL="0">
              <a:buNone/>
            </a:pPr>
            <a:r>
              <a:rPr lang="en-US" sz="1400" b="1" dirty="0">
                <a:solidFill>
                  <a:schemeClr val="bg1"/>
                </a:solidFill>
              </a:rPr>
              <a:t>Scope</a:t>
            </a:r>
            <a:endParaRPr lang="en-US" sz="1400" dirty="0"/>
          </a:p>
          <a:p>
            <a:pPr indent="0" marL="0">
              <a:buNone/>
            </a:pPr>
            <a:r>
              <a:rPr lang="en-US" sz="1100" dirty="0">
                <a:solidFill>
                  <a:schemeClr val="bg2"/>
                </a:solidFill>
              </a:rPr>
              <a:t>built today versus planned</a:t>
            </a:r>
            <a:endParaRPr lang="en-US" sz="1400" dirty="0"/>
          </a:p>
        </p:txBody>
      </p:sp>
      <p:sp>
        <p:nvSpPr>
          <p:cNvPr id="25" name="Slide Number Placeholder 0"/>
          <p:cNvSpPr>
            <a:spLocks noGrp="1"/>
          </p:cNvSpPr>
          <p:nvPr>
            <p:ph type="sldNum" sz="quarter" idx="4294967295"/>
          </p:nvPr>
        </p:nvSpPr>
        <p:spPr>
          <a:xfrm>
            <a:off x="8321040" y="473659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33"/>
          <p:cNvSpPr txBox="1"/>
          <p:nvPr/>
        </p:nvSpPr>
        <p:spPr>
          <a:xfrm>
            <a:off x="457200" y="1325880"/>
            <a:ext cx="1828800" cy="640080"/>
          </a:xfrm>
          <a:prstGeom prst="rect">
            <a:avLst/>
          </a:prstGeom>
          <a:noFill/>
          <a:ln/>
        </p:spPr>
        <p:txBody>
          <a:bodyPr wrap="square" lIns="0" tIns="0" rIns="0" bIns="0" rtlCol="0" anchor="t"/>
          <a:lstStyle/>
          <a:p>
            <a:pPr indent="0" marL="0">
              <a:buNone/>
            </a:pPr>
            <a:r>
              <a:rPr lang="en-US" sz="4000" b="1" dirty="0">
                <a:solidFill>
                  <a:schemeClr val="accent1"/>
                </a:solidFill>
                <a:latin typeface="Courier New" pitchFamily="34" charset="0"/>
                <a:ea typeface="Courier New" pitchFamily="34" charset="-122"/>
                <a:cs typeface="Courier New" pitchFamily="34" charset="-120"/>
              </a:rPr>
              <a:t>01</a:t>
            </a:r>
            <a:endParaRPr lang="en-US" sz="4000" dirty="0"/>
          </a:p>
        </p:txBody>
      </p:sp>
      <p:sp>
        <p:nvSpPr>
          <p:cNvPr id="3" name="Text 0"/>
          <p:cNvSpPr/>
          <p:nvPr>
            <p:ph idx="100" type="title" hasCustomPrompt="1"/>
          </p:nvPr>
        </p:nvSpPr>
        <p:spPr>
          <a:xfrm>
            <a:off x="457200" y="2011680"/>
            <a:ext cx="8229600" cy="822960"/>
          </a:xfrm>
          <a:prstGeom prst="rect">
            <a:avLst/>
          </a:prstGeom>
          <a:noFill/>
          <a:ln/>
        </p:spPr>
        <p:txBody>
          <a:bodyPr wrap="square" lIns="0" tIns="0" rIns="0" bIns="0" rtlCol="0" anchor="ctr"/>
          <a:lstStyle/>
          <a:p>
            <a:pPr algn="l" indent="0" marL="0">
              <a:buNone/>
            </a:pPr>
            <a:r>
              <a:rPr lang="en-US" sz="4000" b="1" dirty="0">
                <a:solidFill>
                  <a:schemeClr val="bg1"/>
                </a:solidFill>
              </a:rPr>
              <a:t>Problem and idea</a:t>
            </a:r>
            <a:endParaRPr lang="en-US" sz="4000" dirty="0"/>
          </a:p>
        </p:txBody>
      </p:sp>
      <p:sp>
        <p:nvSpPr>
          <p:cNvPr id="4" name="Text 0"/>
          <p:cNvSpPr/>
          <p:nvPr>
            <p:ph idx="101" type="body" hasCustomPrompt="1"/>
          </p:nvPr>
        </p:nvSpPr>
        <p:spPr>
          <a:xfrm>
            <a:off x="457200" y="2880360"/>
            <a:ext cx="7315200" cy="731520"/>
          </a:xfrm>
          <a:prstGeom prst="rect">
            <a:avLst/>
          </a:prstGeom>
          <a:noFill/>
          <a:ln/>
        </p:spPr>
        <p:txBody>
          <a:bodyPr wrap="square" lIns="0" tIns="0" rIns="0" bIns="0" rtlCol="0" anchor="t"/>
          <a:lstStyle/>
          <a:p>
            <a:pPr indent="0" marL="0">
              <a:buNone/>
            </a:pPr>
            <a:r>
              <a:rPr lang="en-US" sz="1600" dirty="0">
                <a:solidFill>
                  <a:schemeClr val="bg2"/>
                </a:solidFill>
              </a:rPr>
              <a:t>Compiler errors are written for people who already know the grammar.</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600" b="1" dirty="0">
                <a:solidFill>
                  <a:schemeClr val="bg1"/>
                </a:solidFill>
              </a:rPr>
              <a:t>Compiler errors talk like grammars</a:t>
            </a:r>
            <a:endParaRPr lang="en-US" sz="2600" dirty="0"/>
          </a:p>
        </p:txBody>
      </p:sp>
      <p:sp>
        <p:nvSpPr>
          <p:cNvPr id="4" name="text-34"/>
          <p:cNvSpPr txBox="1"/>
          <p:nvPr/>
        </p:nvSpPr>
        <p:spPr>
          <a:xfrm>
            <a:off x="457200" y="1051560"/>
            <a:ext cx="3657600" cy="228600"/>
          </a:xfrm>
          <a:prstGeom prst="rect">
            <a:avLst/>
          </a:prstGeom>
          <a:noFill/>
          <a:ln/>
        </p:spPr>
        <p:txBody>
          <a:bodyPr wrap="square" lIns="0" tIns="0" rIns="0" bIns="0" rtlCol="0" anchor="t"/>
          <a:lstStyle/>
          <a:p>
            <a:pPr indent="0" marL="0">
              <a:buNone/>
            </a:pPr>
            <a:r>
              <a:rPr lang="en-US" sz="1000" b="1" spc="150" kern="0" dirty="0">
                <a:solidFill>
                  <a:schemeClr val="bg2"/>
                </a:solidFill>
              </a:rPr>
              <a:t>PROGRAM (EQUIVALENT C)</a:t>
            </a:r>
            <a:endParaRPr lang="en-US" sz="1000" dirty="0"/>
          </a:p>
        </p:txBody>
      </p:sp>
      <p:sp>
        <p:nvSpPr>
          <p:cNvPr id="5" name="panel-35"/>
          <p:cNvSpPr/>
          <p:nvPr/>
        </p:nvSpPr>
        <p:spPr>
          <a:xfrm>
            <a:off x="457200" y="1325880"/>
            <a:ext cx="3931920" cy="1005840"/>
          </a:xfrm>
          <a:prstGeom prst="roundRect">
            <a:avLst>
              <a:gd name="adj" fmla="val 7273"/>
            </a:avLst>
          </a:prstGeom>
          <a:solidFill>
            <a:schemeClr val="tx1"/>
          </a:solidFill>
          <a:ln w="9525">
            <a:solidFill>
              <a:schemeClr val="accent5"/>
            </a:solidFill>
            <a:prstDash val="solid"/>
          </a:ln>
        </p:spPr>
      </p:sp>
      <p:sp>
        <p:nvSpPr>
          <p:cNvPr id="6" name="text-36"/>
          <p:cNvSpPr txBox="1"/>
          <p:nvPr/>
        </p:nvSpPr>
        <p:spPr>
          <a:xfrm>
            <a:off x="594360" y="1435608"/>
            <a:ext cx="3657600" cy="786384"/>
          </a:xfrm>
          <a:prstGeom prst="rect">
            <a:avLst/>
          </a:prstGeom>
          <a:noFill/>
          <a:ln/>
        </p:spPr>
        <p:txBody>
          <a:bodyPr wrap="square" lIns="0" tIns="0" rIns="0" bIns="0" rtlCol="0" anchor="t"/>
          <a:lstStyle/>
          <a:p>
            <a:pPr indent="0" marL="0">
              <a:lnSpc>
                <a:spcPct val="110000"/>
              </a:lnSpc>
              <a:buNone/>
            </a:pPr>
            <a:r>
              <a:rPr lang="en-US" sz="1300" dirty="0">
                <a:solidFill>
                  <a:schemeClr val="bg1"/>
                </a:solidFill>
                <a:latin typeface="Courier New" pitchFamily="34" charset="0"/>
                <a:ea typeface="Courier New" pitchFamily="34" charset="-122"/>
                <a:cs typeface="Courier New" pitchFamily="34" charset="-120"/>
              </a:rPr>
              <a:t>1  int a = 5;</a:t>
            </a:r>
            <a:endParaRPr lang="en-US" sz="1300" dirty="0"/>
          </a:p>
          <a:p>
            <a:pPr indent="0" marL="0">
              <a:lnSpc>
                <a:spcPct val="110000"/>
              </a:lnSpc>
              <a:buNone/>
            </a:pPr>
            <a:r>
              <a:rPr lang="en-US" sz="1300" dirty="0">
                <a:solidFill>
                  <a:schemeClr val="bg1"/>
                </a:solidFill>
                <a:latin typeface="Courier New" pitchFamily="34" charset="0"/>
                <a:ea typeface="Courier New" pitchFamily="34" charset="-122"/>
                <a:cs typeface="Courier New" pitchFamily="34" charset="-120"/>
              </a:rPr>
              <a:t>2  int b = 10        </a:t>
            </a:r>
            <a:pPr indent="0" marL="0">
              <a:lnSpc>
                <a:spcPct val="110000"/>
              </a:lnSpc>
              <a:buNone/>
            </a:pPr>
            <a:r>
              <a:rPr lang="en-US" sz="1300" dirty="0">
                <a:solidFill>
                  <a:srgbClr val="F2775F"/>
                </a:solidFill>
                <a:latin typeface="Courier New" pitchFamily="34" charset="0"/>
                <a:ea typeface="Courier New" pitchFamily="34" charset="-122"/>
                <a:cs typeface="Courier New" pitchFamily="34" charset="-120"/>
              </a:rPr>
              <a:t>&lt;- real mistake</a:t>
            </a:r>
            <a:endParaRPr lang="en-US" sz="1300" dirty="0"/>
          </a:p>
          <a:p>
            <a:pPr indent="0" marL="0">
              <a:lnSpc>
                <a:spcPct val="110000"/>
              </a:lnSpc>
              <a:buNone/>
            </a:pPr>
            <a:r>
              <a:rPr lang="en-US" sz="1300" dirty="0">
                <a:solidFill>
                  <a:schemeClr val="bg1"/>
                </a:solidFill>
                <a:latin typeface="Courier New" pitchFamily="34" charset="0"/>
                <a:ea typeface="Courier New" pitchFamily="34" charset="-122"/>
                <a:cs typeface="Courier New" pitchFamily="34" charset="-120"/>
              </a:rPr>
              <a:t>3  printf("%d", a + b);</a:t>
            </a:r>
            <a:endParaRPr lang="en-US" sz="1300" dirty="0"/>
          </a:p>
        </p:txBody>
      </p:sp>
      <p:sp>
        <p:nvSpPr>
          <p:cNvPr id="7" name="text-37"/>
          <p:cNvSpPr txBox="1"/>
          <p:nvPr/>
        </p:nvSpPr>
        <p:spPr>
          <a:xfrm>
            <a:off x="4754880" y="1051560"/>
            <a:ext cx="3657600" cy="228600"/>
          </a:xfrm>
          <a:prstGeom prst="rect">
            <a:avLst/>
          </a:prstGeom>
          <a:noFill/>
          <a:ln/>
        </p:spPr>
        <p:txBody>
          <a:bodyPr wrap="square" lIns="0" tIns="0" rIns="0" bIns="0" rtlCol="0" anchor="t"/>
          <a:lstStyle/>
          <a:p>
            <a:pPr indent="0" marL="0">
              <a:buNone/>
            </a:pPr>
            <a:r>
              <a:rPr lang="en-US" sz="1000" b="1" spc="150" kern="0" dirty="0">
                <a:solidFill>
                  <a:schemeClr val="bg2"/>
                </a:solidFill>
              </a:rPr>
              <a:t>GCC 11.4 SAYS</a:t>
            </a:r>
            <a:endParaRPr lang="en-US" sz="1000" dirty="0"/>
          </a:p>
        </p:txBody>
      </p:sp>
      <p:sp>
        <p:nvSpPr>
          <p:cNvPr id="8" name="panel-38"/>
          <p:cNvSpPr/>
          <p:nvPr/>
        </p:nvSpPr>
        <p:spPr>
          <a:xfrm>
            <a:off x="4754880" y="1325880"/>
            <a:ext cx="3931920" cy="1005840"/>
          </a:xfrm>
          <a:prstGeom prst="roundRect">
            <a:avLst>
              <a:gd name="adj" fmla="val 7273"/>
            </a:avLst>
          </a:prstGeom>
          <a:solidFill>
            <a:schemeClr val="tx1"/>
          </a:solidFill>
          <a:ln w="9525">
            <a:solidFill>
              <a:schemeClr val="accent5"/>
            </a:solidFill>
            <a:prstDash val="solid"/>
          </a:ln>
        </p:spPr>
      </p:sp>
      <p:sp>
        <p:nvSpPr>
          <p:cNvPr id="9" name="text-39"/>
          <p:cNvSpPr txBox="1"/>
          <p:nvPr/>
        </p:nvSpPr>
        <p:spPr>
          <a:xfrm>
            <a:off x="4892040" y="1435608"/>
            <a:ext cx="3657600" cy="786384"/>
          </a:xfrm>
          <a:prstGeom prst="rect">
            <a:avLst/>
          </a:prstGeom>
          <a:noFill/>
          <a:ln/>
        </p:spPr>
        <p:txBody>
          <a:bodyPr wrap="square" lIns="0" tIns="0" rIns="0" bIns="0" rtlCol="0" anchor="t"/>
          <a:lstStyle/>
          <a:p>
            <a:pPr indent="0" marL="0">
              <a:lnSpc>
                <a:spcPct val="110000"/>
              </a:lnSpc>
              <a:buNone/>
            </a:pPr>
            <a:r>
              <a:rPr lang="en-US" sz="1300" dirty="0">
                <a:solidFill>
                  <a:schemeClr val="bg1"/>
                </a:solidFill>
                <a:latin typeface="Courier New" pitchFamily="34" charset="0"/>
                <a:ea typeface="Courier New" pitchFamily="34" charset="-122"/>
                <a:cs typeface="Courier New" pitchFamily="34" charset="-120"/>
              </a:rPr>
              <a:t>program.c:3:5: error:</a:t>
            </a:r>
            <a:endParaRPr lang="en-US" sz="1300" dirty="0"/>
          </a:p>
          <a:p>
            <a:pPr indent="0" marL="0">
              <a:lnSpc>
                <a:spcPct val="110000"/>
              </a:lnSpc>
              <a:buNone/>
            </a:pPr>
            <a:r>
              <a:rPr lang="en-US" sz="1300" dirty="0">
                <a:solidFill>
                  <a:schemeClr val="bg1"/>
                </a:solidFill>
                <a:latin typeface="Courier New" pitchFamily="34" charset="0"/>
                <a:ea typeface="Courier New" pitchFamily="34" charset="-122"/>
                <a:cs typeface="Courier New" pitchFamily="34" charset="-120"/>
              </a:rPr>
              <a:t>expected ',' or ';'</a:t>
            </a:r>
            <a:endParaRPr lang="en-US" sz="1300" dirty="0"/>
          </a:p>
          <a:p>
            <a:pPr indent="0" marL="0">
              <a:lnSpc>
                <a:spcPct val="110000"/>
              </a:lnSpc>
              <a:buNone/>
            </a:pPr>
            <a:r>
              <a:rPr lang="en-US" sz="1300" dirty="0">
                <a:solidFill>
                  <a:schemeClr val="bg1"/>
                </a:solidFill>
                <a:latin typeface="Courier New" pitchFamily="34" charset="0"/>
                <a:ea typeface="Courier New" pitchFamily="34" charset="-122"/>
                <a:cs typeface="Courier New" pitchFamily="34" charset="-120"/>
              </a:rPr>
              <a:t>before 'printf'</a:t>
            </a:r>
            <a:endParaRPr lang="en-US" sz="1300" dirty="0"/>
          </a:p>
        </p:txBody>
      </p:sp>
      <p:sp>
        <p:nvSpPr>
          <p:cNvPr id="10" name="panel-40"/>
          <p:cNvSpPr/>
          <p:nvPr/>
        </p:nvSpPr>
        <p:spPr>
          <a:xfrm>
            <a:off x="457200" y="2697480"/>
            <a:ext cx="2651760" cy="1691640"/>
          </a:xfrm>
          <a:prstGeom prst="roundRect">
            <a:avLst>
              <a:gd name="adj" fmla="val 4324"/>
            </a:avLst>
          </a:prstGeom>
          <a:solidFill>
            <a:schemeClr val="tx2"/>
          </a:solidFill>
          <a:ln w="9525">
            <a:solidFill>
              <a:schemeClr val="accent5"/>
            </a:solidFill>
            <a:prstDash val="solid"/>
          </a:ln>
        </p:spPr>
      </p:sp>
      <p:sp>
        <p:nvSpPr>
          <p:cNvPr id="11" name="chip-41"/>
          <p:cNvSpPr/>
          <p:nvPr/>
        </p:nvSpPr>
        <p:spPr>
          <a:xfrm>
            <a:off x="685800" y="2926080"/>
            <a:ext cx="384048" cy="384048"/>
          </a:xfrm>
          <a:prstGeom prst="roundRect">
            <a:avLst>
              <a:gd name="adj" fmla="val 14286"/>
            </a:avLst>
          </a:prstGeom>
          <a:solidFill>
            <a:schemeClr val="tx2"/>
          </a:solidFill>
          <a:ln w="12700">
            <a:solidFill>
              <a:schemeClr val="accent1"/>
            </a:solidFill>
            <a:prstDash val="solid"/>
          </a:ln>
        </p:spPr>
      </p:sp>
      <p:sp>
        <p:nvSpPr>
          <p:cNvPr id="12" name="text-42"/>
          <p:cNvSpPr txBox="1"/>
          <p:nvPr/>
        </p:nvSpPr>
        <p:spPr>
          <a:xfrm>
            <a:off x="685800" y="2926080"/>
            <a:ext cx="384048" cy="384048"/>
          </a:xfrm>
          <a:prstGeom prst="rect">
            <a:avLst/>
          </a:prstGeom>
          <a:noFill/>
          <a:ln/>
        </p:spPr>
        <p:txBody>
          <a:bodyPr wrap="square" lIns="0" tIns="0" rIns="0" bIns="0" rtlCol="0" anchor="ctr"/>
          <a:lstStyle/>
          <a:p>
            <a:pPr algn="ctr" indent="0" marL="0">
              <a:buNone/>
            </a:pPr>
            <a:r>
              <a:rPr lang="en-US" sz="1600" b="1" dirty="0">
                <a:solidFill>
                  <a:schemeClr val="accent1"/>
                </a:solidFill>
              </a:rPr>
              <a:t>✕</a:t>
            </a:r>
            <a:endParaRPr lang="en-US" sz="1600" dirty="0"/>
          </a:p>
        </p:txBody>
      </p:sp>
      <p:sp>
        <p:nvSpPr>
          <p:cNvPr id="13" name="text-43"/>
          <p:cNvSpPr txBox="1"/>
          <p:nvPr/>
        </p:nvSpPr>
        <p:spPr>
          <a:xfrm>
            <a:off x="685800" y="3429000"/>
            <a:ext cx="2194560" cy="320040"/>
          </a:xfrm>
          <a:prstGeom prst="rect">
            <a:avLst/>
          </a:prstGeom>
          <a:noFill/>
          <a:ln/>
        </p:spPr>
        <p:txBody>
          <a:bodyPr wrap="square" lIns="0" tIns="0" rIns="0" bIns="0" rtlCol="0" anchor="t"/>
          <a:lstStyle/>
          <a:p>
            <a:pPr indent="0" marL="0">
              <a:buNone/>
            </a:pPr>
            <a:r>
              <a:rPr lang="en-US" sz="1800" b="1" dirty="0">
                <a:solidFill>
                  <a:schemeClr val="bg1"/>
                </a:solidFill>
              </a:rPr>
              <a:t>Wrong line</a:t>
            </a:r>
            <a:endParaRPr lang="en-US" sz="1800" dirty="0"/>
          </a:p>
        </p:txBody>
      </p:sp>
      <p:sp>
        <p:nvSpPr>
          <p:cNvPr id="14" name="text-44"/>
          <p:cNvSpPr txBox="1"/>
          <p:nvPr/>
        </p:nvSpPr>
        <p:spPr>
          <a:xfrm>
            <a:off x="685800" y="3767328"/>
            <a:ext cx="2240280" cy="548640"/>
          </a:xfrm>
          <a:prstGeom prst="rect">
            <a:avLst/>
          </a:prstGeom>
          <a:noFill/>
          <a:ln/>
        </p:spPr>
        <p:txBody>
          <a:bodyPr wrap="square" lIns="0" tIns="0" rIns="0" bIns="0" rtlCol="0" anchor="t"/>
          <a:lstStyle/>
          <a:p>
            <a:pPr indent="0" marL="0">
              <a:buNone/>
            </a:pPr>
            <a:r>
              <a:rPr lang="en-US" sz="1300" dirty="0">
                <a:solidFill>
                  <a:schemeClr val="bg2"/>
                </a:solidFill>
              </a:rPr>
              <a:t>Points at line 3. The fix belongs on line 2.</a:t>
            </a:r>
            <a:endParaRPr lang="en-US" sz="1300" dirty="0"/>
          </a:p>
        </p:txBody>
      </p:sp>
      <p:sp>
        <p:nvSpPr>
          <p:cNvPr id="15" name="panel-45"/>
          <p:cNvSpPr/>
          <p:nvPr/>
        </p:nvSpPr>
        <p:spPr>
          <a:xfrm>
            <a:off x="3264408" y="2697480"/>
            <a:ext cx="2651760" cy="1691640"/>
          </a:xfrm>
          <a:prstGeom prst="roundRect">
            <a:avLst>
              <a:gd name="adj" fmla="val 4324"/>
            </a:avLst>
          </a:prstGeom>
          <a:solidFill>
            <a:schemeClr val="tx2"/>
          </a:solidFill>
          <a:ln w="9525">
            <a:solidFill>
              <a:schemeClr val="accent5"/>
            </a:solidFill>
            <a:prstDash val="solid"/>
          </a:ln>
        </p:spPr>
      </p:sp>
      <p:sp>
        <p:nvSpPr>
          <p:cNvPr id="16" name="chip-46"/>
          <p:cNvSpPr/>
          <p:nvPr/>
        </p:nvSpPr>
        <p:spPr>
          <a:xfrm>
            <a:off x="3493008" y="2926080"/>
            <a:ext cx="384048" cy="384048"/>
          </a:xfrm>
          <a:prstGeom prst="roundRect">
            <a:avLst>
              <a:gd name="adj" fmla="val 14286"/>
            </a:avLst>
          </a:prstGeom>
          <a:solidFill>
            <a:schemeClr val="tx2"/>
          </a:solidFill>
          <a:ln w="12700">
            <a:solidFill>
              <a:schemeClr val="accent1"/>
            </a:solidFill>
            <a:prstDash val="solid"/>
          </a:ln>
        </p:spPr>
      </p:sp>
      <p:sp>
        <p:nvSpPr>
          <p:cNvPr id="17" name="text-47"/>
          <p:cNvSpPr txBox="1"/>
          <p:nvPr/>
        </p:nvSpPr>
        <p:spPr>
          <a:xfrm>
            <a:off x="3493008" y="2926080"/>
            <a:ext cx="384048" cy="384048"/>
          </a:xfrm>
          <a:prstGeom prst="rect">
            <a:avLst/>
          </a:prstGeom>
          <a:noFill/>
          <a:ln/>
        </p:spPr>
        <p:txBody>
          <a:bodyPr wrap="square" lIns="0" tIns="0" rIns="0" bIns="0" rtlCol="0" anchor="ctr"/>
          <a:lstStyle/>
          <a:p>
            <a:pPr algn="ctr" indent="0" marL="0">
              <a:buNone/>
            </a:pPr>
            <a:r>
              <a:rPr lang="en-US" sz="1600" b="1" dirty="0">
                <a:solidFill>
                  <a:schemeClr val="accent1"/>
                </a:solidFill>
              </a:rPr>
              <a:t>✕</a:t>
            </a:r>
            <a:endParaRPr lang="en-US" sz="1600" dirty="0"/>
          </a:p>
        </p:txBody>
      </p:sp>
      <p:sp>
        <p:nvSpPr>
          <p:cNvPr id="18" name="text-48"/>
          <p:cNvSpPr txBox="1"/>
          <p:nvPr/>
        </p:nvSpPr>
        <p:spPr>
          <a:xfrm>
            <a:off x="3493008" y="3429000"/>
            <a:ext cx="2194560" cy="320040"/>
          </a:xfrm>
          <a:prstGeom prst="rect">
            <a:avLst/>
          </a:prstGeom>
          <a:noFill/>
          <a:ln/>
        </p:spPr>
        <p:txBody>
          <a:bodyPr wrap="square" lIns="0" tIns="0" rIns="0" bIns="0" rtlCol="0" anchor="t"/>
          <a:lstStyle/>
          <a:p>
            <a:pPr indent="0" marL="0">
              <a:buNone/>
            </a:pPr>
            <a:r>
              <a:rPr lang="en-US" sz="1800" b="1" dirty="0">
                <a:solidFill>
                  <a:schemeClr val="bg1"/>
                </a:solidFill>
              </a:rPr>
              <a:t>Jargon</a:t>
            </a:r>
            <a:endParaRPr lang="en-US" sz="1800" dirty="0"/>
          </a:p>
        </p:txBody>
      </p:sp>
      <p:sp>
        <p:nvSpPr>
          <p:cNvPr id="19" name="text-49"/>
          <p:cNvSpPr txBox="1"/>
          <p:nvPr/>
        </p:nvSpPr>
        <p:spPr>
          <a:xfrm>
            <a:off x="3493008" y="3767328"/>
            <a:ext cx="2240280" cy="548640"/>
          </a:xfrm>
          <a:prstGeom prst="rect">
            <a:avLst/>
          </a:prstGeom>
          <a:noFill/>
          <a:ln/>
        </p:spPr>
        <p:txBody>
          <a:bodyPr wrap="square" lIns="0" tIns="0" rIns="0" bIns="0" rtlCol="0" anchor="t"/>
          <a:lstStyle/>
          <a:p>
            <a:pPr indent="0" marL="0">
              <a:buNone/>
            </a:pPr>
            <a:r>
              <a:rPr lang="en-US" sz="1300" dirty="0">
                <a:solidFill>
                  <a:schemeClr val="bg2"/>
                </a:solidFill>
              </a:rPr>
              <a:t>"expected ... before" is grammar talk, not plain English.</a:t>
            </a:r>
            <a:endParaRPr lang="en-US" sz="1300" dirty="0"/>
          </a:p>
        </p:txBody>
      </p:sp>
      <p:sp>
        <p:nvSpPr>
          <p:cNvPr id="20" name="panel-50"/>
          <p:cNvSpPr/>
          <p:nvPr/>
        </p:nvSpPr>
        <p:spPr>
          <a:xfrm>
            <a:off x="6071616" y="2697480"/>
            <a:ext cx="2651760" cy="1691640"/>
          </a:xfrm>
          <a:prstGeom prst="roundRect">
            <a:avLst>
              <a:gd name="adj" fmla="val 4324"/>
            </a:avLst>
          </a:prstGeom>
          <a:solidFill>
            <a:schemeClr val="tx2"/>
          </a:solidFill>
          <a:ln w="9525">
            <a:solidFill>
              <a:schemeClr val="accent5"/>
            </a:solidFill>
            <a:prstDash val="solid"/>
          </a:ln>
        </p:spPr>
      </p:sp>
      <p:sp>
        <p:nvSpPr>
          <p:cNvPr id="21" name="chip-51"/>
          <p:cNvSpPr/>
          <p:nvPr/>
        </p:nvSpPr>
        <p:spPr>
          <a:xfrm>
            <a:off x="6300216" y="2926080"/>
            <a:ext cx="384048" cy="384048"/>
          </a:xfrm>
          <a:prstGeom prst="roundRect">
            <a:avLst>
              <a:gd name="adj" fmla="val 14286"/>
            </a:avLst>
          </a:prstGeom>
          <a:solidFill>
            <a:schemeClr val="tx2"/>
          </a:solidFill>
          <a:ln w="12700">
            <a:solidFill>
              <a:schemeClr val="accent1"/>
            </a:solidFill>
            <a:prstDash val="solid"/>
          </a:ln>
        </p:spPr>
      </p:sp>
      <p:sp>
        <p:nvSpPr>
          <p:cNvPr id="22" name="text-52"/>
          <p:cNvSpPr txBox="1"/>
          <p:nvPr/>
        </p:nvSpPr>
        <p:spPr>
          <a:xfrm>
            <a:off x="6300216" y="2926080"/>
            <a:ext cx="384048" cy="384048"/>
          </a:xfrm>
          <a:prstGeom prst="rect">
            <a:avLst/>
          </a:prstGeom>
          <a:noFill/>
          <a:ln/>
        </p:spPr>
        <p:txBody>
          <a:bodyPr wrap="square" lIns="0" tIns="0" rIns="0" bIns="0" rtlCol="0" anchor="ctr"/>
          <a:lstStyle/>
          <a:p>
            <a:pPr algn="ctr" indent="0" marL="0">
              <a:buNone/>
            </a:pPr>
            <a:r>
              <a:rPr lang="en-US" sz="1600" b="1" dirty="0">
                <a:solidFill>
                  <a:schemeClr val="accent1"/>
                </a:solidFill>
              </a:rPr>
              <a:t>✕</a:t>
            </a:r>
            <a:endParaRPr lang="en-US" sz="1600" dirty="0"/>
          </a:p>
        </p:txBody>
      </p:sp>
      <p:sp>
        <p:nvSpPr>
          <p:cNvPr id="23" name="text-53"/>
          <p:cNvSpPr txBox="1"/>
          <p:nvPr/>
        </p:nvSpPr>
        <p:spPr>
          <a:xfrm>
            <a:off x="6300216" y="3429000"/>
            <a:ext cx="2194560" cy="320040"/>
          </a:xfrm>
          <a:prstGeom prst="rect">
            <a:avLst/>
          </a:prstGeom>
          <a:noFill/>
          <a:ln/>
        </p:spPr>
        <p:txBody>
          <a:bodyPr wrap="square" lIns="0" tIns="0" rIns="0" bIns="0" rtlCol="0" anchor="t"/>
          <a:lstStyle/>
          <a:p>
            <a:pPr indent="0" marL="0">
              <a:buNone/>
            </a:pPr>
            <a:r>
              <a:rPr lang="en-US" sz="1800" b="1" dirty="0">
                <a:solidFill>
                  <a:schemeClr val="bg1"/>
                </a:solidFill>
              </a:rPr>
              <a:t>No fix</a:t>
            </a:r>
            <a:endParaRPr lang="en-US" sz="1800" dirty="0"/>
          </a:p>
        </p:txBody>
      </p:sp>
      <p:sp>
        <p:nvSpPr>
          <p:cNvPr id="24" name="text-54"/>
          <p:cNvSpPr txBox="1"/>
          <p:nvPr/>
        </p:nvSpPr>
        <p:spPr>
          <a:xfrm>
            <a:off x="6300216" y="3767328"/>
            <a:ext cx="2240280" cy="548640"/>
          </a:xfrm>
          <a:prstGeom prst="rect">
            <a:avLst/>
          </a:prstGeom>
          <a:noFill/>
          <a:ln/>
        </p:spPr>
        <p:txBody>
          <a:bodyPr wrap="square" lIns="0" tIns="0" rIns="0" bIns="0" rtlCol="0" anchor="t"/>
          <a:lstStyle/>
          <a:p>
            <a:pPr indent="0" marL="0">
              <a:buNone/>
            </a:pPr>
            <a:r>
              <a:rPr lang="en-US" sz="1300" dirty="0">
                <a:solidFill>
                  <a:schemeClr val="bg2"/>
                </a:solidFill>
              </a:rPr>
              <a:t>Says what the parser wanted, never what to type.</a:t>
            </a:r>
            <a:endParaRPr lang="en-US" sz="1300" dirty="0"/>
          </a:p>
        </p:txBody>
      </p:sp>
      <p:sp>
        <p:nvSpPr>
          <p:cNvPr id="25" name="Slide Number Placeholder 0"/>
          <p:cNvSpPr>
            <a:spLocks noGrp="1"/>
          </p:cNvSpPr>
          <p:nvPr>
            <p:ph type="sldNum" sz="quarter" idx="4294967295"/>
          </p:nvPr>
        </p:nvSpPr>
        <p:spPr>
          <a:xfrm>
            <a:off x="8321040" y="473659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600" b="1" dirty="0">
                <a:solidFill>
                  <a:schemeClr val="bg1"/>
                </a:solidFill>
              </a:rPr>
              <a:t>Every error is a structured object</a:t>
            </a:r>
            <a:endParaRPr lang="en-US" sz="2600" dirty="0"/>
          </a:p>
        </p:txBody>
      </p:sp>
      <p:sp>
        <p:nvSpPr>
          <p:cNvPr id="4" name="panel-55"/>
          <p:cNvSpPr/>
          <p:nvPr/>
        </p:nvSpPr>
        <p:spPr>
          <a:xfrm>
            <a:off x="457200" y="1188720"/>
            <a:ext cx="4206240" cy="1600200"/>
          </a:xfrm>
          <a:prstGeom prst="roundRect">
            <a:avLst>
              <a:gd name="adj" fmla="val 4571"/>
            </a:avLst>
          </a:prstGeom>
          <a:solidFill>
            <a:schemeClr val="tx1"/>
          </a:solidFill>
          <a:ln w="9525">
            <a:solidFill>
              <a:schemeClr val="accent5"/>
            </a:solidFill>
            <a:prstDash val="solid"/>
          </a:ln>
        </p:spPr>
      </p:sp>
      <p:sp>
        <p:nvSpPr>
          <p:cNvPr id="5" name="text-56"/>
          <p:cNvSpPr txBox="1"/>
          <p:nvPr/>
        </p:nvSpPr>
        <p:spPr>
          <a:xfrm>
            <a:off x="594360" y="1298448"/>
            <a:ext cx="3931920" cy="1380744"/>
          </a:xfrm>
          <a:prstGeom prst="rect">
            <a:avLst/>
          </a:prstGeom>
          <a:noFill/>
          <a:ln/>
        </p:spPr>
        <p:txBody>
          <a:bodyPr wrap="square" lIns="0" tIns="0" rIns="0" bIns="0" rtlCol="0" anchor="t"/>
          <a:lstStyle/>
          <a:p>
            <a:pPr indent="0" marL="0">
              <a:lnSpc>
                <a:spcPct val="110000"/>
              </a:lnSpc>
              <a:buNone/>
            </a:pPr>
            <a:r>
              <a:rPr lang="en-US" sz="1200" dirty="0">
                <a:solidFill>
                  <a:srgbClr val="F2775F"/>
                </a:solidFill>
                <a:latin typeface="Courier New" pitchFamily="34" charset="0"/>
                <a:ea typeface="Courier New" pitchFamily="34" charset="-122"/>
                <a:cs typeface="Courier New" pitchFamily="34" charset="-120"/>
              </a:rPr>
              <a:t>Error on line 2:</a:t>
            </a:r>
            <a:endParaRPr lang="en-US" sz="1200" dirty="0"/>
          </a:p>
          <a:p>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Expected ';' at the end of the statement.</a:t>
            </a:r>
            <a:endParaRPr lang="en-US" sz="1200" dirty="0"/>
          </a:p>
          <a:p>
            <a:pPr indent="0" marL="0">
              <a:lnSpc>
                <a:spcPct val="110000"/>
              </a:lnSpc>
              <a:buNone/>
            </a:pPr>
            <a:r>
              <a:rPr lang="en-US" sz="1200" dirty="0">
                <a:solidFill>
                  <a:srgbClr val="E2B451"/>
                </a:solidFill>
                <a:latin typeface="Courier New" pitchFamily="34" charset="0"/>
                <a:ea typeface="Courier New" pitchFamily="34" charset="-122"/>
                <a:cs typeface="Courier New" pitchFamily="34" charset="-120"/>
              </a:rPr>
              <a:t>Suggestion: </a:t>
            </a:r>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Add a semicolon after '10'.</a:t>
            </a:r>
            <a:endParaRPr lang="en-US" sz="1200" dirty="0"/>
          </a:p>
          <a:p>
            <a:pPr indent="0" marL="0">
              <a:lnSpc>
                <a:spcPct val="110000"/>
              </a:lnSpc>
              <a:buNone/>
            </a:pPr>
            <a:endParaRPr lang="en-US" sz="1200" dirty="0"/>
          </a:p>
          <a:p>
            <a:pPr indent="0" marL="0">
              <a:lnSpc>
                <a:spcPct val="110000"/>
              </a:lnSpc>
              <a:buNone/>
            </a:pPr>
            <a:r>
              <a:rPr lang="en-US" sz="1200" dirty="0">
                <a:solidFill>
                  <a:srgbClr val="9AA2AD"/>
                </a:solidFill>
                <a:latin typeface="Courier New" pitchFamily="34" charset="0"/>
                <a:ea typeface="Courier New" pitchFamily="34" charset="-122"/>
                <a:cs typeface="Courier New" pitchFamily="34" charset="-120"/>
              </a:rPr>
              <a:t>(Found during: Syntax Analysis)</a:t>
            </a:r>
            <a:endParaRPr lang="en-US" sz="1200" dirty="0"/>
          </a:p>
        </p:txBody>
      </p:sp>
      <p:sp>
        <p:nvSpPr>
          <p:cNvPr id="6" name="text-57"/>
          <p:cNvSpPr txBox="1"/>
          <p:nvPr/>
        </p:nvSpPr>
        <p:spPr>
          <a:xfrm>
            <a:off x="457200" y="2880360"/>
            <a:ext cx="4206240" cy="274320"/>
          </a:xfrm>
          <a:prstGeom prst="rect">
            <a:avLst/>
          </a:prstGeom>
          <a:noFill/>
          <a:ln/>
        </p:spPr>
        <p:txBody>
          <a:bodyPr wrap="square" lIns="0" tIns="0" rIns="0" bIns="0" rtlCol="0" anchor="t"/>
          <a:lstStyle/>
          <a:p>
            <a:pPr indent="0" marL="0">
              <a:buNone/>
            </a:pPr>
            <a:r>
              <a:rPr lang="en-US" sz="1200" i="1" dirty="0">
                <a:solidFill>
                  <a:schemeClr val="bg2"/>
                </a:solidFill>
              </a:rPr>
              <a:t>Same mistake, ErrorBuddy output</a:t>
            </a:r>
            <a:endParaRPr lang="en-US" sz="1200" dirty="0"/>
          </a:p>
        </p:txBody>
      </p:sp>
      <p:sp>
        <p:nvSpPr>
          <p:cNvPr id="7" name="panel-58"/>
          <p:cNvSpPr/>
          <p:nvPr/>
        </p:nvSpPr>
        <p:spPr>
          <a:xfrm>
            <a:off x="457200" y="3200400"/>
            <a:ext cx="4206240" cy="1325880"/>
          </a:xfrm>
          <a:prstGeom prst="roundRect">
            <a:avLst>
              <a:gd name="adj" fmla="val 5517"/>
            </a:avLst>
          </a:prstGeom>
          <a:solidFill>
            <a:schemeClr val="tx1"/>
          </a:solidFill>
          <a:ln w="9525">
            <a:solidFill>
              <a:schemeClr val="accent5"/>
            </a:solidFill>
            <a:prstDash val="solid"/>
          </a:ln>
        </p:spPr>
      </p:sp>
      <p:sp>
        <p:nvSpPr>
          <p:cNvPr id="8" name="text-59"/>
          <p:cNvSpPr txBox="1"/>
          <p:nvPr/>
        </p:nvSpPr>
        <p:spPr>
          <a:xfrm>
            <a:off x="594360" y="3310128"/>
            <a:ext cx="3931920" cy="1106424"/>
          </a:xfrm>
          <a:prstGeom prst="rect">
            <a:avLst/>
          </a:prstGeom>
          <a:noFill/>
          <a:ln/>
        </p:spPr>
        <p:txBody>
          <a:bodyPr wrap="square" lIns="0" tIns="0" rIns="0" bIns="0" rtlCol="0" anchor="t"/>
          <a:lstStyle/>
          <a:p>
            <a:pPr indent="0" marL="0">
              <a:lnSpc>
                <a:spcPct val="100000"/>
              </a:lnSpc>
              <a:buNone/>
            </a:pPr>
            <a:r>
              <a:rPr lang="en-US" sz="1100" dirty="0">
                <a:solidFill>
                  <a:schemeClr val="bg1"/>
                </a:solidFill>
                <a:latin typeface="Courier New" pitchFamily="34" charset="0"/>
                <a:ea typeface="Courier New" pitchFamily="34" charset="-122"/>
                <a:cs typeface="Courier New" pitchFamily="34" charset="-120"/>
              </a:rPr>
              <a:t>struct CompileError {</a:t>
            </a:r>
            <a:endParaRPr lang="en-US" sz="1100" dirty="0"/>
          </a:p>
          <a:p>
            <a:pPr indent="0" marL="0">
              <a:lnSpc>
                <a:spcPct val="100000"/>
              </a:lnSpc>
              <a:buNone/>
            </a:pPr>
            <a:r>
              <a:rPr lang="en-US" sz="1100" dirty="0">
                <a:solidFill>
                  <a:schemeClr val="bg1"/>
                </a:solidFill>
                <a:latin typeface="Courier New" pitchFamily="34" charset="0"/>
                <a:ea typeface="Courier New" pitchFamily="34" charset="-122"/>
                <a:cs typeface="Courier New" pitchFamily="34" charset="-120"/>
              </a:rPr>
              <a:t>    int    line;</a:t>
            </a:r>
            <a:endParaRPr lang="en-US" sz="1100" dirty="0"/>
          </a:p>
          <a:p>
            <a:pPr indent="0" marL="0">
              <a:lnSpc>
                <a:spcPct val="100000"/>
              </a:lnSpc>
              <a:buNone/>
            </a:pPr>
            <a:r>
              <a:rPr lang="en-US" sz="1100" dirty="0">
                <a:solidFill>
                  <a:schemeClr val="bg1"/>
                </a:solidFill>
                <a:latin typeface="Courier New" pitchFamily="34" charset="0"/>
                <a:ea typeface="Courier New" pitchFamily="34" charset="-122"/>
                <a:cs typeface="Courier New" pitchFamily="34" charset="-120"/>
              </a:rPr>
              <a:t>    string phase;</a:t>
            </a:r>
            <a:endParaRPr lang="en-US" sz="1100" dirty="0"/>
          </a:p>
          <a:p>
            <a:pPr indent="0" marL="0">
              <a:lnSpc>
                <a:spcPct val="100000"/>
              </a:lnSpc>
              <a:buNone/>
            </a:pPr>
            <a:r>
              <a:rPr lang="en-US" sz="1100" dirty="0">
                <a:solidFill>
                  <a:schemeClr val="bg1"/>
                </a:solidFill>
                <a:latin typeface="Courier New" pitchFamily="34" charset="0"/>
                <a:ea typeface="Courier New" pitchFamily="34" charset="-122"/>
                <a:cs typeface="Courier New" pitchFamily="34" charset="-120"/>
              </a:rPr>
              <a:t>    string message;</a:t>
            </a:r>
            <a:endParaRPr lang="en-US" sz="1100" dirty="0"/>
          </a:p>
          <a:p>
            <a:pPr indent="0" marL="0">
              <a:lnSpc>
                <a:spcPct val="100000"/>
              </a:lnSpc>
              <a:buNone/>
            </a:pPr>
            <a:r>
              <a:rPr lang="en-US" sz="1100" dirty="0">
                <a:solidFill>
                  <a:schemeClr val="bg1"/>
                </a:solidFill>
                <a:latin typeface="Courier New" pitchFamily="34" charset="0"/>
                <a:ea typeface="Courier New" pitchFamily="34" charset="-122"/>
                <a:cs typeface="Courier New" pitchFamily="34" charset="-120"/>
              </a:rPr>
              <a:t>    string suggestion;</a:t>
            </a:r>
            <a:endParaRPr lang="en-US" sz="1100" dirty="0"/>
          </a:p>
          <a:p>
            <a:pPr indent="0" marL="0">
              <a:lnSpc>
                <a:spcPct val="100000"/>
              </a:lnSpc>
              <a:buNone/>
            </a:pPr>
            <a:r>
              <a:rPr lang="en-US" sz="1100" dirty="0">
                <a:solidFill>
                  <a:schemeClr val="bg1"/>
                </a:solidFill>
                <a:latin typeface="Courier New" pitchFamily="34" charset="0"/>
                <a:ea typeface="Courier New" pitchFamily="34" charset="-122"/>
                <a:cs typeface="Courier New" pitchFamily="34" charset="-120"/>
              </a:rPr>
              <a:t>};</a:t>
            </a:r>
            <a:endParaRPr lang="en-US" sz="1100" dirty="0"/>
          </a:p>
        </p:txBody>
      </p:sp>
      <p:sp>
        <p:nvSpPr>
          <p:cNvPr id="9" name="panel-60"/>
          <p:cNvSpPr/>
          <p:nvPr/>
        </p:nvSpPr>
        <p:spPr>
          <a:xfrm>
            <a:off x="5029200" y="1188720"/>
            <a:ext cx="3657600" cy="731520"/>
          </a:xfrm>
          <a:prstGeom prst="roundRect">
            <a:avLst>
              <a:gd name="adj" fmla="val 10000"/>
            </a:avLst>
          </a:prstGeom>
          <a:solidFill>
            <a:schemeClr val="tx2"/>
          </a:solidFill>
          <a:ln w="9525">
            <a:solidFill>
              <a:schemeClr val="accent5"/>
            </a:solidFill>
            <a:prstDash val="solid"/>
          </a:ln>
        </p:spPr>
      </p:sp>
      <p:sp>
        <p:nvSpPr>
          <p:cNvPr id="10" name="text-61"/>
          <p:cNvSpPr txBox="1"/>
          <p:nvPr/>
        </p:nvSpPr>
        <p:spPr>
          <a:xfrm>
            <a:off x="5166360" y="1280160"/>
            <a:ext cx="1234440" cy="274320"/>
          </a:xfrm>
          <a:prstGeom prst="rect">
            <a:avLst/>
          </a:prstGeom>
          <a:noFill/>
          <a:ln/>
        </p:spPr>
        <p:txBody>
          <a:bodyPr wrap="square" lIns="0" tIns="0" rIns="0" bIns="0" rtlCol="0" anchor="t"/>
          <a:lstStyle/>
          <a:p>
            <a:pPr indent="0" marL="0">
              <a:buNone/>
            </a:pPr>
            <a:r>
              <a:rPr lang="en-US" sz="1100" b="1" spc="50" kern="0" dirty="0">
                <a:solidFill>
                  <a:schemeClr val="accent1"/>
                </a:solidFill>
              </a:rPr>
              <a:t>LINE</a:t>
            </a:r>
            <a:endParaRPr lang="en-US" sz="1100" dirty="0"/>
          </a:p>
        </p:txBody>
      </p:sp>
      <p:sp>
        <p:nvSpPr>
          <p:cNvPr id="11" name="text-62"/>
          <p:cNvSpPr txBox="1"/>
          <p:nvPr/>
        </p:nvSpPr>
        <p:spPr>
          <a:xfrm>
            <a:off x="6446520" y="1261872"/>
            <a:ext cx="2148840" cy="274320"/>
          </a:xfrm>
          <a:prstGeom prst="rect">
            <a:avLst/>
          </a:prstGeom>
          <a:noFill/>
          <a:ln/>
        </p:spPr>
        <p:txBody>
          <a:bodyPr wrap="square" lIns="0" tIns="0" rIns="0" bIns="0" rtlCol="0" anchor="t"/>
          <a:lstStyle/>
          <a:p>
            <a:pPr indent="0" marL="0">
              <a:buNone/>
            </a:pPr>
            <a:r>
              <a:rPr lang="en-US" sz="1100" dirty="0">
                <a:solidFill>
                  <a:schemeClr val="bg1"/>
                </a:solidFill>
                <a:latin typeface="Courier New" pitchFamily="34" charset="0"/>
                <a:ea typeface="Courier New" pitchFamily="34" charset="-122"/>
                <a:cs typeface="Courier New" pitchFamily="34" charset="-120"/>
              </a:rPr>
              <a:t>2</a:t>
            </a:r>
            <a:endParaRPr lang="en-US" sz="1100" dirty="0"/>
          </a:p>
        </p:txBody>
      </p:sp>
      <p:sp>
        <p:nvSpPr>
          <p:cNvPr id="12" name="text-63"/>
          <p:cNvSpPr txBox="1"/>
          <p:nvPr/>
        </p:nvSpPr>
        <p:spPr>
          <a:xfrm>
            <a:off x="5166360" y="1572768"/>
            <a:ext cx="3429000" cy="274320"/>
          </a:xfrm>
          <a:prstGeom prst="rect">
            <a:avLst/>
          </a:prstGeom>
          <a:noFill/>
          <a:ln/>
        </p:spPr>
        <p:txBody>
          <a:bodyPr wrap="square" lIns="0" tIns="0" rIns="0" bIns="0" rtlCol="0" anchor="t"/>
          <a:lstStyle/>
          <a:p>
            <a:pPr indent="0" marL="0">
              <a:buNone/>
            </a:pPr>
            <a:r>
              <a:rPr lang="en-US" sz="1200" dirty="0">
                <a:solidFill>
                  <a:schemeClr val="bg2"/>
                </a:solidFill>
              </a:rPr>
              <a:t>where the fix belongs, not where parsing stopped</a:t>
            </a:r>
            <a:endParaRPr lang="en-US" sz="1200" dirty="0"/>
          </a:p>
        </p:txBody>
      </p:sp>
      <p:sp>
        <p:nvSpPr>
          <p:cNvPr id="13" name="panel-64"/>
          <p:cNvSpPr/>
          <p:nvPr/>
        </p:nvSpPr>
        <p:spPr>
          <a:xfrm>
            <a:off x="5029200" y="2029968"/>
            <a:ext cx="3657600" cy="731520"/>
          </a:xfrm>
          <a:prstGeom prst="roundRect">
            <a:avLst>
              <a:gd name="adj" fmla="val 10000"/>
            </a:avLst>
          </a:prstGeom>
          <a:solidFill>
            <a:schemeClr val="tx2"/>
          </a:solidFill>
          <a:ln w="9525">
            <a:solidFill>
              <a:schemeClr val="accent5"/>
            </a:solidFill>
            <a:prstDash val="solid"/>
          </a:ln>
        </p:spPr>
      </p:sp>
      <p:sp>
        <p:nvSpPr>
          <p:cNvPr id="14" name="text-65"/>
          <p:cNvSpPr txBox="1"/>
          <p:nvPr/>
        </p:nvSpPr>
        <p:spPr>
          <a:xfrm>
            <a:off x="5166360" y="2121408"/>
            <a:ext cx="1234440" cy="274320"/>
          </a:xfrm>
          <a:prstGeom prst="rect">
            <a:avLst/>
          </a:prstGeom>
          <a:noFill/>
          <a:ln/>
        </p:spPr>
        <p:txBody>
          <a:bodyPr wrap="square" lIns="0" tIns="0" rIns="0" bIns="0" rtlCol="0" anchor="t"/>
          <a:lstStyle/>
          <a:p>
            <a:pPr indent="0" marL="0">
              <a:buNone/>
            </a:pPr>
            <a:r>
              <a:rPr lang="en-US" sz="1100" b="1" spc="50" kern="0" dirty="0">
                <a:solidFill>
                  <a:schemeClr val="accent4"/>
                </a:solidFill>
              </a:rPr>
              <a:t>PHASE</a:t>
            </a:r>
            <a:endParaRPr lang="en-US" sz="1100" dirty="0"/>
          </a:p>
        </p:txBody>
      </p:sp>
      <p:sp>
        <p:nvSpPr>
          <p:cNvPr id="15" name="text-66"/>
          <p:cNvSpPr txBox="1"/>
          <p:nvPr/>
        </p:nvSpPr>
        <p:spPr>
          <a:xfrm>
            <a:off x="6446520" y="2103120"/>
            <a:ext cx="2148840" cy="274320"/>
          </a:xfrm>
          <a:prstGeom prst="rect">
            <a:avLst/>
          </a:prstGeom>
          <a:noFill/>
          <a:ln/>
        </p:spPr>
        <p:txBody>
          <a:bodyPr wrap="square" lIns="0" tIns="0" rIns="0" bIns="0" rtlCol="0" anchor="t"/>
          <a:lstStyle/>
          <a:p>
            <a:pPr indent="0" marL="0">
              <a:buNone/>
            </a:pPr>
            <a:r>
              <a:rPr lang="en-US" sz="1100" dirty="0">
                <a:solidFill>
                  <a:schemeClr val="bg1"/>
                </a:solidFill>
                <a:latin typeface="Courier New" pitchFamily="34" charset="0"/>
                <a:ea typeface="Courier New" pitchFamily="34" charset="-122"/>
                <a:cs typeface="Courier New" pitchFamily="34" charset="-120"/>
              </a:rPr>
              <a:t>Syntax Analysis</a:t>
            </a:r>
            <a:endParaRPr lang="en-US" sz="1100" dirty="0"/>
          </a:p>
        </p:txBody>
      </p:sp>
      <p:sp>
        <p:nvSpPr>
          <p:cNvPr id="16" name="text-67"/>
          <p:cNvSpPr txBox="1"/>
          <p:nvPr/>
        </p:nvSpPr>
        <p:spPr>
          <a:xfrm>
            <a:off x="5166360" y="2414016"/>
            <a:ext cx="3429000" cy="274320"/>
          </a:xfrm>
          <a:prstGeom prst="rect">
            <a:avLst/>
          </a:prstGeom>
          <a:noFill/>
          <a:ln/>
        </p:spPr>
        <p:txBody>
          <a:bodyPr wrap="square" lIns="0" tIns="0" rIns="0" bIns="0" rtlCol="0" anchor="t"/>
          <a:lstStyle/>
          <a:p>
            <a:pPr indent="0" marL="0">
              <a:buNone/>
            </a:pPr>
            <a:r>
              <a:rPr lang="en-US" sz="1200" dirty="0">
                <a:solidFill>
                  <a:schemeClr val="bg2"/>
                </a:solidFill>
              </a:rPr>
              <a:t>lexical, syntax or semantic</a:t>
            </a:r>
            <a:endParaRPr lang="en-US" sz="1200" dirty="0"/>
          </a:p>
        </p:txBody>
      </p:sp>
      <p:sp>
        <p:nvSpPr>
          <p:cNvPr id="17" name="panel-68"/>
          <p:cNvSpPr/>
          <p:nvPr/>
        </p:nvSpPr>
        <p:spPr>
          <a:xfrm>
            <a:off x="5029200" y="2871216"/>
            <a:ext cx="3657600" cy="731520"/>
          </a:xfrm>
          <a:prstGeom prst="roundRect">
            <a:avLst>
              <a:gd name="adj" fmla="val 10000"/>
            </a:avLst>
          </a:prstGeom>
          <a:solidFill>
            <a:schemeClr val="tx2"/>
          </a:solidFill>
          <a:ln w="9525">
            <a:solidFill>
              <a:schemeClr val="accent5"/>
            </a:solidFill>
            <a:prstDash val="solid"/>
          </a:ln>
        </p:spPr>
      </p:sp>
      <p:sp>
        <p:nvSpPr>
          <p:cNvPr id="18" name="text-69"/>
          <p:cNvSpPr txBox="1"/>
          <p:nvPr/>
        </p:nvSpPr>
        <p:spPr>
          <a:xfrm>
            <a:off x="5166360" y="2962656"/>
            <a:ext cx="1234440" cy="274320"/>
          </a:xfrm>
          <a:prstGeom prst="rect">
            <a:avLst/>
          </a:prstGeom>
          <a:noFill/>
          <a:ln/>
        </p:spPr>
        <p:txBody>
          <a:bodyPr wrap="square" lIns="0" tIns="0" rIns="0" bIns="0" rtlCol="0" anchor="t"/>
          <a:lstStyle/>
          <a:p>
            <a:pPr indent="0" marL="0">
              <a:buNone/>
            </a:pPr>
            <a:r>
              <a:rPr lang="en-US" sz="1100" b="1" spc="50" kern="0" dirty="0">
                <a:solidFill>
                  <a:schemeClr val="bg1"/>
                </a:solidFill>
              </a:rPr>
              <a:t>MESSAGE</a:t>
            </a:r>
            <a:endParaRPr lang="en-US" sz="1100" dirty="0"/>
          </a:p>
        </p:txBody>
      </p:sp>
      <p:sp>
        <p:nvSpPr>
          <p:cNvPr id="19" name="text-70"/>
          <p:cNvSpPr txBox="1"/>
          <p:nvPr/>
        </p:nvSpPr>
        <p:spPr>
          <a:xfrm>
            <a:off x="6446520" y="2944368"/>
            <a:ext cx="2148840" cy="274320"/>
          </a:xfrm>
          <a:prstGeom prst="rect">
            <a:avLst/>
          </a:prstGeom>
          <a:noFill/>
          <a:ln/>
        </p:spPr>
        <p:txBody>
          <a:bodyPr wrap="square" lIns="0" tIns="0" rIns="0" bIns="0" rtlCol="0" anchor="t"/>
          <a:lstStyle/>
          <a:p>
            <a:pPr indent="0" marL="0">
              <a:buNone/>
            </a:pPr>
            <a:r>
              <a:rPr lang="en-US" sz="1100" dirty="0">
                <a:solidFill>
                  <a:schemeClr val="bg1"/>
                </a:solidFill>
                <a:latin typeface="Courier New" pitchFamily="34" charset="0"/>
                <a:ea typeface="Courier New" pitchFamily="34" charset="-122"/>
                <a:cs typeface="Courier New" pitchFamily="34" charset="-120"/>
              </a:rPr>
              <a:t>Expected ';' at the end…</a:t>
            </a:r>
            <a:endParaRPr lang="en-US" sz="1100" dirty="0"/>
          </a:p>
        </p:txBody>
      </p:sp>
      <p:sp>
        <p:nvSpPr>
          <p:cNvPr id="20" name="text-71"/>
          <p:cNvSpPr txBox="1"/>
          <p:nvPr/>
        </p:nvSpPr>
        <p:spPr>
          <a:xfrm>
            <a:off x="5166360" y="3255264"/>
            <a:ext cx="3429000" cy="274320"/>
          </a:xfrm>
          <a:prstGeom prst="rect">
            <a:avLst/>
          </a:prstGeom>
          <a:noFill/>
          <a:ln/>
        </p:spPr>
        <p:txBody>
          <a:bodyPr wrap="square" lIns="0" tIns="0" rIns="0" bIns="0" rtlCol="0" anchor="t"/>
          <a:lstStyle/>
          <a:p>
            <a:pPr indent="0" marL="0">
              <a:buNone/>
            </a:pPr>
            <a:r>
              <a:rPr lang="en-US" sz="1200" dirty="0">
                <a:solidFill>
                  <a:schemeClr val="bg2"/>
                </a:solidFill>
              </a:rPr>
              <a:t>what rule was broken, in plain English</a:t>
            </a:r>
            <a:endParaRPr lang="en-US" sz="1200" dirty="0"/>
          </a:p>
        </p:txBody>
      </p:sp>
      <p:sp>
        <p:nvSpPr>
          <p:cNvPr id="21" name="panel-72"/>
          <p:cNvSpPr/>
          <p:nvPr/>
        </p:nvSpPr>
        <p:spPr>
          <a:xfrm>
            <a:off x="5029200" y="3712464"/>
            <a:ext cx="3657600" cy="731520"/>
          </a:xfrm>
          <a:prstGeom prst="roundRect">
            <a:avLst>
              <a:gd name="adj" fmla="val 10000"/>
            </a:avLst>
          </a:prstGeom>
          <a:solidFill>
            <a:schemeClr val="tx2"/>
          </a:solidFill>
          <a:ln w="9525">
            <a:solidFill>
              <a:schemeClr val="accent5"/>
            </a:solidFill>
            <a:prstDash val="solid"/>
          </a:ln>
        </p:spPr>
      </p:sp>
      <p:sp>
        <p:nvSpPr>
          <p:cNvPr id="22" name="text-73"/>
          <p:cNvSpPr txBox="1"/>
          <p:nvPr/>
        </p:nvSpPr>
        <p:spPr>
          <a:xfrm>
            <a:off x="5166360" y="3803904"/>
            <a:ext cx="1234440" cy="274320"/>
          </a:xfrm>
          <a:prstGeom prst="rect">
            <a:avLst/>
          </a:prstGeom>
          <a:noFill/>
          <a:ln/>
        </p:spPr>
        <p:txBody>
          <a:bodyPr wrap="square" lIns="0" tIns="0" rIns="0" bIns="0" rtlCol="0" anchor="t"/>
          <a:lstStyle/>
          <a:p>
            <a:pPr indent="0" marL="0">
              <a:buNone/>
            </a:pPr>
            <a:r>
              <a:rPr lang="en-US" sz="1100" b="1" spc="50" kern="0" dirty="0">
                <a:solidFill>
                  <a:schemeClr val="accent3"/>
                </a:solidFill>
              </a:rPr>
              <a:t>SUGGESTION</a:t>
            </a:r>
            <a:endParaRPr lang="en-US" sz="1100" dirty="0"/>
          </a:p>
        </p:txBody>
      </p:sp>
      <p:sp>
        <p:nvSpPr>
          <p:cNvPr id="23" name="text-74"/>
          <p:cNvSpPr txBox="1"/>
          <p:nvPr/>
        </p:nvSpPr>
        <p:spPr>
          <a:xfrm>
            <a:off x="6446520" y="3785616"/>
            <a:ext cx="2148840" cy="274320"/>
          </a:xfrm>
          <a:prstGeom prst="rect">
            <a:avLst/>
          </a:prstGeom>
          <a:noFill/>
          <a:ln/>
        </p:spPr>
        <p:txBody>
          <a:bodyPr wrap="square" lIns="0" tIns="0" rIns="0" bIns="0" rtlCol="0" anchor="t"/>
          <a:lstStyle/>
          <a:p>
            <a:pPr indent="0" marL="0">
              <a:buNone/>
            </a:pPr>
            <a:r>
              <a:rPr lang="en-US" sz="1100" dirty="0">
                <a:solidFill>
                  <a:schemeClr val="bg1"/>
                </a:solidFill>
                <a:latin typeface="Courier New" pitchFamily="34" charset="0"/>
                <a:ea typeface="Courier New" pitchFamily="34" charset="-122"/>
                <a:cs typeface="Courier New" pitchFamily="34" charset="-120"/>
              </a:rPr>
              <a:t>Add a semicolon…</a:t>
            </a:r>
            <a:endParaRPr lang="en-US" sz="1100" dirty="0"/>
          </a:p>
        </p:txBody>
      </p:sp>
      <p:sp>
        <p:nvSpPr>
          <p:cNvPr id="24" name="text-75"/>
          <p:cNvSpPr txBox="1"/>
          <p:nvPr/>
        </p:nvSpPr>
        <p:spPr>
          <a:xfrm>
            <a:off x="5166360" y="4096512"/>
            <a:ext cx="3429000" cy="274320"/>
          </a:xfrm>
          <a:prstGeom prst="rect">
            <a:avLst/>
          </a:prstGeom>
          <a:noFill/>
          <a:ln/>
        </p:spPr>
        <p:txBody>
          <a:bodyPr wrap="square" lIns="0" tIns="0" rIns="0" bIns="0" rtlCol="0" anchor="t"/>
          <a:lstStyle/>
          <a:p>
            <a:pPr indent="0" marL="0">
              <a:buNone/>
            </a:pPr>
            <a:r>
              <a:rPr lang="en-US" sz="1200" dirty="0">
                <a:solidFill>
                  <a:schemeClr val="bg2"/>
                </a:solidFill>
              </a:rPr>
              <a:t>one concrete thing to type</a:t>
            </a:r>
            <a:endParaRPr lang="en-US" sz="1200" dirty="0"/>
          </a:p>
        </p:txBody>
      </p:sp>
      <p:sp>
        <p:nvSpPr>
          <p:cNvPr id="25" name="Slide Number Placeholder 0"/>
          <p:cNvSpPr>
            <a:spLocks noGrp="1"/>
          </p:cNvSpPr>
          <p:nvPr>
            <p:ph type="sldNum" sz="quarter" idx="4294967295"/>
          </p:nvPr>
        </p:nvSpPr>
        <p:spPr>
          <a:xfrm>
            <a:off x="8321040" y="473659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600" b="1" dirty="0">
                <a:solidFill>
                  <a:schemeClr val="bg1"/>
                </a:solidFill>
              </a:rPr>
              <a:t>Four objectives</a:t>
            </a:r>
            <a:endParaRPr lang="en-US" sz="2600" dirty="0"/>
          </a:p>
        </p:txBody>
      </p:sp>
      <p:sp>
        <p:nvSpPr>
          <p:cNvPr id="4" name="panel-76"/>
          <p:cNvSpPr/>
          <p:nvPr/>
        </p:nvSpPr>
        <p:spPr>
          <a:xfrm>
            <a:off x="457200" y="1188720"/>
            <a:ext cx="4023360" cy="1463040"/>
          </a:xfrm>
          <a:prstGeom prst="roundRect">
            <a:avLst>
              <a:gd name="adj" fmla="val 5000"/>
            </a:avLst>
          </a:prstGeom>
          <a:solidFill>
            <a:schemeClr val="tx2"/>
          </a:solidFill>
          <a:ln w="9525">
            <a:solidFill>
              <a:schemeClr val="accent5"/>
            </a:solidFill>
            <a:prstDash val="solid"/>
          </a:ln>
        </p:spPr>
      </p:sp>
      <p:sp>
        <p:nvSpPr>
          <p:cNvPr id="5" name="text-77"/>
          <p:cNvSpPr txBox="1"/>
          <p:nvPr/>
        </p:nvSpPr>
        <p:spPr>
          <a:xfrm>
            <a:off x="731520" y="1463040"/>
            <a:ext cx="731520" cy="914400"/>
          </a:xfrm>
          <a:prstGeom prst="rect">
            <a:avLst/>
          </a:prstGeom>
          <a:noFill/>
          <a:ln/>
        </p:spPr>
        <p:txBody>
          <a:bodyPr wrap="square" lIns="0" tIns="0" rIns="0" bIns="0" rtlCol="0" anchor="t"/>
          <a:lstStyle/>
          <a:p>
            <a:pPr indent="0" marL="0">
              <a:buNone/>
            </a:pPr>
            <a:r>
              <a:rPr lang="en-US" sz="4400" b="1" dirty="0">
                <a:solidFill>
                  <a:schemeClr val="accent1"/>
                </a:solidFill>
                <a:latin typeface="Courier New" pitchFamily="34" charset="0"/>
                <a:ea typeface="Courier New" pitchFamily="34" charset="-122"/>
                <a:cs typeface="Courier New" pitchFamily="34" charset="-120"/>
              </a:rPr>
              <a:t>1</a:t>
            </a:r>
            <a:endParaRPr lang="en-US" sz="4400" dirty="0"/>
          </a:p>
        </p:txBody>
      </p:sp>
      <p:sp>
        <p:nvSpPr>
          <p:cNvPr id="6" name="text-78"/>
          <p:cNvSpPr txBox="1"/>
          <p:nvPr/>
        </p:nvSpPr>
        <p:spPr>
          <a:xfrm>
            <a:off x="1554480" y="1463040"/>
            <a:ext cx="2788920" cy="365760"/>
          </a:xfrm>
          <a:prstGeom prst="rect">
            <a:avLst/>
          </a:prstGeom>
          <a:noFill/>
          <a:ln/>
        </p:spPr>
        <p:txBody>
          <a:bodyPr wrap="square" lIns="0" tIns="0" rIns="0" bIns="0" rtlCol="0" anchor="t"/>
          <a:lstStyle/>
          <a:p>
            <a:pPr indent="0" marL="0">
              <a:buNone/>
            </a:pPr>
            <a:r>
              <a:rPr lang="en-US" sz="1500" b="1" dirty="0">
                <a:solidFill>
                  <a:schemeClr val="bg1"/>
                </a:solidFill>
              </a:rPr>
              <a:t>Build a working compiler</a:t>
            </a:r>
            <a:endParaRPr lang="en-US" sz="1500" dirty="0"/>
          </a:p>
        </p:txBody>
      </p:sp>
      <p:sp>
        <p:nvSpPr>
          <p:cNvPr id="7" name="text-79"/>
          <p:cNvSpPr txBox="1"/>
          <p:nvPr/>
        </p:nvSpPr>
        <p:spPr>
          <a:xfrm>
            <a:off x="1554480" y="1874520"/>
            <a:ext cx="2743200" cy="594360"/>
          </a:xfrm>
          <a:prstGeom prst="rect">
            <a:avLst/>
          </a:prstGeom>
          <a:noFill/>
          <a:ln/>
        </p:spPr>
        <p:txBody>
          <a:bodyPr wrap="square" lIns="0" tIns="0" rIns="0" bIns="0" rtlCol="0" anchor="t"/>
          <a:lstStyle/>
          <a:p>
            <a:pPr indent="0" marL="0">
              <a:buNone/>
            </a:pPr>
            <a:r>
              <a:rPr lang="en-US" sz="1400" dirty="0">
                <a:solidFill>
                  <a:schemeClr val="bg2"/>
                </a:solidFill>
              </a:rPr>
              <a:t>Source text in, three-address code (TAC) out.</a:t>
            </a:r>
            <a:endParaRPr lang="en-US" sz="1400" dirty="0"/>
          </a:p>
        </p:txBody>
      </p:sp>
      <p:sp>
        <p:nvSpPr>
          <p:cNvPr id="8" name="panel-80"/>
          <p:cNvSpPr/>
          <p:nvPr/>
        </p:nvSpPr>
        <p:spPr>
          <a:xfrm>
            <a:off x="4663440" y="1188720"/>
            <a:ext cx="4023360" cy="1463040"/>
          </a:xfrm>
          <a:prstGeom prst="roundRect">
            <a:avLst>
              <a:gd name="adj" fmla="val 5000"/>
            </a:avLst>
          </a:prstGeom>
          <a:solidFill>
            <a:schemeClr val="tx2"/>
          </a:solidFill>
          <a:ln w="9525">
            <a:solidFill>
              <a:schemeClr val="accent5"/>
            </a:solidFill>
            <a:prstDash val="solid"/>
          </a:ln>
        </p:spPr>
      </p:sp>
      <p:sp>
        <p:nvSpPr>
          <p:cNvPr id="9" name="text-81"/>
          <p:cNvSpPr txBox="1"/>
          <p:nvPr/>
        </p:nvSpPr>
        <p:spPr>
          <a:xfrm>
            <a:off x="4937760" y="1463040"/>
            <a:ext cx="731520" cy="914400"/>
          </a:xfrm>
          <a:prstGeom prst="rect">
            <a:avLst/>
          </a:prstGeom>
          <a:noFill/>
          <a:ln/>
        </p:spPr>
        <p:txBody>
          <a:bodyPr wrap="square" lIns="0" tIns="0" rIns="0" bIns="0" rtlCol="0" anchor="t"/>
          <a:lstStyle/>
          <a:p>
            <a:pPr indent="0" marL="0">
              <a:buNone/>
            </a:pPr>
            <a:r>
              <a:rPr lang="en-US" sz="4400" b="1" dirty="0">
                <a:solidFill>
                  <a:schemeClr val="accent1"/>
                </a:solidFill>
                <a:latin typeface="Courier New" pitchFamily="34" charset="0"/>
                <a:ea typeface="Courier New" pitchFamily="34" charset="-122"/>
                <a:cs typeface="Courier New" pitchFamily="34" charset="-120"/>
              </a:rPr>
              <a:t>2</a:t>
            </a:r>
            <a:endParaRPr lang="en-US" sz="4400" dirty="0"/>
          </a:p>
        </p:txBody>
      </p:sp>
      <p:sp>
        <p:nvSpPr>
          <p:cNvPr id="10" name="text-82"/>
          <p:cNvSpPr txBox="1"/>
          <p:nvPr/>
        </p:nvSpPr>
        <p:spPr>
          <a:xfrm>
            <a:off x="5760720" y="1463040"/>
            <a:ext cx="2788920" cy="365760"/>
          </a:xfrm>
          <a:prstGeom prst="rect">
            <a:avLst/>
          </a:prstGeom>
          <a:noFill/>
          <a:ln/>
        </p:spPr>
        <p:txBody>
          <a:bodyPr wrap="square" lIns="0" tIns="0" rIns="0" bIns="0" rtlCol="0" anchor="t"/>
          <a:lstStyle/>
          <a:p>
            <a:pPr indent="0" marL="0">
              <a:buNone/>
            </a:pPr>
            <a:r>
              <a:rPr lang="en-US" sz="1500" b="1" dirty="0">
                <a:solidFill>
                  <a:schemeClr val="bg1"/>
                </a:solidFill>
              </a:rPr>
              <a:t>Cover every core phase</a:t>
            </a:r>
            <a:endParaRPr lang="en-US" sz="1500" dirty="0"/>
          </a:p>
        </p:txBody>
      </p:sp>
      <p:sp>
        <p:nvSpPr>
          <p:cNvPr id="11" name="text-83"/>
          <p:cNvSpPr txBox="1"/>
          <p:nvPr/>
        </p:nvSpPr>
        <p:spPr>
          <a:xfrm>
            <a:off x="5760720" y="1874520"/>
            <a:ext cx="2743200" cy="594360"/>
          </a:xfrm>
          <a:prstGeom prst="rect">
            <a:avLst/>
          </a:prstGeom>
          <a:noFill/>
          <a:ln/>
        </p:spPr>
        <p:txBody>
          <a:bodyPr wrap="square" lIns="0" tIns="0" rIns="0" bIns="0" rtlCol="0" anchor="t"/>
          <a:lstStyle/>
          <a:p>
            <a:pPr indent="0" marL="0">
              <a:buNone/>
            </a:pPr>
            <a:r>
              <a:rPr lang="en-US" sz="1400" dirty="0">
                <a:solidFill>
                  <a:schemeClr val="bg2"/>
                </a:solidFill>
              </a:rPr>
              <a:t>Lexical, syntax, semantic, intermediate code and error reporting.</a:t>
            </a:r>
            <a:endParaRPr lang="en-US" sz="1400" dirty="0"/>
          </a:p>
        </p:txBody>
      </p:sp>
      <p:sp>
        <p:nvSpPr>
          <p:cNvPr id="12" name="panel-84"/>
          <p:cNvSpPr/>
          <p:nvPr/>
        </p:nvSpPr>
        <p:spPr>
          <a:xfrm>
            <a:off x="457200" y="2880360"/>
            <a:ext cx="4023360" cy="1463040"/>
          </a:xfrm>
          <a:prstGeom prst="roundRect">
            <a:avLst>
              <a:gd name="adj" fmla="val 5000"/>
            </a:avLst>
          </a:prstGeom>
          <a:solidFill>
            <a:schemeClr val="tx2"/>
          </a:solidFill>
          <a:ln w="9525">
            <a:solidFill>
              <a:schemeClr val="accent5"/>
            </a:solidFill>
            <a:prstDash val="solid"/>
          </a:ln>
        </p:spPr>
      </p:sp>
      <p:sp>
        <p:nvSpPr>
          <p:cNvPr id="13" name="text-85"/>
          <p:cNvSpPr txBox="1"/>
          <p:nvPr/>
        </p:nvSpPr>
        <p:spPr>
          <a:xfrm>
            <a:off x="731520" y="3154680"/>
            <a:ext cx="731520" cy="914400"/>
          </a:xfrm>
          <a:prstGeom prst="rect">
            <a:avLst/>
          </a:prstGeom>
          <a:noFill/>
          <a:ln/>
        </p:spPr>
        <p:txBody>
          <a:bodyPr wrap="square" lIns="0" tIns="0" rIns="0" bIns="0" rtlCol="0" anchor="t"/>
          <a:lstStyle/>
          <a:p>
            <a:pPr indent="0" marL="0">
              <a:buNone/>
            </a:pPr>
            <a:r>
              <a:rPr lang="en-US" sz="4400" b="1" dirty="0">
                <a:solidFill>
                  <a:schemeClr val="accent1"/>
                </a:solidFill>
                <a:latin typeface="Courier New" pitchFamily="34" charset="0"/>
                <a:ea typeface="Courier New" pitchFamily="34" charset="-122"/>
                <a:cs typeface="Courier New" pitchFamily="34" charset="-120"/>
              </a:rPr>
              <a:t>3</a:t>
            </a:r>
            <a:endParaRPr lang="en-US" sz="4400" dirty="0"/>
          </a:p>
        </p:txBody>
      </p:sp>
      <p:sp>
        <p:nvSpPr>
          <p:cNvPr id="14" name="text-86"/>
          <p:cNvSpPr txBox="1"/>
          <p:nvPr/>
        </p:nvSpPr>
        <p:spPr>
          <a:xfrm>
            <a:off x="1554480" y="3154680"/>
            <a:ext cx="2788920" cy="365760"/>
          </a:xfrm>
          <a:prstGeom prst="rect">
            <a:avLst/>
          </a:prstGeom>
          <a:noFill/>
          <a:ln/>
        </p:spPr>
        <p:txBody>
          <a:bodyPr wrap="square" lIns="0" tIns="0" rIns="0" bIns="0" rtlCol="0" anchor="t"/>
          <a:lstStyle/>
          <a:p>
            <a:pPr indent="0" marL="0">
              <a:buNone/>
            </a:pPr>
            <a:r>
              <a:rPr lang="en-US" sz="1500" b="1" dirty="0">
                <a:solidFill>
                  <a:schemeClr val="bg1"/>
                </a:solidFill>
              </a:rPr>
              <a:t>Report errors like a tutor</a:t>
            </a:r>
            <a:endParaRPr lang="en-US" sz="1500" dirty="0"/>
          </a:p>
        </p:txBody>
      </p:sp>
      <p:sp>
        <p:nvSpPr>
          <p:cNvPr id="15" name="text-87"/>
          <p:cNvSpPr txBox="1"/>
          <p:nvPr/>
        </p:nvSpPr>
        <p:spPr>
          <a:xfrm>
            <a:off x="1554480" y="3566160"/>
            <a:ext cx="2743200" cy="594360"/>
          </a:xfrm>
          <a:prstGeom prst="rect">
            <a:avLst/>
          </a:prstGeom>
          <a:noFill/>
          <a:ln/>
        </p:spPr>
        <p:txBody>
          <a:bodyPr wrap="square" lIns="0" tIns="0" rIns="0" bIns="0" rtlCol="0" anchor="t"/>
          <a:lstStyle/>
          <a:p>
            <a:pPr indent="0" marL="0">
              <a:buNone/>
            </a:pPr>
            <a:r>
              <a:rPr lang="en-US" sz="1400" dirty="0">
                <a:solidFill>
                  <a:schemeClr val="bg2"/>
                </a:solidFill>
              </a:rPr>
              <a:t>The right line, plain words, one concrete fix.</a:t>
            </a:r>
            <a:endParaRPr lang="en-US" sz="1400" dirty="0"/>
          </a:p>
        </p:txBody>
      </p:sp>
      <p:sp>
        <p:nvSpPr>
          <p:cNvPr id="16" name="panel-88"/>
          <p:cNvSpPr/>
          <p:nvPr/>
        </p:nvSpPr>
        <p:spPr>
          <a:xfrm>
            <a:off x="4663440" y="2880360"/>
            <a:ext cx="4023360" cy="1463040"/>
          </a:xfrm>
          <a:prstGeom prst="roundRect">
            <a:avLst>
              <a:gd name="adj" fmla="val 5000"/>
            </a:avLst>
          </a:prstGeom>
          <a:solidFill>
            <a:schemeClr val="tx2"/>
          </a:solidFill>
          <a:ln w="9525">
            <a:solidFill>
              <a:schemeClr val="accent5"/>
            </a:solidFill>
            <a:prstDash val="solid"/>
          </a:ln>
        </p:spPr>
      </p:sp>
      <p:sp>
        <p:nvSpPr>
          <p:cNvPr id="17" name="text-89"/>
          <p:cNvSpPr txBox="1"/>
          <p:nvPr/>
        </p:nvSpPr>
        <p:spPr>
          <a:xfrm>
            <a:off x="4937760" y="3154680"/>
            <a:ext cx="731520" cy="914400"/>
          </a:xfrm>
          <a:prstGeom prst="rect">
            <a:avLst/>
          </a:prstGeom>
          <a:noFill/>
          <a:ln/>
        </p:spPr>
        <p:txBody>
          <a:bodyPr wrap="square" lIns="0" tIns="0" rIns="0" bIns="0" rtlCol="0" anchor="t"/>
          <a:lstStyle/>
          <a:p>
            <a:pPr indent="0" marL="0">
              <a:buNone/>
            </a:pPr>
            <a:r>
              <a:rPr lang="en-US" sz="4400" b="1" dirty="0">
                <a:solidFill>
                  <a:schemeClr val="accent1"/>
                </a:solidFill>
                <a:latin typeface="Courier New" pitchFamily="34" charset="0"/>
                <a:ea typeface="Courier New" pitchFamily="34" charset="-122"/>
                <a:cs typeface="Courier New" pitchFamily="34" charset="-120"/>
              </a:rPr>
              <a:t>4</a:t>
            </a:r>
            <a:endParaRPr lang="en-US" sz="4400" dirty="0"/>
          </a:p>
        </p:txBody>
      </p:sp>
      <p:sp>
        <p:nvSpPr>
          <p:cNvPr id="18" name="text-90"/>
          <p:cNvSpPr txBox="1"/>
          <p:nvPr/>
        </p:nvSpPr>
        <p:spPr>
          <a:xfrm>
            <a:off x="5760720" y="3154680"/>
            <a:ext cx="2788920" cy="365760"/>
          </a:xfrm>
          <a:prstGeom prst="rect">
            <a:avLst/>
          </a:prstGeom>
          <a:noFill/>
          <a:ln/>
        </p:spPr>
        <p:txBody>
          <a:bodyPr wrap="square" lIns="0" tIns="0" rIns="0" bIns="0" rtlCol="0" anchor="t"/>
          <a:lstStyle/>
          <a:p>
            <a:pPr indent="0" marL="0">
              <a:buNone/>
            </a:pPr>
            <a:r>
              <a:rPr lang="en-US" sz="1500" b="1" dirty="0">
                <a:solidFill>
                  <a:schemeClr val="bg1"/>
                </a:solidFill>
              </a:rPr>
              <a:t>Hand-written C++17 only</a:t>
            </a:r>
            <a:endParaRPr lang="en-US" sz="1500" dirty="0"/>
          </a:p>
        </p:txBody>
      </p:sp>
      <p:sp>
        <p:nvSpPr>
          <p:cNvPr id="19" name="text-91"/>
          <p:cNvSpPr txBox="1"/>
          <p:nvPr/>
        </p:nvSpPr>
        <p:spPr>
          <a:xfrm>
            <a:off x="5760720" y="3566160"/>
            <a:ext cx="2743200" cy="594360"/>
          </a:xfrm>
          <a:prstGeom prst="rect">
            <a:avLst/>
          </a:prstGeom>
          <a:noFill/>
          <a:ln/>
        </p:spPr>
        <p:txBody>
          <a:bodyPr wrap="square" lIns="0" tIns="0" rIns="0" bIns="0" rtlCol="0" anchor="t"/>
          <a:lstStyle/>
          <a:p>
            <a:pPr indent="0" marL="0">
              <a:buNone/>
            </a:pPr>
            <a:r>
              <a:rPr lang="en-US" sz="1400" dirty="0">
                <a:solidFill>
                  <a:schemeClr val="bg2"/>
                </a:solidFill>
              </a:rPr>
              <a:t>Standard library, no Lex or Yacc, so each message is ours.</a:t>
            </a:r>
            <a:endParaRPr lang="en-US" sz="1400" dirty="0"/>
          </a:p>
        </p:txBody>
      </p:sp>
      <p:sp>
        <p:nvSpPr>
          <p:cNvPr id="25" name="Slide Number Placeholder 0"/>
          <p:cNvSpPr>
            <a:spLocks noGrp="1"/>
          </p:cNvSpPr>
          <p:nvPr>
            <p:ph type="sldNum" sz="quarter" idx="4294967295"/>
          </p:nvPr>
        </p:nvSpPr>
        <p:spPr>
          <a:xfrm>
            <a:off x="8321040" y="473659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92"/>
          <p:cNvSpPr txBox="1"/>
          <p:nvPr/>
        </p:nvSpPr>
        <p:spPr>
          <a:xfrm>
            <a:off x="457200" y="1325880"/>
            <a:ext cx="1828800" cy="640080"/>
          </a:xfrm>
          <a:prstGeom prst="rect">
            <a:avLst/>
          </a:prstGeom>
          <a:noFill/>
          <a:ln/>
        </p:spPr>
        <p:txBody>
          <a:bodyPr wrap="square" lIns="0" tIns="0" rIns="0" bIns="0" rtlCol="0" anchor="t"/>
          <a:lstStyle/>
          <a:p>
            <a:pPr indent="0" marL="0">
              <a:buNone/>
            </a:pPr>
            <a:r>
              <a:rPr lang="en-US" sz="4000" b="1" dirty="0">
                <a:solidFill>
                  <a:schemeClr val="accent1"/>
                </a:solidFill>
                <a:latin typeface="Courier New" pitchFamily="34" charset="0"/>
                <a:ea typeface="Courier New" pitchFamily="34" charset="-122"/>
                <a:cs typeface="Courier New" pitchFamily="34" charset="-120"/>
              </a:rPr>
              <a:t>02</a:t>
            </a:r>
            <a:endParaRPr lang="en-US" sz="4000" dirty="0"/>
          </a:p>
        </p:txBody>
      </p:sp>
      <p:sp>
        <p:nvSpPr>
          <p:cNvPr id="3" name="Text 0"/>
          <p:cNvSpPr/>
          <p:nvPr>
            <p:ph idx="100" type="title" hasCustomPrompt="1"/>
          </p:nvPr>
        </p:nvSpPr>
        <p:spPr>
          <a:xfrm>
            <a:off x="457200" y="2011680"/>
            <a:ext cx="8229600" cy="822960"/>
          </a:xfrm>
          <a:prstGeom prst="rect">
            <a:avLst/>
          </a:prstGeom>
          <a:noFill/>
          <a:ln/>
        </p:spPr>
        <p:txBody>
          <a:bodyPr wrap="square" lIns="0" tIns="0" rIns="0" bIns="0" rtlCol="0" anchor="ctr"/>
          <a:lstStyle/>
          <a:p>
            <a:pPr algn="l" indent="0" marL="0">
              <a:buNone/>
            </a:pPr>
            <a:r>
              <a:rPr lang="en-US" sz="4000" b="1" dirty="0">
                <a:solidFill>
                  <a:schemeClr val="bg1"/>
                </a:solidFill>
              </a:rPr>
              <a:t>The language</a:t>
            </a:r>
            <a:endParaRPr lang="en-US" sz="4000" dirty="0"/>
          </a:p>
        </p:txBody>
      </p:sp>
      <p:sp>
        <p:nvSpPr>
          <p:cNvPr id="4" name="Text 0"/>
          <p:cNvSpPr/>
          <p:nvPr>
            <p:ph idx="101" type="body" hasCustomPrompt="1"/>
          </p:nvPr>
        </p:nvSpPr>
        <p:spPr>
          <a:xfrm>
            <a:off x="457200" y="2880360"/>
            <a:ext cx="7315200" cy="731520"/>
          </a:xfrm>
          <a:prstGeom prst="rect">
            <a:avLst/>
          </a:prstGeom>
          <a:noFill/>
          <a:ln/>
        </p:spPr>
        <p:txBody>
          <a:bodyPr wrap="square" lIns="0" tIns="0" rIns="0" bIns="0" rtlCol="0" anchor="t"/>
          <a:lstStyle/>
          <a:p>
            <a:pPr indent="0" marL="0">
              <a:buNone/>
            </a:pPr>
            <a:r>
              <a:rPr lang="en-US" sz="1600" dirty="0">
                <a:solidFill>
                  <a:schemeClr val="bg2"/>
                </a:solidFill>
              </a:rPr>
              <a:t>A small, C-like beginner language, kept small on purpose so every phase is complete.</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600" b="1" dirty="0">
                <a:solidFill>
                  <a:schemeClr val="bg1"/>
                </a:solidFill>
              </a:rPr>
              <a:t>What ErrorBuddy compiles</a:t>
            </a:r>
            <a:endParaRPr lang="en-US" sz="2600" dirty="0"/>
          </a:p>
        </p:txBody>
      </p:sp>
      <p:sp>
        <p:nvSpPr>
          <p:cNvPr id="4" name="text-93"/>
          <p:cNvSpPr txBox="1"/>
          <p:nvPr/>
        </p:nvSpPr>
        <p:spPr>
          <a:xfrm>
            <a:off x="457200" y="1051560"/>
            <a:ext cx="3657600" cy="228600"/>
          </a:xfrm>
          <a:prstGeom prst="rect">
            <a:avLst/>
          </a:prstGeom>
          <a:noFill/>
          <a:ln/>
        </p:spPr>
        <p:txBody>
          <a:bodyPr wrap="square" lIns="0" tIns="0" rIns="0" bIns="0" rtlCol="0" anchor="t"/>
          <a:lstStyle/>
          <a:p>
            <a:pPr indent="0" marL="0">
              <a:buNone/>
            </a:pPr>
            <a:r>
              <a:rPr lang="en-US" sz="1000" b="1" spc="150" kern="0" dirty="0">
                <a:solidFill>
                  <a:schemeClr val="bg2"/>
                </a:solidFill>
              </a:rPr>
              <a:t>EXAMPLES/VALID.TXT</a:t>
            </a:r>
            <a:endParaRPr lang="en-US" sz="1000" dirty="0"/>
          </a:p>
        </p:txBody>
      </p:sp>
      <p:sp>
        <p:nvSpPr>
          <p:cNvPr id="5" name="panel-94"/>
          <p:cNvSpPr/>
          <p:nvPr/>
        </p:nvSpPr>
        <p:spPr>
          <a:xfrm>
            <a:off x="457200" y="1325880"/>
            <a:ext cx="4023360" cy="1965960"/>
          </a:xfrm>
          <a:prstGeom prst="roundRect">
            <a:avLst>
              <a:gd name="adj" fmla="val 3721"/>
            </a:avLst>
          </a:prstGeom>
          <a:solidFill>
            <a:schemeClr val="tx1"/>
          </a:solidFill>
          <a:ln w="9525">
            <a:solidFill>
              <a:schemeClr val="accent5"/>
            </a:solidFill>
            <a:prstDash val="solid"/>
          </a:ln>
        </p:spPr>
      </p:sp>
      <p:sp>
        <p:nvSpPr>
          <p:cNvPr id="6" name="text-95"/>
          <p:cNvSpPr txBox="1"/>
          <p:nvPr/>
        </p:nvSpPr>
        <p:spPr>
          <a:xfrm>
            <a:off x="594360" y="1435608"/>
            <a:ext cx="3749040" cy="1746504"/>
          </a:xfrm>
          <a:prstGeom prst="rect">
            <a:avLst/>
          </a:prstGeom>
          <a:noFill/>
          <a:ln/>
        </p:spPr>
        <p:txBody>
          <a:bodyPr wrap="square" lIns="0" tIns="0" rIns="0" bIns="0" rtlCol="0" anchor="t"/>
          <a:lstStyle/>
          <a:p>
            <a:pPr indent="0" marL="0">
              <a:lnSpc>
                <a:spcPct val="110000"/>
              </a:lnSpc>
              <a:buNone/>
            </a:pPr>
            <a:r>
              <a:rPr lang="en-US" sz="1200" dirty="0">
                <a:solidFill>
                  <a:srgbClr val="9AA2AD"/>
                </a:solidFill>
                <a:latin typeface="Courier New" pitchFamily="34" charset="0"/>
                <a:ea typeface="Courier New" pitchFamily="34" charset="-122"/>
                <a:cs typeface="Courier New" pitchFamily="34" charset="-120"/>
              </a:rPr>
              <a:t>// A valid ErrorBuddy program</a:t>
            </a:r>
            <a:endParaRPr lang="en-US" sz="1200" dirty="0"/>
          </a:p>
          <a:p>
            <a:pPr indent="0" marL="0">
              <a:lnSpc>
                <a:spcPct val="110000"/>
              </a:lnSpc>
              <a:buNone/>
            </a:pPr>
            <a:r>
              <a:rPr lang="en-US" sz="1200" dirty="0">
                <a:solidFill>
                  <a:srgbClr val="C39BF0"/>
                </a:solidFill>
                <a:latin typeface="Courier New" pitchFamily="34" charset="0"/>
                <a:ea typeface="Courier New" pitchFamily="34" charset="-122"/>
                <a:cs typeface="Courier New" pitchFamily="34" charset="-120"/>
              </a:rPr>
              <a:t>int</a:t>
            </a:r>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 age = 20;</a:t>
            </a:r>
            <a:endParaRPr lang="en-US" sz="1200" dirty="0"/>
          </a:p>
          <a:p>
            <a:pPr indent="0" marL="0">
              <a:lnSpc>
                <a:spcPct val="110000"/>
              </a:lnSpc>
              <a:buNone/>
            </a:pPr>
            <a:r>
              <a:rPr lang="en-US" sz="1200" dirty="0">
                <a:solidFill>
                  <a:srgbClr val="C39BF0"/>
                </a:solidFill>
                <a:latin typeface="Courier New" pitchFamily="34" charset="0"/>
                <a:ea typeface="Courier New" pitchFamily="34" charset="-122"/>
                <a:cs typeface="Courier New" pitchFamily="34" charset="-120"/>
              </a:rPr>
              <a:t>int</a:t>
            </a:r>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 score = 10;</a:t>
            </a:r>
            <a:endParaRPr lang="en-US" sz="1200" dirty="0"/>
          </a:p>
          <a:p>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score = score + age * 2;</a:t>
            </a:r>
            <a:endParaRPr lang="en-US" sz="1200" dirty="0"/>
          </a:p>
          <a:p>
            <a:pPr indent="0" marL="0">
              <a:lnSpc>
                <a:spcPct val="110000"/>
              </a:lnSpc>
              <a:buNone/>
            </a:pPr>
            <a:r>
              <a:rPr lang="en-US" sz="1200" dirty="0">
                <a:solidFill>
                  <a:srgbClr val="C39BF0"/>
                </a:solidFill>
                <a:latin typeface="Courier New" pitchFamily="34" charset="0"/>
                <a:ea typeface="Courier New" pitchFamily="34" charset="-122"/>
                <a:cs typeface="Courier New" pitchFamily="34" charset="-120"/>
              </a:rPr>
              <a:t>int</a:t>
            </a:r>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 bonus = (score - 5) / 5;</a:t>
            </a:r>
            <a:endParaRPr lang="en-US" sz="1200" dirty="0"/>
          </a:p>
          <a:p>
            <a:pPr indent="0" marL="0">
              <a:lnSpc>
                <a:spcPct val="110000"/>
              </a:lnSpc>
              <a:buNone/>
            </a:pPr>
            <a:r>
              <a:rPr lang="en-US" sz="1200" dirty="0">
                <a:solidFill>
                  <a:srgbClr val="C39BF0"/>
                </a:solidFill>
                <a:latin typeface="Courier New" pitchFamily="34" charset="0"/>
                <a:ea typeface="Courier New" pitchFamily="34" charset="-122"/>
                <a:cs typeface="Courier New" pitchFamily="34" charset="-120"/>
              </a:rPr>
              <a:t>print</a:t>
            </a:r>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 score;</a:t>
            </a:r>
            <a:endParaRPr lang="en-US" sz="1200" dirty="0"/>
          </a:p>
          <a:p>
            <a:pPr indent="0" marL="0">
              <a:lnSpc>
                <a:spcPct val="110000"/>
              </a:lnSpc>
              <a:buNone/>
            </a:pPr>
            <a:r>
              <a:rPr lang="en-US" sz="1200" dirty="0">
                <a:solidFill>
                  <a:srgbClr val="C39BF0"/>
                </a:solidFill>
                <a:latin typeface="Courier New" pitchFamily="34" charset="0"/>
                <a:ea typeface="Courier New" pitchFamily="34" charset="-122"/>
                <a:cs typeface="Courier New" pitchFamily="34" charset="-120"/>
              </a:rPr>
              <a:t>print</a:t>
            </a:r>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 bonus * (age + 1);</a:t>
            </a:r>
            <a:endParaRPr lang="en-US" sz="1200" dirty="0"/>
          </a:p>
        </p:txBody>
      </p:sp>
      <p:sp>
        <p:nvSpPr>
          <p:cNvPr id="7" name="text-96"/>
          <p:cNvSpPr txBox="1"/>
          <p:nvPr/>
        </p:nvSpPr>
        <p:spPr>
          <a:xfrm>
            <a:off x="4754880" y="1051560"/>
            <a:ext cx="3931920" cy="228600"/>
          </a:xfrm>
          <a:prstGeom prst="rect">
            <a:avLst/>
          </a:prstGeom>
          <a:noFill/>
          <a:ln/>
        </p:spPr>
        <p:txBody>
          <a:bodyPr wrap="square" lIns="0" tIns="0" rIns="0" bIns="0" rtlCol="0" anchor="t"/>
          <a:lstStyle/>
          <a:p>
            <a:pPr indent="0" marL="0">
              <a:buNone/>
            </a:pPr>
            <a:r>
              <a:rPr lang="en-US" sz="1000" b="1" spc="150" kern="0" dirty="0">
                <a:solidFill>
                  <a:schemeClr val="bg2"/>
                </a:solidFill>
              </a:rPr>
              <a:t>GRAMMAR (ONE C++ FUNCTION PER RULE)</a:t>
            </a:r>
            <a:endParaRPr lang="en-US" sz="1000" dirty="0"/>
          </a:p>
        </p:txBody>
      </p:sp>
      <p:sp>
        <p:nvSpPr>
          <p:cNvPr id="8" name="panel-97"/>
          <p:cNvSpPr/>
          <p:nvPr/>
        </p:nvSpPr>
        <p:spPr>
          <a:xfrm>
            <a:off x="4754880" y="1325880"/>
            <a:ext cx="3931920" cy="1965960"/>
          </a:xfrm>
          <a:prstGeom prst="roundRect">
            <a:avLst>
              <a:gd name="adj" fmla="val 3721"/>
            </a:avLst>
          </a:prstGeom>
          <a:solidFill>
            <a:schemeClr val="tx1"/>
          </a:solidFill>
          <a:ln w="9525">
            <a:solidFill>
              <a:schemeClr val="accent5"/>
            </a:solidFill>
            <a:prstDash val="solid"/>
          </a:ln>
        </p:spPr>
      </p:sp>
      <p:sp>
        <p:nvSpPr>
          <p:cNvPr id="9" name="text-98"/>
          <p:cNvSpPr txBox="1"/>
          <p:nvPr/>
        </p:nvSpPr>
        <p:spPr>
          <a:xfrm>
            <a:off x="4892040" y="1435608"/>
            <a:ext cx="3657600" cy="1746504"/>
          </a:xfrm>
          <a:prstGeom prst="rect">
            <a:avLst/>
          </a:prstGeom>
          <a:noFill/>
          <a:ln/>
        </p:spPr>
        <p:txBody>
          <a:bodyPr wrap="square" lIns="0" tIns="0" rIns="0" bIns="0" rtlCol="0" anchor="t"/>
          <a:lstStyle/>
          <a:p>
            <a:pPr indent="0" marL="0">
              <a:lnSpc>
                <a:spcPct val="100000"/>
              </a:lnSpc>
              <a:buNone/>
            </a:pPr>
            <a:r>
              <a:rPr lang="en-US" sz="1100" dirty="0">
                <a:solidFill>
                  <a:schemeClr val="bg1"/>
                </a:solidFill>
                <a:latin typeface="Courier New" pitchFamily="34" charset="0"/>
                <a:ea typeface="Courier New" pitchFamily="34" charset="-122"/>
                <a:cs typeface="Courier New" pitchFamily="34" charset="-120"/>
              </a:rPr>
              <a:t>program     → statement*</a:t>
            </a:r>
            <a:endParaRPr lang="en-US" sz="1100" dirty="0"/>
          </a:p>
          <a:p>
            <a:pPr indent="0" marL="0">
              <a:lnSpc>
                <a:spcPct val="100000"/>
              </a:lnSpc>
              <a:buNone/>
            </a:pPr>
            <a:r>
              <a:rPr lang="en-US" sz="1100" dirty="0">
                <a:solidFill>
                  <a:schemeClr val="bg1"/>
                </a:solidFill>
                <a:latin typeface="Courier New" pitchFamily="34" charset="0"/>
                <a:ea typeface="Courier New" pitchFamily="34" charset="-122"/>
                <a:cs typeface="Courier New" pitchFamily="34" charset="-120"/>
              </a:rPr>
              <a:t>statement   → declaration</a:t>
            </a:r>
            <a:endParaRPr lang="en-US" sz="1100" dirty="0"/>
          </a:p>
          <a:p>
            <a:pPr indent="0" marL="0">
              <a:lnSpc>
                <a:spcPct val="100000"/>
              </a:lnSpc>
              <a:buNone/>
            </a:pPr>
            <a:r>
              <a:rPr lang="en-US" sz="1100" dirty="0">
                <a:solidFill>
                  <a:schemeClr val="bg1"/>
                </a:solidFill>
                <a:latin typeface="Courier New" pitchFamily="34" charset="0"/>
                <a:ea typeface="Courier New" pitchFamily="34" charset="-122"/>
                <a:cs typeface="Courier New" pitchFamily="34" charset="-120"/>
              </a:rPr>
              <a:t>            | assignment | print</a:t>
            </a:r>
            <a:endParaRPr lang="en-US" sz="1100" dirty="0"/>
          </a:p>
          <a:p>
            <a:pPr indent="0" marL="0">
              <a:lnSpc>
                <a:spcPct val="100000"/>
              </a:lnSpc>
              <a:buNone/>
            </a:pPr>
            <a:r>
              <a:rPr lang="en-US" sz="1100" dirty="0">
                <a:solidFill>
                  <a:schemeClr val="bg1"/>
                </a:solidFill>
                <a:latin typeface="Courier New" pitchFamily="34" charset="0"/>
                <a:ea typeface="Courier New" pitchFamily="34" charset="-122"/>
                <a:cs typeface="Courier New" pitchFamily="34" charset="-120"/>
              </a:rPr>
              <a:t>declaration → int ID = expr ;</a:t>
            </a:r>
            <a:endParaRPr lang="en-US" sz="1100" dirty="0"/>
          </a:p>
          <a:p>
            <a:pPr indent="0" marL="0">
              <a:lnSpc>
                <a:spcPct val="100000"/>
              </a:lnSpc>
              <a:buNone/>
            </a:pPr>
            <a:r>
              <a:rPr lang="en-US" sz="1100" dirty="0">
                <a:solidFill>
                  <a:schemeClr val="bg1"/>
                </a:solidFill>
                <a:latin typeface="Courier New" pitchFamily="34" charset="0"/>
                <a:ea typeface="Courier New" pitchFamily="34" charset="-122"/>
                <a:cs typeface="Courier New" pitchFamily="34" charset="-120"/>
              </a:rPr>
              <a:t>assignment  → ID = expr ;</a:t>
            </a:r>
            <a:endParaRPr lang="en-US" sz="1100" dirty="0"/>
          </a:p>
          <a:p>
            <a:pPr indent="0" marL="0">
              <a:lnSpc>
                <a:spcPct val="100000"/>
              </a:lnSpc>
              <a:buNone/>
            </a:pPr>
            <a:r>
              <a:rPr lang="en-US" sz="1100" dirty="0">
                <a:solidFill>
                  <a:schemeClr val="bg1"/>
                </a:solidFill>
                <a:latin typeface="Courier New" pitchFamily="34" charset="0"/>
                <a:ea typeface="Courier New" pitchFamily="34" charset="-122"/>
                <a:cs typeface="Courier New" pitchFamily="34" charset="-120"/>
              </a:rPr>
              <a:t>print       → print expr ;</a:t>
            </a:r>
            <a:endParaRPr lang="en-US" sz="1100" dirty="0"/>
          </a:p>
          <a:p>
            <a:pPr indent="0" marL="0">
              <a:lnSpc>
                <a:spcPct val="100000"/>
              </a:lnSpc>
              <a:buNone/>
            </a:pPr>
            <a:r>
              <a:rPr lang="en-US" sz="1100" dirty="0">
                <a:solidFill>
                  <a:schemeClr val="bg1"/>
                </a:solidFill>
                <a:latin typeface="Courier New" pitchFamily="34" charset="0"/>
                <a:ea typeface="Courier New" pitchFamily="34" charset="-122"/>
                <a:cs typeface="Courier New" pitchFamily="34" charset="-120"/>
              </a:rPr>
              <a:t>expression  → term ((+|-) term)*</a:t>
            </a:r>
            <a:endParaRPr lang="en-US" sz="1100" dirty="0"/>
          </a:p>
          <a:p>
            <a:pPr indent="0" marL="0">
              <a:lnSpc>
                <a:spcPct val="100000"/>
              </a:lnSpc>
              <a:buNone/>
            </a:pPr>
            <a:r>
              <a:rPr lang="en-US" sz="1100" dirty="0">
                <a:solidFill>
                  <a:schemeClr val="bg1"/>
                </a:solidFill>
                <a:latin typeface="Courier New" pitchFamily="34" charset="0"/>
                <a:ea typeface="Courier New" pitchFamily="34" charset="-122"/>
                <a:cs typeface="Courier New" pitchFamily="34" charset="-120"/>
              </a:rPr>
              <a:t>term        → factor ((*|/) factor)*</a:t>
            </a:r>
            <a:endParaRPr lang="en-US" sz="1100" dirty="0"/>
          </a:p>
          <a:p>
            <a:pPr indent="0" marL="0">
              <a:lnSpc>
                <a:spcPct val="100000"/>
              </a:lnSpc>
              <a:buNone/>
            </a:pPr>
            <a:r>
              <a:rPr lang="en-US" sz="1100" dirty="0">
                <a:solidFill>
                  <a:schemeClr val="bg1"/>
                </a:solidFill>
                <a:latin typeface="Courier New" pitchFamily="34" charset="0"/>
                <a:ea typeface="Courier New" pitchFamily="34" charset="-122"/>
                <a:cs typeface="Courier New" pitchFamily="34" charset="-120"/>
              </a:rPr>
              <a:t>factor      → NUM | ID | ( expr )</a:t>
            </a:r>
            <a:endParaRPr lang="en-US" sz="1100" dirty="0"/>
          </a:p>
        </p:txBody>
      </p:sp>
      <p:sp>
        <p:nvSpPr>
          <p:cNvPr id="10" name="panel-99"/>
          <p:cNvSpPr/>
          <p:nvPr/>
        </p:nvSpPr>
        <p:spPr>
          <a:xfrm>
            <a:off x="457200" y="3520440"/>
            <a:ext cx="2651760" cy="1005840"/>
          </a:xfrm>
          <a:prstGeom prst="roundRect">
            <a:avLst>
              <a:gd name="adj" fmla="val 7273"/>
            </a:avLst>
          </a:prstGeom>
          <a:solidFill>
            <a:schemeClr val="tx2"/>
          </a:solidFill>
          <a:ln w="9525">
            <a:solidFill>
              <a:schemeClr val="accent5"/>
            </a:solidFill>
            <a:prstDash val="solid"/>
          </a:ln>
        </p:spPr>
      </p:sp>
      <p:sp>
        <p:nvSpPr>
          <p:cNvPr id="11" name="text-100"/>
          <p:cNvSpPr txBox="1"/>
          <p:nvPr/>
        </p:nvSpPr>
        <p:spPr>
          <a:xfrm>
            <a:off x="640080" y="3611880"/>
            <a:ext cx="2286000" cy="274320"/>
          </a:xfrm>
          <a:prstGeom prst="rect">
            <a:avLst/>
          </a:prstGeom>
          <a:noFill/>
          <a:ln/>
        </p:spPr>
        <p:txBody>
          <a:bodyPr wrap="square" lIns="0" tIns="0" rIns="0" bIns="0" rtlCol="0" anchor="t"/>
          <a:lstStyle/>
          <a:p>
            <a:pPr indent="0" marL="0">
              <a:buNone/>
            </a:pPr>
            <a:r>
              <a:rPr lang="en-US" sz="1400" b="1" dirty="0">
                <a:solidFill>
                  <a:schemeClr val="accent2"/>
                </a:solidFill>
              </a:rPr>
              <a:t>Has</a:t>
            </a:r>
            <a:endParaRPr lang="en-US" sz="1400" dirty="0"/>
          </a:p>
        </p:txBody>
      </p:sp>
      <p:sp>
        <p:nvSpPr>
          <p:cNvPr id="12" name="text-101"/>
          <p:cNvSpPr txBox="1"/>
          <p:nvPr/>
        </p:nvSpPr>
        <p:spPr>
          <a:xfrm>
            <a:off x="640080" y="3904488"/>
            <a:ext cx="2331720" cy="566928"/>
          </a:xfrm>
          <a:prstGeom prst="rect">
            <a:avLst/>
          </a:prstGeom>
          <a:noFill/>
          <a:ln/>
        </p:spPr>
        <p:txBody>
          <a:bodyPr wrap="square" lIns="0" tIns="0" rIns="0" bIns="0" rtlCol="0" anchor="t"/>
          <a:lstStyle/>
          <a:p>
            <a:pPr indent="0" marL="0">
              <a:buNone/>
            </a:pPr>
            <a:r>
              <a:rPr lang="en-US" sz="1200" dirty="0">
                <a:solidFill>
                  <a:schemeClr val="bg2"/>
                </a:solidFill>
              </a:rPr>
              <a:t>int variables with a starting value, + - * /, ( ), print, // comments</a:t>
            </a:r>
            <a:endParaRPr lang="en-US" sz="1200" dirty="0"/>
          </a:p>
        </p:txBody>
      </p:sp>
      <p:sp>
        <p:nvSpPr>
          <p:cNvPr id="13" name="panel-102"/>
          <p:cNvSpPr/>
          <p:nvPr/>
        </p:nvSpPr>
        <p:spPr>
          <a:xfrm>
            <a:off x="3264408" y="3520440"/>
            <a:ext cx="2651760" cy="1005840"/>
          </a:xfrm>
          <a:prstGeom prst="roundRect">
            <a:avLst>
              <a:gd name="adj" fmla="val 7273"/>
            </a:avLst>
          </a:prstGeom>
          <a:solidFill>
            <a:schemeClr val="tx2"/>
          </a:solidFill>
          <a:ln w="9525">
            <a:solidFill>
              <a:schemeClr val="accent5"/>
            </a:solidFill>
            <a:prstDash val="solid"/>
          </a:ln>
        </p:spPr>
      </p:sp>
      <p:sp>
        <p:nvSpPr>
          <p:cNvPr id="14" name="text-103"/>
          <p:cNvSpPr txBox="1"/>
          <p:nvPr/>
        </p:nvSpPr>
        <p:spPr>
          <a:xfrm>
            <a:off x="3447288" y="3611880"/>
            <a:ext cx="2286000" cy="274320"/>
          </a:xfrm>
          <a:prstGeom prst="rect">
            <a:avLst/>
          </a:prstGeom>
          <a:noFill/>
          <a:ln/>
        </p:spPr>
        <p:txBody>
          <a:bodyPr wrap="square" lIns="0" tIns="0" rIns="0" bIns="0" rtlCol="0" anchor="t"/>
          <a:lstStyle/>
          <a:p>
            <a:pPr indent="0" marL="0">
              <a:buNone/>
            </a:pPr>
            <a:r>
              <a:rPr lang="en-US" sz="1400" b="1" dirty="0">
                <a:solidFill>
                  <a:schemeClr val="accent1"/>
                </a:solidFill>
              </a:rPr>
              <a:t>Leaves out</a:t>
            </a:r>
            <a:endParaRPr lang="en-US" sz="1400" dirty="0"/>
          </a:p>
        </p:txBody>
      </p:sp>
      <p:sp>
        <p:nvSpPr>
          <p:cNvPr id="15" name="text-104"/>
          <p:cNvSpPr txBox="1"/>
          <p:nvPr/>
        </p:nvSpPr>
        <p:spPr>
          <a:xfrm>
            <a:off x="3447288" y="3904488"/>
            <a:ext cx="2331720" cy="566928"/>
          </a:xfrm>
          <a:prstGeom prst="rect">
            <a:avLst/>
          </a:prstGeom>
          <a:noFill/>
          <a:ln/>
        </p:spPr>
        <p:txBody>
          <a:bodyPr wrap="square" lIns="0" tIns="0" rIns="0" bIns="0" rtlCol="0" anchor="t"/>
          <a:lstStyle/>
          <a:p>
            <a:pPr indent="0" marL="0">
              <a:buNone/>
            </a:pPr>
            <a:r>
              <a:rPr lang="en-US" sz="1200" dirty="0">
                <a:solidFill>
                  <a:schemeClr val="bg2"/>
                </a:solidFill>
              </a:rPr>
              <a:t>unary minus, if/else, loops, functions, input</a:t>
            </a:r>
            <a:endParaRPr lang="en-US" sz="1200" dirty="0"/>
          </a:p>
        </p:txBody>
      </p:sp>
      <p:sp>
        <p:nvSpPr>
          <p:cNvPr id="16" name="panel-105"/>
          <p:cNvSpPr/>
          <p:nvPr/>
        </p:nvSpPr>
        <p:spPr>
          <a:xfrm>
            <a:off x="6071616" y="3520440"/>
            <a:ext cx="2651760" cy="1005840"/>
          </a:xfrm>
          <a:prstGeom prst="roundRect">
            <a:avLst>
              <a:gd name="adj" fmla="val 7273"/>
            </a:avLst>
          </a:prstGeom>
          <a:solidFill>
            <a:schemeClr val="tx2"/>
          </a:solidFill>
          <a:ln w="9525">
            <a:solidFill>
              <a:schemeClr val="accent5"/>
            </a:solidFill>
            <a:prstDash val="solid"/>
          </a:ln>
        </p:spPr>
      </p:sp>
      <p:sp>
        <p:nvSpPr>
          <p:cNvPr id="17" name="text-106"/>
          <p:cNvSpPr txBox="1"/>
          <p:nvPr/>
        </p:nvSpPr>
        <p:spPr>
          <a:xfrm>
            <a:off x="6254496" y="3611880"/>
            <a:ext cx="2286000" cy="274320"/>
          </a:xfrm>
          <a:prstGeom prst="rect">
            <a:avLst/>
          </a:prstGeom>
          <a:noFill/>
          <a:ln/>
        </p:spPr>
        <p:txBody>
          <a:bodyPr wrap="square" lIns="0" tIns="0" rIns="0" bIns="0" rtlCol="0" anchor="t"/>
          <a:lstStyle/>
          <a:p>
            <a:pPr indent="0" marL="0">
              <a:buNone/>
            </a:pPr>
            <a:r>
              <a:rPr lang="en-US" sz="1400" b="1" dirty="0">
                <a:solidFill>
                  <a:schemeClr val="accent3"/>
                </a:solidFill>
              </a:rPr>
              <a:t>Stops</a:t>
            </a:r>
            <a:endParaRPr lang="en-US" sz="1400" dirty="0"/>
          </a:p>
        </p:txBody>
      </p:sp>
      <p:sp>
        <p:nvSpPr>
          <p:cNvPr id="18" name="text-107"/>
          <p:cNvSpPr txBox="1"/>
          <p:nvPr/>
        </p:nvSpPr>
        <p:spPr>
          <a:xfrm>
            <a:off x="6254496" y="3904488"/>
            <a:ext cx="2331720" cy="566928"/>
          </a:xfrm>
          <a:prstGeom prst="rect">
            <a:avLst/>
          </a:prstGeom>
          <a:noFill/>
          <a:ln/>
        </p:spPr>
        <p:txBody>
          <a:bodyPr wrap="square" lIns="0" tIns="0" rIns="0" bIns="0" rtlCol="0" anchor="t"/>
          <a:lstStyle/>
          <a:p>
            <a:pPr indent="0" marL="0">
              <a:buNone/>
            </a:pPr>
            <a:r>
              <a:rPr lang="en-US" sz="1200" dirty="0">
                <a:solidFill>
                  <a:schemeClr val="bg2"/>
                </a:solidFill>
              </a:rPr>
              <a:t>at the first error, so no partial TAC is shown</a:t>
            </a:r>
            <a:endParaRPr lang="en-US" sz="1200" dirty="0"/>
          </a:p>
        </p:txBody>
      </p:sp>
      <p:sp>
        <p:nvSpPr>
          <p:cNvPr id="25" name="Slide Number Placeholder 0"/>
          <p:cNvSpPr>
            <a:spLocks noGrp="1"/>
          </p:cNvSpPr>
          <p:nvPr>
            <p:ph type="sldNum" sz="quarter" idx="4294967295"/>
          </p:nvPr>
        </p:nvSpPr>
        <p:spPr>
          <a:xfrm>
            <a:off x="8321040" y="473659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108"/>
          <p:cNvSpPr txBox="1"/>
          <p:nvPr/>
        </p:nvSpPr>
        <p:spPr>
          <a:xfrm>
            <a:off x="457200" y="1325880"/>
            <a:ext cx="1828800" cy="640080"/>
          </a:xfrm>
          <a:prstGeom prst="rect">
            <a:avLst/>
          </a:prstGeom>
          <a:noFill/>
          <a:ln/>
        </p:spPr>
        <p:txBody>
          <a:bodyPr wrap="square" lIns="0" tIns="0" rIns="0" bIns="0" rtlCol="0" anchor="t"/>
          <a:lstStyle/>
          <a:p>
            <a:pPr indent="0" marL="0">
              <a:buNone/>
            </a:pPr>
            <a:r>
              <a:rPr lang="en-US" sz="4000" b="1" dirty="0">
                <a:solidFill>
                  <a:schemeClr val="accent1"/>
                </a:solidFill>
                <a:latin typeface="Courier New" pitchFamily="34" charset="0"/>
                <a:ea typeface="Courier New" pitchFamily="34" charset="-122"/>
                <a:cs typeface="Courier New" pitchFamily="34" charset="-120"/>
              </a:rPr>
              <a:t>03</a:t>
            </a:r>
            <a:endParaRPr lang="en-US" sz="4000" dirty="0"/>
          </a:p>
        </p:txBody>
      </p:sp>
      <p:sp>
        <p:nvSpPr>
          <p:cNvPr id="3" name="Text 0"/>
          <p:cNvSpPr/>
          <p:nvPr>
            <p:ph idx="100" type="title" hasCustomPrompt="1"/>
          </p:nvPr>
        </p:nvSpPr>
        <p:spPr>
          <a:xfrm>
            <a:off x="457200" y="2011680"/>
            <a:ext cx="8229600" cy="822960"/>
          </a:xfrm>
          <a:prstGeom prst="rect">
            <a:avLst/>
          </a:prstGeom>
          <a:noFill/>
          <a:ln/>
        </p:spPr>
        <p:txBody>
          <a:bodyPr wrap="square" lIns="0" tIns="0" rIns="0" bIns="0" rtlCol="0" anchor="ctr"/>
          <a:lstStyle/>
          <a:p>
            <a:pPr algn="l" indent="0" marL="0">
              <a:buNone/>
            </a:pPr>
            <a:r>
              <a:rPr lang="en-US" sz="4000" b="1" dirty="0">
                <a:solidFill>
                  <a:schemeClr val="bg1"/>
                </a:solidFill>
              </a:rPr>
              <a:t>Architecture</a:t>
            </a:r>
            <a:endParaRPr lang="en-US" sz="4000" dirty="0"/>
          </a:p>
        </p:txBody>
      </p:sp>
      <p:sp>
        <p:nvSpPr>
          <p:cNvPr id="4" name="Text 0"/>
          <p:cNvSpPr/>
          <p:nvPr>
            <p:ph idx="101" type="body" hasCustomPrompt="1"/>
          </p:nvPr>
        </p:nvSpPr>
        <p:spPr>
          <a:xfrm>
            <a:off x="457200" y="2880360"/>
            <a:ext cx="7315200" cy="731520"/>
          </a:xfrm>
          <a:prstGeom prst="rect">
            <a:avLst/>
          </a:prstGeom>
          <a:noFill/>
          <a:ln/>
        </p:spPr>
        <p:txBody>
          <a:bodyPr wrap="square" lIns="0" tIns="0" rIns="0" bIns="0" rtlCol="0" anchor="t"/>
          <a:lstStyle/>
          <a:p>
            <a:pPr indent="0" marL="0">
              <a:buNone/>
            </a:pPr>
            <a:r>
              <a:rPr lang="en-US" sz="1600" dirty="0">
                <a:solidFill>
                  <a:schemeClr val="bg2"/>
                </a:solidFill>
              </a:rPr>
              <a:t>Five phases in three C++ files, one error channel, three ways to run it.</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600" b="1" dirty="0">
                <a:solidFill>
                  <a:schemeClr val="bg1"/>
                </a:solidFill>
              </a:rPr>
              <a:t>Five phases, three source files</a:t>
            </a:r>
            <a:endParaRPr lang="en-US" sz="2600" dirty="0"/>
          </a:p>
        </p:txBody>
      </p:sp>
      <p:sp>
        <p:nvSpPr>
          <p:cNvPr id="4" name="panel-109"/>
          <p:cNvSpPr/>
          <p:nvPr/>
        </p:nvSpPr>
        <p:spPr>
          <a:xfrm>
            <a:off x="457200" y="1234440"/>
            <a:ext cx="1325880" cy="777240"/>
          </a:xfrm>
          <a:prstGeom prst="roundRect">
            <a:avLst>
              <a:gd name="adj" fmla="val 9412"/>
            </a:avLst>
          </a:prstGeom>
          <a:solidFill>
            <a:schemeClr val="tx2"/>
          </a:solidFill>
          <a:ln w="9525">
            <a:solidFill>
              <a:schemeClr val="accent5"/>
            </a:solidFill>
            <a:prstDash val="solid"/>
          </a:ln>
        </p:spPr>
      </p:sp>
      <p:sp>
        <p:nvSpPr>
          <p:cNvPr id="5" name="text-110"/>
          <p:cNvSpPr txBox="1"/>
          <p:nvPr/>
        </p:nvSpPr>
        <p:spPr>
          <a:xfrm>
            <a:off x="548640" y="1234440"/>
            <a:ext cx="1143000" cy="777240"/>
          </a:xfrm>
          <a:prstGeom prst="rect">
            <a:avLst/>
          </a:prstGeom>
          <a:noFill/>
          <a:ln/>
        </p:spPr>
        <p:txBody>
          <a:bodyPr wrap="square" lIns="0" tIns="0" rIns="0" bIns="0" rtlCol="0" anchor="ctr"/>
          <a:lstStyle/>
          <a:p>
            <a:pPr algn="ctr" indent="0" marL="0">
              <a:buNone/>
            </a:pPr>
            <a:r>
              <a:rPr lang="en-US" sz="1300" b="1" dirty="0">
                <a:solidFill>
                  <a:schemeClr val="bg1"/>
                </a:solidFill>
              </a:rPr>
              <a:t>program.txt</a:t>
            </a:r>
            <a:endParaRPr lang="en-US" sz="1400" dirty="0"/>
          </a:p>
          <a:p>
            <a:pPr algn="ctr" indent="0" marL="0">
              <a:buNone/>
            </a:pPr>
            <a:r>
              <a:rPr lang="en-US" sz="1100" dirty="0">
                <a:solidFill>
                  <a:schemeClr val="bg2"/>
                </a:solidFill>
              </a:rPr>
              <a:t>source text</a:t>
            </a:r>
            <a:endParaRPr lang="en-US" sz="1400" dirty="0"/>
          </a:p>
        </p:txBody>
      </p:sp>
      <p:sp>
        <p:nvSpPr>
          <p:cNvPr id="6" name="panel-111"/>
          <p:cNvSpPr/>
          <p:nvPr/>
        </p:nvSpPr>
        <p:spPr>
          <a:xfrm>
            <a:off x="2103120" y="1234440"/>
            <a:ext cx="1463040" cy="777240"/>
          </a:xfrm>
          <a:prstGeom prst="roundRect">
            <a:avLst>
              <a:gd name="adj" fmla="val 9412"/>
            </a:avLst>
          </a:prstGeom>
          <a:solidFill>
            <a:schemeClr val="tx2"/>
          </a:solidFill>
          <a:ln w="9525">
            <a:solidFill>
              <a:schemeClr val="accent5"/>
            </a:solidFill>
            <a:prstDash val="solid"/>
          </a:ln>
        </p:spPr>
      </p:sp>
      <p:sp>
        <p:nvSpPr>
          <p:cNvPr id="7" name="text-112"/>
          <p:cNvSpPr txBox="1"/>
          <p:nvPr/>
        </p:nvSpPr>
        <p:spPr>
          <a:xfrm>
            <a:off x="2194560" y="1234440"/>
            <a:ext cx="1280160" cy="777240"/>
          </a:xfrm>
          <a:prstGeom prst="rect">
            <a:avLst/>
          </a:prstGeom>
          <a:noFill/>
          <a:ln/>
        </p:spPr>
        <p:txBody>
          <a:bodyPr wrap="square" lIns="0" tIns="0" rIns="0" bIns="0" rtlCol="0" anchor="ctr"/>
          <a:lstStyle/>
          <a:p>
            <a:pPr algn="ctr" indent="0" marL="0">
              <a:buNone/>
            </a:pPr>
            <a:r>
              <a:rPr lang="en-US" sz="1300" b="1" dirty="0">
                <a:solidFill>
                  <a:schemeClr val="accent4"/>
                </a:solidFill>
              </a:rPr>
              <a:t>lexer.cpp</a:t>
            </a:r>
            <a:endParaRPr lang="en-US" sz="1400" dirty="0"/>
          </a:p>
          <a:p>
            <a:pPr algn="ctr" indent="0" marL="0">
              <a:buNone/>
            </a:pPr>
            <a:r>
              <a:rPr lang="en-US" sz="1100" dirty="0">
                <a:solidFill>
                  <a:schemeClr val="bg2"/>
                </a:solidFill>
              </a:rPr>
              <a:t>Phase 1 · tokenize()</a:t>
            </a:r>
            <a:endParaRPr lang="en-US" sz="1400" dirty="0"/>
          </a:p>
        </p:txBody>
      </p:sp>
      <p:sp>
        <p:nvSpPr>
          <p:cNvPr id="8" name="panel-113"/>
          <p:cNvSpPr/>
          <p:nvPr/>
        </p:nvSpPr>
        <p:spPr>
          <a:xfrm>
            <a:off x="3886200" y="1051560"/>
            <a:ext cx="2788920" cy="1783080"/>
          </a:xfrm>
          <a:prstGeom prst="roundRect">
            <a:avLst>
              <a:gd name="adj" fmla="val 4103"/>
            </a:avLst>
          </a:prstGeom>
          <a:solidFill>
            <a:schemeClr val="tx2"/>
          </a:solidFill>
          <a:ln w="9525">
            <a:solidFill>
              <a:schemeClr val="accent1"/>
            </a:solidFill>
            <a:prstDash val="solid"/>
          </a:ln>
        </p:spPr>
      </p:sp>
      <p:sp>
        <p:nvSpPr>
          <p:cNvPr id="9" name="text-114"/>
          <p:cNvSpPr txBox="1"/>
          <p:nvPr/>
        </p:nvSpPr>
        <p:spPr>
          <a:xfrm>
            <a:off x="3931920" y="1115568"/>
            <a:ext cx="2697480" cy="274320"/>
          </a:xfrm>
          <a:prstGeom prst="rect">
            <a:avLst/>
          </a:prstGeom>
          <a:noFill/>
          <a:ln/>
        </p:spPr>
        <p:txBody>
          <a:bodyPr wrap="square" lIns="0" tIns="0" rIns="0" bIns="0" rtlCol="0" anchor="t"/>
          <a:lstStyle/>
          <a:p>
            <a:pPr algn="ctr" indent="0" marL="0">
              <a:buNone/>
            </a:pPr>
            <a:r>
              <a:rPr lang="en-US" sz="1100" b="1" dirty="0">
                <a:solidFill>
                  <a:schemeClr val="accent1"/>
                </a:solidFill>
              </a:rPr>
              <a:t>parser.cpp · Phases 2–4, one pass</a:t>
            </a:r>
            <a:endParaRPr lang="en-US" sz="1100" dirty="0"/>
          </a:p>
        </p:txBody>
      </p:sp>
      <p:sp>
        <p:nvSpPr>
          <p:cNvPr id="10" name="panel-115"/>
          <p:cNvSpPr/>
          <p:nvPr/>
        </p:nvSpPr>
        <p:spPr>
          <a:xfrm>
            <a:off x="4005072" y="1463040"/>
            <a:ext cx="804672" cy="1234440"/>
          </a:xfrm>
          <a:prstGeom prst="roundRect">
            <a:avLst>
              <a:gd name="adj" fmla="val 9091"/>
            </a:avLst>
          </a:prstGeom>
          <a:solidFill>
            <a:schemeClr val="tx1"/>
          </a:solidFill>
          <a:ln w="9525">
            <a:solidFill>
              <a:schemeClr val="accent5"/>
            </a:solidFill>
            <a:prstDash val="solid"/>
          </a:ln>
        </p:spPr>
      </p:sp>
      <p:sp>
        <p:nvSpPr>
          <p:cNvPr id="11" name="text-116"/>
          <p:cNvSpPr txBox="1"/>
          <p:nvPr/>
        </p:nvSpPr>
        <p:spPr>
          <a:xfrm>
            <a:off x="4023360" y="1463040"/>
            <a:ext cx="768096" cy="1234440"/>
          </a:xfrm>
          <a:prstGeom prst="rect">
            <a:avLst/>
          </a:prstGeom>
          <a:noFill/>
          <a:ln/>
        </p:spPr>
        <p:txBody>
          <a:bodyPr wrap="square" lIns="0" tIns="0" rIns="0" bIns="0" rtlCol="0" anchor="ctr"/>
          <a:lstStyle/>
          <a:p>
            <a:pPr algn="ctr" indent="0" marL="0">
              <a:buNone/>
            </a:pPr>
            <a:r>
              <a:rPr lang="en-US" sz="1100" b="1" dirty="0">
                <a:solidFill>
                  <a:schemeClr val="bg1"/>
                </a:solidFill>
              </a:rPr>
              <a:t>Syntax</a:t>
            </a:r>
            <a:endParaRPr lang="en-US" sz="1400" dirty="0"/>
          </a:p>
          <a:p>
            <a:pPr algn="ctr" indent="0" marL="0">
              <a:buNone/>
            </a:pPr>
            <a:r>
              <a:rPr lang="en-US" sz="1000" dirty="0">
                <a:solidFill>
                  <a:schemeClr val="bg2"/>
                </a:solidFill>
              </a:rPr>
              <a:t>recursive descent</a:t>
            </a:r>
            <a:endParaRPr lang="en-US" sz="1400" dirty="0"/>
          </a:p>
        </p:txBody>
      </p:sp>
      <p:sp>
        <p:nvSpPr>
          <p:cNvPr id="12" name="panel-117"/>
          <p:cNvSpPr/>
          <p:nvPr/>
        </p:nvSpPr>
        <p:spPr>
          <a:xfrm>
            <a:off x="4892040" y="1463040"/>
            <a:ext cx="804672" cy="1234440"/>
          </a:xfrm>
          <a:prstGeom prst="roundRect">
            <a:avLst>
              <a:gd name="adj" fmla="val 9091"/>
            </a:avLst>
          </a:prstGeom>
          <a:solidFill>
            <a:schemeClr val="tx1"/>
          </a:solidFill>
          <a:ln w="9525">
            <a:solidFill>
              <a:schemeClr val="accent5"/>
            </a:solidFill>
            <a:prstDash val="solid"/>
          </a:ln>
        </p:spPr>
      </p:sp>
      <p:sp>
        <p:nvSpPr>
          <p:cNvPr id="13" name="text-118"/>
          <p:cNvSpPr txBox="1"/>
          <p:nvPr/>
        </p:nvSpPr>
        <p:spPr>
          <a:xfrm>
            <a:off x="4910328" y="1463040"/>
            <a:ext cx="768096" cy="1234440"/>
          </a:xfrm>
          <a:prstGeom prst="rect">
            <a:avLst/>
          </a:prstGeom>
          <a:noFill/>
          <a:ln/>
        </p:spPr>
        <p:txBody>
          <a:bodyPr wrap="square" lIns="0" tIns="0" rIns="0" bIns="0" rtlCol="0" anchor="ctr"/>
          <a:lstStyle/>
          <a:p>
            <a:pPr algn="ctr" indent="0" marL="0">
              <a:buNone/>
            </a:pPr>
            <a:r>
              <a:rPr lang="en-US" sz="1100" b="1" dirty="0">
                <a:solidFill>
                  <a:schemeClr val="bg1"/>
                </a:solidFill>
              </a:rPr>
              <a:t>Semantic</a:t>
            </a:r>
            <a:endParaRPr lang="en-US" sz="1400" dirty="0"/>
          </a:p>
          <a:p>
            <a:pPr algn="ctr" indent="0" marL="0">
              <a:buNone/>
            </a:pPr>
            <a:r>
              <a:rPr lang="en-US" sz="1000" dirty="0">
                <a:solidFill>
                  <a:schemeClr val="bg2"/>
                </a:solidFill>
              </a:rPr>
              <a:t>symbol table</a:t>
            </a:r>
            <a:endParaRPr lang="en-US" sz="1400" dirty="0"/>
          </a:p>
        </p:txBody>
      </p:sp>
      <p:sp>
        <p:nvSpPr>
          <p:cNvPr id="14" name="panel-119"/>
          <p:cNvSpPr/>
          <p:nvPr/>
        </p:nvSpPr>
        <p:spPr>
          <a:xfrm>
            <a:off x="5779008" y="1463040"/>
            <a:ext cx="804672" cy="1234440"/>
          </a:xfrm>
          <a:prstGeom prst="roundRect">
            <a:avLst>
              <a:gd name="adj" fmla="val 9091"/>
            </a:avLst>
          </a:prstGeom>
          <a:solidFill>
            <a:schemeClr val="tx1"/>
          </a:solidFill>
          <a:ln w="9525">
            <a:solidFill>
              <a:schemeClr val="accent5"/>
            </a:solidFill>
            <a:prstDash val="solid"/>
          </a:ln>
        </p:spPr>
      </p:sp>
      <p:sp>
        <p:nvSpPr>
          <p:cNvPr id="15" name="text-120"/>
          <p:cNvSpPr txBox="1"/>
          <p:nvPr/>
        </p:nvSpPr>
        <p:spPr>
          <a:xfrm>
            <a:off x="5797296" y="1463040"/>
            <a:ext cx="768096" cy="1234440"/>
          </a:xfrm>
          <a:prstGeom prst="rect">
            <a:avLst/>
          </a:prstGeom>
          <a:noFill/>
          <a:ln/>
        </p:spPr>
        <p:txBody>
          <a:bodyPr wrap="square" lIns="0" tIns="0" rIns="0" bIns="0" rtlCol="0" anchor="ctr"/>
          <a:lstStyle/>
          <a:p>
            <a:pPr algn="ctr" indent="0" marL="0">
              <a:buNone/>
            </a:pPr>
            <a:r>
              <a:rPr lang="en-US" sz="1100" b="1" dirty="0">
                <a:solidFill>
                  <a:schemeClr val="bg1"/>
                </a:solidFill>
              </a:rPr>
              <a:t>TAC</a:t>
            </a:r>
            <a:endParaRPr lang="en-US" sz="1400" dirty="0"/>
          </a:p>
          <a:p>
            <a:pPr algn="ctr" indent="0" marL="0">
              <a:buNone/>
            </a:pPr>
            <a:r>
              <a:rPr lang="en-US" sz="1000" dirty="0">
                <a:solidFill>
                  <a:schemeClr val="bg2"/>
                </a:solidFill>
              </a:rPr>
              <a:t>t1 = a op b</a:t>
            </a:r>
            <a:endParaRPr lang="en-US" sz="1400" dirty="0"/>
          </a:p>
        </p:txBody>
      </p:sp>
      <p:sp>
        <p:nvSpPr>
          <p:cNvPr id="16" name="panel-121"/>
          <p:cNvSpPr/>
          <p:nvPr/>
        </p:nvSpPr>
        <p:spPr>
          <a:xfrm>
            <a:off x="6995160" y="1234440"/>
            <a:ext cx="1691640" cy="777240"/>
          </a:xfrm>
          <a:prstGeom prst="roundRect">
            <a:avLst>
              <a:gd name="adj" fmla="val 9412"/>
            </a:avLst>
          </a:prstGeom>
          <a:solidFill>
            <a:schemeClr val="tx2"/>
          </a:solidFill>
          <a:ln w="9525">
            <a:solidFill>
              <a:schemeClr val="accent5"/>
            </a:solidFill>
            <a:prstDash val="solid"/>
          </a:ln>
        </p:spPr>
      </p:sp>
      <p:sp>
        <p:nvSpPr>
          <p:cNvPr id="17" name="text-122"/>
          <p:cNvSpPr txBox="1"/>
          <p:nvPr/>
        </p:nvSpPr>
        <p:spPr>
          <a:xfrm>
            <a:off x="7086600" y="1234440"/>
            <a:ext cx="1508760" cy="777240"/>
          </a:xfrm>
          <a:prstGeom prst="rect">
            <a:avLst/>
          </a:prstGeom>
          <a:noFill/>
          <a:ln/>
        </p:spPr>
        <p:txBody>
          <a:bodyPr wrap="square" lIns="0" tIns="0" rIns="0" bIns="0" rtlCol="0" anchor="ctr"/>
          <a:lstStyle/>
          <a:p>
            <a:pPr algn="ctr" indent="0" marL="0">
              <a:buNone/>
            </a:pPr>
            <a:r>
              <a:rPr lang="en-US" sz="1300" b="1" dirty="0">
                <a:solidFill>
                  <a:schemeClr val="accent2"/>
                </a:solidFill>
              </a:rPr>
              <a:t>main.cpp</a:t>
            </a:r>
            <a:endParaRPr lang="en-US" sz="1400" dirty="0"/>
          </a:p>
          <a:p>
            <a:pPr algn="ctr" indent="0" marL="0">
              <a:buNone/>
            </a:pPr>
            <a:r>
              <a:rPr lang="en-US" sz="1100" dirty="0">
                <a:solidFill>
                  <a:schemeClr val="bg2"/>
                </a:solidFill>
              </a:rPr>
              <a:t>driver · prints result</a:t>
            </a:r>
            <a:endParaRPr lang="en-US" sz="1400" dirty="0"/>
          </a:p>
        </p:txBody>
      </p:sp>
      <p:sp>
        <p:nvSpPr>
          <p:cNvPr id="18" name="arrow-123"/>
          <p:cNvSpPr/>
          <p:nvPr/>
        </p:nvSpPr>
        <p:spPr>
          <a:xfrm>
            <a:off x="1783080" y="1627632"/>
            <a:ext cx="320040" cy="0"/>
          </a:xfrm>
          <a:prstGeom prst="line">
            <a:avLst/>
          </a:prstGeom>
          <a:noFill/>
          <a:ln w="15875">
            <a:solidFill>
              <a:schemeClr val="bg2"/>
            </a:solidFill>
            <a:prstDash val="solid"/>
            <a:tailEnd type="triangle"/>
          </a:ln>
        </p:spPr>
      </p:sp>
      <p:sp>
        <p:nvSpPr>
          <p:cNvPr id="19" name="arrow-124"/>
          <p:cNvSpPr/>
          <p:nvPr/>
        </p:nvSpPr>
        <p:spPr>
          <a:xfrm>
            <a:off x="3566160" y="1627632"/>
            <a:ext cx="320040" cy="0"/>
          </a:xfrm>
          <a:prstGeom prst="line">
            <a:avLst/>
          </a:prstGeom>
          <a:noFill/>
          <a:ln w="15875">
            <a:solidFill>
              <a:schemeClr val="bg2"/>
            </a:solidFill>
            <a:prstDash val="solid"/>
            <a:tailEnd type="triangle"/>
          </a:ln>
        </p:spPr>
      </p:sp>
      <p:sp>
        <p:nvSpPr>
          <p:cNvPr id="20" name="arrow-125"/>
          <p:cNvSpPr/>
          <p:nvPr/>
        </p:nvSpPr>
        <p:spPr>
          <a:xfrm>
            <a:off x="6675120" y="1627632"/>
            <a:ext cx="320040" cy="0"/>
          </a:xfrm>
          <a:prstGeom prst="line">
            <a:avLst/>
          </a:prstGeom>
          <a:noFill/>
          <a:ln w="15875">
            <a:solidFill>
              <a:schemeClr val="bg2"/>
            </a:solidFill>
            <a:prstDash val="solid"/>
            <a:tailEnd type="triangle"/>
          </a:ln>
        </p:spPr>
      </p:sp>
      <p:sp>
        <p:nvSpPr>
          <p:cNvPr id="21" name="text-126"/>
          <p:cNvSpPr txBox="1"/>
          <p:nvPr/>
        </p:nvSpPr>
        <p:spPr>
          <a:xfrm>
            <a:off x="1673352" y="1325880"/>
            <a:ext cx="548640" cy="228600"/>
          </a:xfrm>
          <a:prstGeom prst="rect">
            <a:avLst/>
          </a:prstGeom>
          <a:noFill/>
          <a:ln/>
        </p:spPr>
        <p:txBody>
          <a:bodyPr wrap="square" lIns="0" tIns="0" rIns="0" bIns="0" rtlCol="0" anchor="t"/>
          <a:lstStyle/>
          <a:p>
            <a:pPr algn="ctr" indent="0" marL="0">
              <a:buNone/>
            </a:pPr>
            <a:r>
              <a:rPr lang="en-US" sz="1000" dirty="0">
                <a:solidFill>
                  <a:schemeClr val="bg2"/>
                </a:solidFill>
              </a:rPr>
              <a:t>string</a:t>
            </a:r>
            <a:endParaRPr lang="en-US" sz="1000" dirty="0"/>
          </a:p>
        </p:txBody>
      </p:sp>
      <p:sp>
        <p:nvSpPr>
          <p:cNvPr id="22" name="text-127"/>
          <p:cNvSpPr txBox="1"/>
          <p:nvPr/>
        </p:nvSpPr>
        <p:spPr>
          <a:xfrm>
            <a:off x="3456432" y="1325880"/>
            <a:ext cx="548640" cy="228600"/>
          </a:xfrm>
          <a:prstGeom prst="rect">
            <a:avLst/>
          </a:prstGeom>
          <a:noFill/>
          <a:ln/>
        </p:spPr>
        <p:txBody>
          <a:bodyPr wrap="square" lIns="0" tIns="0" rIns="0" bIns="0" rtlCol="0" anchor="t"/>
          <a:lstStyle/>
          <a:p>
            <a:pPr algn="ctr" indent="0" marL="0">
              <a:buNone/>
            </a:pPr>
            <a:r>
              <a:rPr lang="en-US" sz="1000" dirty="0">
                <a:solidFill>
                  <a:schemeClr val="bg2"/>
                </a:solidFill>
              </a:rPr>
              <a:t>tokens</a:t>
            </a:r>
            <a:endParaRPr lang="en-US" sz="1000" dirty="0"/>
          </a:p>
        </p:txBody>
      </p:sp>
      <p:sp>
        <p:nvSpPr>
          <p:cNvPr id="23" name="text-128"/>
          <p:cNvSpPr txBox="1"/>
          <p:nvPr/>
        </p:nvSpPr>
        <p:spPr>
          <a:xfrm>
            <a:off x="6629400" y="1325880"/>
            <a:ext cx="411480" cy="228600"/>
          </a:xfrm>
          <a:prstGeom prst="rect">
            <a:avLst/>
          </a:prstGeom>
          <a:noFill/>
          <a:ln/>
        </p:spPr>
        <p:txBody>
          <a:bodyPr wrap="square" lIns="0" tIns="0" rIns="0" bIns="0" rtlCol="0" anchor="t"/>
          <a:lstStyle/>
          <a:p>
            <a:pPr algn="ctr" indent="0" marL="0">
              <a:buNone/>
            </a:pPr>
            <a:r>
              <a:rPr lang="en-US" sz="1000" dirty="0">
                <a:solidFill>
                  <a:schemeClr val="bg2"/>
                </a:solidFill>
              </a:rPr>
              <a:t>TAC</a:t>
            </a:r>
            <a:endParaRPr lang="en-US" sz="1000" dirty="0"/>
          </a:p>
        </p:txBody>
      </p:sp>
      <p:sp>
        <p:nvSpPr>
          <p:cNvPr id="24" name="panel-129"/>
          <p:cNvSpPr/>
          <p:nvPr/>
        </p:nvSpPr>
        <p:spPr>
          <a:xfrm>
            <a:off x="2103120" y="3063240"/>
            <a:ext cx="6583680" cy="566928"/>
          </a:xfrm>
          <a:prstGeom prst="roundRect">
            <a:avLst>
              <a:gd name="adj" fmla="val 12903"/>
            </a:avLst>
          </a:prstGeom>
          <a:solidFill>
            <a:schemeClr val="tx2"/>
          </a:solidFill>
          <a:ln w="9525">
            <a:solidFill>
              <a:schemeClr val="accent1"/>
            </a:solidFill>
            <a:prstDash val="solid"/>
          </a:ln>
        </p:spPr>
      </p:sp>
      <p:sp>
        <p:nvSpPr>
          <p:cNvPr id="25" name="text-130"/>
          <p:cNvSpPr txBox="1"/>
          <p:nvPr/>
        </p:nvSpPr>
        <p:spPr>
          <a:xfrm>
            <a:off x="2240280" y="3063240"/>
            <a:ext cx="6309360" cy="566928"/>
          </a:xfrm>
          <a:prstGeom prst="rect">
            <a:avLst/>
          </a:prstGeom>
          <a:noFill/>
          <a:ln/>
        </p:spPr>
        <p:txBody>
          <a:bodyPr wrap="square" lIns="0" tIns="0" rIns="0" bIns="0" rtlCol="0" anchor="ctr"/>
          <a:lstStyle/>
          <a:p>
            <a:pPr indent="0" marL="0">
              <a:buNone/>
            </a:pPr>
            <a:r>
              <a:rPr lang="en-US" sz="1300" b="1" dirty="0">
                <a:solidFill>
                  <a:schemeClr val="accent1"/>
                </a:solidFill>
              </a:rPr>
              <a:t>Phase 5 · CompileError { line, phase, message, suggestion }</a:t>
            </a:r>
            <a:endParaRPr lang="en-US" sz="1300" dirty="0"/>
          </a:p>
          <a:p>
            <a:pPr indent="0" marL="0">
              <a:buNone/>
            </a:pPr>
            <a:r>
              <a:rPr lang="en-US" sz="1100" dirty="0">
                <a:solidFill>
                  <a:schemeClr val="bg2"/>
                </a:solidFill>
              </a:rPr>
              <a:t>thrown at the first problem by any phase, caught in main.cpp</a:t>
            </a:r>
            <a:endParaRPr lang="en-US" sz="1300" dirty="0"/>
          </a:p>
        </p:txBody>
      </p:sp>
      <p:sp>
        <p:nvSpPr>
          <p:cNvPr id="26" name="arrow-131"/>
          <p:cNvSpPr/>
          <p:nvPr/>
        </p:nvSpPr>
        <p:spPr>
          <a:xfrm>
            <a:off x="2834640" y="2011680"/>
            <a:ext cx="0" cy="1051560"/>
          </a:xfrm>
          <a:prstGeom prst="line">
            <a:avLst/>
          </a:prstGeom>
          <a:noFill/>
          <a:ln w="15875">
            <a:solidFill>
              <a:schemeClr val="accent1"/>
            </a:solidFill>
            <a:prstDash val="dash"/>
            <a:tailEnd type="triangle"/>
          </a:ln>
        </p:spPr>
      </p:sp>
      <p:sp>
        <p:nvSpPr>
          <p:cNvPr id="27" name="arrow-132"/>
          <p:cNvSpPr/>
          <p:nvPr/>
        </p:nvSpPr>
        <p:spPr>
          <a:xfrm>
            <a:off x="5303520" y="2834640"/>
            <a:ext cx="0" cy="228600"/>
          </a:xfrm>
          <a:prstGeom prst="line">
            <a:avLst/>
          </a:prstGeom>
          <a:noFill/>
          <a:ln w="15875">
            <a:solidFill>
              <a:schemeClr val="accent1"/>
            </a:solidFill>
            <a:prstDash val="dash"/>
            <a:tailEnd type="triangle"/>
          </a:ln>
        </p:spPr>
      </p:sp>
      <p:sp>
        <p:nvSpPr>
          <p:cNvPr id="28" name="arrow-133"/>
          <p:cNvSpPr/>
          <p:nvPr/>
        </p:nvSpPr>
        <p:spPr>
          <a:xfrm flipV="1">
            <a:off x="7863840" y="2011680"/>
            <a:ext cx="0" cy="1051560"/>
          </a:xfrm>
          <a:prstGeom prst="line">
            <a:avLst/>
          </a:prstGeom>
          <a:noFill/>
          <a:ln w="15875">
            <a:solidFill>
              <a:schemeClr val="accent1"/>
            </a:solidFill>
            <a:prstDash val="dash"/>
            <a:tailEnd type="triangle"/>
          </a:ln>
        </p:spPr>
      </p:sp>
      <p:sp>
        <p:nvSpPr>
          <p:cNvPr id="29" name="text-134"/>
          <p:cNvSpPr txBox="1"/>
          <p:nvPr/>
        </p:nvSpPr>
        <p:spPr>
          <a:xfrm>
            <a:off x="457200" y="3840480"/>
            <a:ext cx="3657600" cy="228600"/>
          </a:xfrm>
          <a:prstGeom prst="rect">
            <a:avLst/>
          </a:prstGeom>
          <a:noFill/>
          <a:ln/>
        </p:spPr>
        <p:txBody>
          <a:bodyPr wrap="square" lIns="0" tIns="0" rIns="0" bIns="0" rtlCol="0" anchor="t"/>
          <a:lstStyle/>
          <a:p>
            <a:pPr indent="0" marL="0">
              <a:buNone/>
            </a:pPr>
            <a:r>
              <a:rPr lang="en-US" sz="1000" b="1" spc="150" kern="0" dirty="0">
                <a:solidFill>
                  <a:schemeClr val="bg2"/>
                </a:solidFill>
              </a:rPr>
              <a:t>WAYS TO RUN THE SAME BINARY</a:t>
            </a:r>
            <a:endParaRPr lang="en-US" sz="1000" dirty="0"/>
          </a:p>
        </p:txBody>
      </p:sp>
      <p:sp>
        <p:nvSpPr>
          <p:cNvPr id="30" name="text-135"/>
          <p:cNvSpPr txBox="1"/>
          <p:nvPr/>
        </p:nvSpPr>
        <p:spPr>
          <a:xfrm>
            <a:off x="457200" y="4069080"/>
            <a:ext cx="2697480" cy="502920"/>
          </a:xfrm>
          <a:prstGeom prst="rect">
            <a:avLst/>
          </a:prstGeom>
          <a:noFill/>
          <a:ln/>
        </p:spPr>
        <p:txBody>
          <a:bodyPr wrap="square" lIns="0" tIns="0" rIns="0" bIns="0" rtlCol="0" anchor="t"/>
          <a:lstStyle/>
          <a:p>
            <a:pPr indent="0" marL="0">
              <a:buNone/>
            </a:pPr>
            <a:r>
              <a:rPr lang="en-US" sz="1300" b="1" dirty="0">
                <a:solidFill>
                  <a:schemeClr val="bg1"/>
                </a:solidFill>
              </a:rPr>
              <a:t>Terminal</a:t>
            </a:r>
            <a:endParaRPr lang="en-US" sz="1300" dirty="0"/>
          </a:p>
          <a:p>
            <a:pPr indent="0" marL="0">
              <a:buNone/>
            </a:pPr>
            <a:r>
              <a:rPr lang="en-US" sz="1000" dirty="0">
                <a:solidFill>
                  <a:schemeClr val="bg2"/>
                </a:solidFill>
                <a:latin typeface="Courier New" pitchFamily="34" charset="0"/>
                <a:ea typeface="Courier New" pitchFamily="34" charset="-122"/>
                <a:cs typeface="Courier New" pitchFamily="34" charset="-120"/>
              </a:rPr>
              <a:t>./errorbuddy file.txt [--tokens]</a:t>
            </a:r>
            <a:endParaRPr lang="en-US" sz="1300" dirty="0"/>
          </a:p>
        </p:txBody>
      </p:sp>
      <p:sp>
        <p:nvSpPr>
          <p:cNvPr id="31" name="text-136"/>
          <p:cNvSpPr txBox="1"/>
          <p:nvPr/>
        </p:nvSpPr>
        <p:spPr>
          <a:xfrm>
            <a:off x="3264408" y="4069080"/>
            <a:ext cx="2697480" cy="502920"/>
          </a:xfrm>
          <a:prstGeom prst="rect">
            <a:avLst/>
          </a:prstGeom>
          <a:noFill/>
          <a:ln/>
        </p:spPr>
        <p:txBody>
          <a:bodyPr wrap="square" lIns="0" tIns="0" rIns="0" bIns="0" rtlCol="0" anchor="t"/>
          <a:lstStyle/>
          <a:p>
            <a:pPr indent="0" marL="0">
              <a:buNone/>
            </a:pPr>
            <a:r>
              <a:rPr lang="en-US" sz="1300" b="1" dirty="0">
                <a:solidFill>
                  <a:schemeClr val="bg1"/>
                </a:solidFill>
              </a:rPr>
              <a:t>make test</a:t>
            </a:r>
            <a:endParaRPr lang="en-US" sz="1300" dirty="0"/>
          </a:p>
          <a:p>
            <a:pPr indent="0" marL="0">
              <a:buNone/>
            </a:pPr>
            <a:r>
              <a:rPr lang="en-US" sz="1000" dirty="0">
                <a:solidFill>
                  <a:schemeClr val="bg2"/>
                </a:solidFill>
                <a:latin typeface="Courier New" pitchFamily="34" charset="0"/>
                <a:ea typeface="Courier New" pitchFamily="34" charset="-122"/>
                <a:cs typeface="Courier New" pitchFamily="34" charset="-120"/>
              </a:rPr>
              <a:t>diff against examples/expected</a:t>
            </a:r>
            <a:endParaRPr lang="en-US" sz="1300" dirty="0"/>
          </a:p>
        </p:txBody>
      </p:sp>
      <p:sp>
        <p:nvSpPr>
          <p:cNvPr id="32" name="text-137"/>
          <p:cNvSpPr txBox="1"/>
          <p:nvPr/>
        </p:nvSpPr>
        <p:spPr>
          <a:xfrm>
            <a:off x="6071616" y="4069080"/>
            <a:ext cx="2697480" cy="502920"/>
          </a:xfrm>
          <a:prstGeom prst="rect">
            <a:avLst/>
          </a:prstGeom>
          <a:noFill/>
          <a:ln/>
        </p:spPr>
        <p:txBody>
          <a:bodyPr wrap="square" lIns="0" tIns="0" rIns="0" bIns="0" rtlCol="0" anchor="t"/>
          <a:lstStyle/>
          <a:p>
            <a:pPr indent="0" marL="0">
              <a:buNone/>
            </a:pPr>
            <a:r>
              <a:rPr lang="en-US" sz="1300" b="1" dirty="0">
                <a:solidFill>
                  <a:schemeClr val="bg1"/>
                </a:solidFill>
              </a:rPr>
              <a:t>Web playground</a:t>
            </a:r>
            <a:endParaRPr lang="en-US" sz="1300" dirty="0"/>
          </a:p>
          <a:p>
            <a:pPr indent="0" marL="0">
              <a:buNone/>
            </a:pPr>
            <a:r>
              <a:rPr lang="en-US" sz="1000" dirty="0">
                <a:solidFill>
                  <a:schemeClr val="bg2"/>
                </a:solidFill>
                <a:latin typeface="Courier New" pitchFamily="34" charset="0"/>
                <a:ea typeface="Courier New" pitchFamily="34" charset="-122"/>
                <a:cs typeface="Courier New" pitchFamily="34" charset="-120"/>
              </a:rPr>
              <a:t>web/server.py → JSON → browser</a:t>
            </a:r>
            <a:endParaRPr lang="en-US" sz="1300" dirty="0"/>
          </a:p>
        </p:txBody>
      </p:sp>
      <p:sp>
        <p:nvSpPr>
          <p:cNvPr id="33" name="text-138"/>
          <p:cNvSpPr txBox="1"/>
          <p:nvPr/>
        </p:nvSpPr>
        <p:spPr>
          <a:xfrm>
            <a:off x="457200" y="3017520"/>
            <a:ext cx="1600200" cy="685800"/>
          </a:xfrm>
          <a:prstGeom prst="rect">
            <a:avLst/>
          </a:prstGeom>
          <a:noFill/>
          <a:ln/>
        </p:spPr>
        <p:txBody>
          <a:bodyPr wrap="square" lIns="0" tIns="0" rIns="0" bIns="0" rtlCol="0" anchor="t"/>
          <a:lstStyle/>
          <a:p>
            <a:pPr indent="0" marL="0">
              <a:buNone/>
            </a:pPr>
            <a:r>
              <a:rPr lang="en-US" sz="1000" b="1" dirty="0">
                <a:solidFill>
                  <a:schemeClr val="bg2"/>
                </a:solidFill>
              </a:rPr>
              <a:t>EXIT CODES</a:t>
            </a:r>
            <a:endParaRPr lang="en-US" sz="1000" dirty="0"/>
          </a:p>
          <a:p>
            <a:pPr indent="0" marL="0">
              <a:buNone/>
            </a:pPr>
            <a:r>
              <a:rPr lang="en-US" sz="1000" dirty="0">
                <a:solidFill>
                  <a:schemeClr val="bg2"/>
                </a:solidFill>
                <a:latin typeface="Courier New" pitchFamily="34" charset="0"/>
                <a:ea typeface="Courier New" pitchFamily="34" charset="-122"/>
                <a:cs typeface="Courier New" pitchFamily="34" charset="-120"/>
              </a:rPr>
              <a:t>0 ok · 1 error</a:t>
            </a:r>
            <a:endParaRPr lang="en-US" sz="1000" dirty="0"/>
          </a:p>
          <a:p>
            <a:pPr indent="0" marL="0">
              <a:buNone/>
            </a:pPr>
            <a:r>
              <a:rPr lang="en-US" sz="1000" dirty="0">
                <a:solidFill>
                  <a:schemeClr val="bg2"/>
                </a:solidFill>
                <a:latin typeface="Courier New" pitchFamily="34" charset="0"/>
                <a:ea typeface="Courier New" pitchFamily="34" charset="-122"/>
                <a:cs typeface="Courier New" pitchFamily="34" charset="-120"/>
              </a:rPr>
              <a:t>2 usage · 3 internal</a:t>
            </a:r>
            <a:endParaRPr lang="en-US" sz="1000" dirty="0"/>
          </a:p>
        </p:txBody>
      </p:sp>
      <p:sp>
        <p:nvSpPr>
          <p:cNvPr id="25" name="Slide Number Placeholder 0"/>
          <p:cNvSpPr>
            <a:spLocks noGrp="1"/>
          </p:cNvSpPr>
          <p:nvPr>
            <p:ph type="sldNum" sz="quarter" idx="4294967295"/>
          </p:nvPr>
        </p:nvSpPr>
        <p:spPr>
          <a:xfrm>
            <a:off x="8321040" y="473659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600" b="1" dirty="0">
                <a:solidFill>
                  <a:schemeClr val="bg1"/>
                </a:solidFill>
              </a:rPr>
              <a:t>What each file does</a:t>
            </a:r>
            <a:endParaRPr lang="en-US" sz="2600" dirty="0"/>
          </a:p>
        </p:txBody>
      </p:sp>
      <p:graphicFrame>
        <p:nvGraphicFramePr>
          <p:cNvPr id="12" name="table-139"/>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2011680"/>
                <a:gridCol w="868680"/>
                <a:gridCol w="5349240"/>
              </a:tblGrid>
              <a:tr h="402336">
                <a:tc>
                  <a:txBody>
                    <a:bodyPr/>
                    <a:lstStyle/>
                    <a:p>
                      <a:pPr indent="0" marL="0">
                        <a:buNone/>
                      </a:pPr>
                      <a:r>
                        <a:rPr lang="en-US" sz="1100" b="1" dirty="0">
                          <a:solidFill>
                            <a:srgbClr val="9AA2AD"/>
                          </a:solidFill>
                        </a:rPr>
                        <a:t>FILE</a:t>
                      </a:r>
                      <a:endParaRPr lang="en-US" sz="1100" dirty="0"/>
                    </a:p>
                  </a:txBody>
                  <a:tcPr marL="91440" marR="91440" marT="36576" marB="36576" anchor="ctr">
                    <a:lnL w="6350" cap="flat" cmpd="sng" algn="ctr">
                      <a:solidFill>
                        <a:srgbClr val="2D333D"/>
                      </a:solidFill>
                      <a:prstDash val="solid"/>
                      <a:round/>
                      <a:headEnd type="none" w="med" len="med"/>
                      <a:tailEnd type="none" w="med" len="med"/>
                    </a:lnL>
                    <a:lnR w="6350" cap="flat" cmpd="sng" algn="ctr">
                      <a:solidFill>
                        <a:srgbClr val="2D333D"/>
                      </a:solidFill>
                      <a:prstDash val="solid"/>
                      <a:round/>
                      <a:headEnd type="none" w="med" len="med"/>
                      <a:tailEnd type="none" w="med" len="med"/>
                    </a:lnR>
                    <a:lnT w="6350" cap="flat" cmpd="sng" algn="ctr">
                      <a:solidFill>
                        <a:srgbClr val="2D333D"/>
                      </a:solidFill>
                      <a:prstDash val="solid"/>
                      <a:round/>
                      <a:headEnd type="none" w="med" len="med"/>
                      <a:tailEnd type="none" w="med" len="med"/>
                    </a:lnT>
                    <a:lnB w="6350" cap="flat" cmpd="sng" algn="ctr">
                      <a:solidFill>
                        <a:srgbClr val="2D333D"/>
                      </a:solidFill>
                      <a:prstDash val="solid"/>
                      <a:round/>
                      <a:headEnd type="none" w="med" len="med"/>
                      <a:tailEnd type="none" w="med" len="med"/>
                    </a:lnB>
                    <a:solidFill>
                      <a:srgbClr val="1A1E25"/>
                    </a:solidFill>
                  </a:tcPr>
                </a:tc>
                <a:tc>
                  <a:txBody>
                    <a:bodyPr/>
                    <a:lstStyle/>
                    <a:p>
                      <a:pPr indent="0" marL="0">
                        <a:buNone/>
                      </a:pPr>
                      <a:r>
                        <a:rPr lang="en-US" sz="1100" b="1" dirty="0">
                          <a:solidFill>
                            <a:srgbClr val="9AA2AD"/>
                          </a:solidFill>
                        </a:rPr>
                        <a:t>LINES</a:t>
                      </a:r>
                      <a:endParaRPr lang="en-US" sz="1100" dirty="0"/>
                    </a:p>
                  </a:txBody>
                  <a:tcPr marL="91440" marR="91440" marT="36576" marB="36576" anchor="ctr">
                    <a:lnL w="6350" cap="flat" cmpd="sng" algn="ctr">
                      <a:solidFill>
                        <a:srgbClr val="2D333D"/>
                      </a:solidFill>
                      <a:prstDash val="solid"/>
                      <a:round/>
                      <a:headEnd type="none" w="med" len="med"/>
                      <a:tailEnd type="none" w="med" len="med"/>
                    </a:lnL>
                    <a:lnR w="6350" cap="flat" cmpd="sng" algn="ctr">
                      <a:solidFill>
                        <a:srgbClr val="2D333D"/>
                      </a:solidFill>
                      <a:prstDash val="solid"/>
                      <a:round/>
                      <a:headEnd type="none" w="med" len="med"/>
                      <a:tailEnd type="none" w="med" len="med"/>
                    </a:lnR>
                    <a:lnT w="6350" cap="flat" cmpd="sng" algn="ctr">
                      <a:solidFill>
                        <a:srgbClr val="2D333D"/>
                      </a:solidFill>
                      <a:prstDash val="solid"/>
                      <a:round/>
                      <a:headEnd type="none" w="med" len="med"/>
                      <a:tailEnd type="none" w="med" len="med"/>
                    </a:lnT>
                    <a:lnB w="6350" cap="flat" cmpd="sng" algn="ctr">
                      <a:solidFill>
                        <a:srgbClr val="2D333D"/>
                      </a:solidFill>
                      <a:prstDash val="solid"/>
                      <a:round/>
                      <a:headEnd type="none" w="med" len="med"/>
                      <a:tailEnd type="none" w="med" len="med"/>
                    </a:lnB>
                    <a:solidFill>
                      <a:srgbClr val="1A1E25"/>
                    </a:solidFill>
                  </a:tcPr>
                </a:tc>
                <a:tc>
                  <a:txBody>
                    <a:bodyPr/>
                    <a:lstStyle/>
                    <a:p>
                      <a:pPr indent="0" marL="0">
                        <a:buNone/>
                      </a:pPr>
                      <a:r>
                        <a:rPr lang="en-US" sz="1100" b="1" dirty="0">
                          <a:solidFill>
                            <a:srgbClr val="9AA2AD"/>
                          </a:solidFill>
                        </a:rPr>
                        <a:t>ROLE</a:t>
                      </a:r>
                      <a:endParaRPr lang="en-US" sz="1100" dirty="0"/>
                    </a:p>
                  </a:txBody>
                  <a:tcPr marL="91440" marR="91440" marT="36576" marB="36576" anchor="ctr">
                    <a:lnL w="6350" cap="flat" cmpd="sng" algn="ctr">
                      <a:solidFill>
                        <a:srgbClr val="2D333D"/>
                      </a:solidFill>
                      <a:prstDash val="solid"/>
                      <a:round/>
                      <a:headEnd type="none" w="med" len="med"/>
                      <a:tailEnd type="none" w="med" len="med"/>
                    </a:lnL>
                    <a:lnR w="6350" cap="flat" cmpd="sng" algn="ctr">
                      <a:solidFill>
                        <a:srgbClr val="2D333D"/>
                      </a:solidFill>
                      <a:prstDash val="solid"/>
                      <a:round/>
                      <a:headEnd type="none" w="med" len="med"/>
                      <a:tailEnd type="none" w="med" len="med"/>
                    </a:lnR>
                    <a:lnT w="6350" cap="flat" cmpd="sng" algn="ctr">
                      <a:solidFill>
                        <a:srgbClr val="2D333D"/>
                      </a:solidFill>
                      <a:prstDash val="solid"/>
                      <a:round/>
                      <a:headEnd type="none" w="med" len="med"/>
                      <a:tailEnd type="none" w="med" len="med"/>
                    </a:lnT>
                    <a:lnB w="6350" cap="flat" cmpd="sng" algn="ctr">
                      <a:solidFill>
                        <a:srgbClr val="2D333D"/>
                      </a:solidFill>
                      <a:prstDash val="solid"/>
                      <a:round/>
                      <a:headEnd type="none" w="med" len="med"/>
                      <a:tailEnd type="none" w="med" len="med"/>
                    </a:lnB>
                    <a:solidFill>
                      <a:srgbClr val="1A1E25"/>
                    </a:solidFill>
                  </a:tcPr>
                </a:tc>
              </a:tr>
              <a:tr h="402336">
                <a:tc>
                  <a:txBody>
                    <a:bodyPr/>
                    <a:lstStyle/>
                    <a:p>
                      <a:pPr indent="0" marL="0">
                        <a:buNone/>
                      </a:pPr>
                      <a:r>
                        <a:rPr lang="en-US" sz="1200" dirty="0">
                          <a:solidFill>
                            <a:srgbClr val="F2775F"/>
                          </a:solidFill>
                          <a:latin typeface="Courier New" pitchFamily="34" charset="0"/>
                          <a:ea typeface="Courier New" pitchFamily="34" charset="-122"/>
                          <a:cs typeface="Courier New" pitchFamily="34" charset="-120"/>
                        </a:rPr>
                        <a:t>main.cpp</a:t>
                      </a:r>
                      <a:endParaRPr lang="en-US" sz="1200" dirty="0">
                        <a:latin typeface="Courier New" charset="0"/>
                        <a:ea typeface="Courier New" charset="0"/>
                        <a:cs typeface="Courier New" charset="0"/>
                      </a:endParaRPr>
                    </a:p>
                  </a:txBody>
                  <a:tcPr marL="91440" marR="91440" marT="36576" marB="36576" anchor="ctr">
                    <a:lnL w="6350" cap="flat" cmpd="sng" algn="ctr">
                      <a:solidFill>
                        <a:srgbClr val="2D333D"/>
                      </a:solidFill>
                      <a:prstDash val="solid"/>
                      <a:round/>
                      <a:headEnd type="none" w="med" len="med"/>
                      <a:tailEnd type="none" w="med" len="med"/>
                    </a:lnL>
                    <a:lnR w="6350" cap="flat" cmpd="sng" algn="ctr">
                      <a:solidFill>
                        <a:srgbClr val="2D333D"/>
                      </a:solidFill>
                      <a:prstDash val="solid"/>
                      <a:round/>
                      <a:headEnd type="none" w="med" len="med"/>
                      <a:tailEnd type="none" w="med" len="med"/>
                    </a:lnR>
                    <a:lnT w="6350" cap="flat" cmpd="sng" algn="ctr">
                      <a:solidFill>
                        <a:srgbClr val="2D333D"/>
                      </a:solidFill>
                      <a:prstDash val="solid"/>
                      <a:round/>
                      <a:headEnd type="none" w="med" len="med"/>
                      <a:tailEnd type="none" w="med" len="med"/>
                    </a:lnT>
                    <a:lnB w="6350" cap="flat" cmpd="sng" algn="ctr">
                      <a:solidFill>
                        <a:srgbClr val="2D333D"/>
                      </a:solidFill>
                      <a:prstDash val="solid"/>
                      <a:round/>
                      <a:headEnd type="none" w="med" len="med"/>
                      <a:tailEnd type="none" w="med" len="med"/>
                    </a:lnB>
                    <a:solidFill>
                      <a:srgbClr val="101318"/>
                    </a:solidFill>
                  </a:tcPr>
                </a:tc>
                <a:tc>
                  <a:txBody>
                    <a:bodyPr/>
                    <a:lstStyle/>
                    <a:p>
                      <a:pPr indent="0" marL="0">
                        <a:buNone/>
                      </a:pPr>
                      <a:r>
                        <a:rPr lang="en-US" sz="1200" dirty="0">
                          <a:solidFill>
                            <a:srgbClr val="ECE8E1"/>
                          </a:solidFill>
                        </a:rPr>
                        <a:t>88</a:t>
                      </a:r>
                      <a:endParaRPr lang="en-US" sz="1200" dirty="0"/>
                    </a:p>
                  </a:txBody>
                  <a:tcPr marL="91440" marR="91440" marT="36576" marB="36576" anchor="ctr">
                    <a:lnL w="6350" cap="flat" cmpd="sng" algn="ctr">
                      <a:solidFill>
                        <a:srgbClr val="2D333D"/>
                      </a:solidFill>
                      <a:prstDash val="solid"/>
                      <a:round/>
                      <a:headEnd type="none" w="med" len="med"/>
                      <a:tailEnd type="none" w="med" len="med"/>
                    </a:lnL>
                    <a:lnR w="6350" cap="flat" cmpd="sng" algn="ctr">
                      <a:solidFill>
                        <a:srgbClr val="2D333D"/>
                      </a:solidFill>
                      <a:prstDash val="solid"/>
                      <a:round/>
                      <a:headEnd type="none" w="med" len="med"/>
                      <a:tailEnd type="none" w="med" len="med"/>
                    </a:lnR>
                    <a:lnT w="6350" cap="flat" cmpd="sng" algn="ctr">
                      <a:solidFill>
                        <a:srgbClr val="2D333D"/>
                      </a:solidFill>
                      <a:prstDash val="solid"/>
                      <a:round/>
                      <a:headEnd type="none" w="med" len="med"/>
                      <a:tailEnd type="none" w="med" len="med"/>
                    </a:lnT>
                    <a:lnB w="6350" cap="flat" cmpd="sng" algn="ctr">
                      <a:solidFill>
                        <a:srgbClr val="2D333D"/>
                      </a:solidFill>
                      <a:prstDash val="solid"/>
                      <a:round/>
                      <a:headEnd type="none" w="med" len="med"/>
                      <a:tailEnd type="none" w="med" len="med"/>
                    </a:lnB>
                    <a:solidFill>
                      <a:srgbClr val="101318"/>
                    </a:solidFill>
                  </a:tcPr>
                </a:tc>
                <a:tc>
                  <a:txBody>
                    <a:bodyPr/>
                    <a:lstStyle/>
                    <a:p>
                      <a:pPr indent="0" marL="0">
                        <a:buNone/>
                      </a:pPr>
                      <a:r>
                        <a:rPr lang="en-US" sz="1200" dirty="0">
                          <a:solidFill>
                            <a:srgbClr val="ECE8E1"/>
                          </a:solidFill>
                        </a:rPr>
                        <a:t>Driver: reads the file, runs the phases, prints TAC, symbols and phase summary or the error; sets the exit code</a:t>
                      </a:r>
                      <a:endParaRPr lang="en-US" sz="1200" dirty="0"/>
                    </a:p>
                  </a:txBody>
                  <a:tcPr marL="91440" marR="91440" marT="36576" marB="36576" anchor="ctr">
                    <a:lnL w="6350" cap="flat" cmpd="sng" algn="ctr">
                      <a:solidFill>
                        <a:srgbClr val="2D333D"/>
                      </a:solidFill>
                      <a:prstDash val="solid"/>
                      <a:round/>
                      <a:headEnd type="none" w="med" len="med"/>
                      <a:tailEnd type="none" w="med" len="med"/>
                    </a:lnL>
                    <a:lnR w="6350" cap="flat" cmpd="sng" algn="ctr">
                      <a:solidFill>
                        <a:srgbClr val="2D333D"/>
                      </a:solidFill>
                      <a:prstDash val="solid"/>
                      <a:round/>
                      <a:headEnd type="none" w="med" len="med"/>
                      <a:tailEnd type="none" w="med" len="med"/>
                    </a:lnR>
                    <a:lnT w="6350" cap="flat" cmpd="sng" algn="ctr">
                      <a:solidFill>
                        <a:srgbClr val="2D333D"/>
                      </a:solidFill>
                      <a:prstDash val="solid"/>
                      <a:round/>
                      <a:headEnd type="none" w="med" len="med"/>
                      <a:tailEnd type="none" w="med" len="med"/>
                    </a:lnT>
                    <a:lnB w="6350" cap="flat" cmpd="sng" algn="ctr">
                      <a:solidFill>
                        <a:srgbClr val="2D333D"/>
                      </a:solidFill>
                      <a:prstDash val="solid"/>
                      <a:round/>
                      <a:headEnd type="none" w="med" len="med"/>
                      <a:tailEnd type="none" w="med" len="med"/>
                    </a:lnB>
                    <a:solidFill>
                      <a:srgbClr val="101318"/>
                    </a:solidFill>
                  </a:tcPr>
                </a:tc>
              </a:tr>
              <a:tr h="402336">
                <a:tc>
                  <a:txBody>
                    <a:bodyPr/>
                    <a:lstStyle/>
                    <a:p>
                      <a:pPr indent="0" marL="0">
                        <a:buNone/>
                      </a:pPr>
                      <a:r>
                        <a:rPr lang="en-US" sz="1200" dirty="0">
                          <a:solidFill>
                            <a:srgbClr val="F2775F"/>
                          </a:solidFill>
                          <a:latin typeface="Courier New" pitchFamily="34" charset="0"/>
                          <a:ea typeface="Courier New" pitchFamily="34" charset="-122"/>
                          <a:cs typeface="Courier New" pitchFamily="34" charset="-120"/>
                        </a:rPr>
                        <a:t>lexer.h / lexer.cpp</a:t>
                      </a:r>
                      <a:endParaRPr lang="en-US" sz="1200" dirty="0">
                        <a:latin typeface="Courier New" charset="0"/>
                        <a:ea typeface="Courier New" charset="0"/>
                        <a:cs typeface="Courier New" charset="0"/>
                      </a:endParaRPr>
                    </a:p>
                  </a:txBody>
                  <a:tcPr marL="91440" marR="91440" marT="36576" marB="36576" anchor="ctr">
                    <a:lnL w="6350" cap="flat" cmpd="sng" algn="ctr">
                      <a:solidFill>
                        <a:srgbClr val="2D333D"/>
                      </a:solidFill>
                      <a:prstDash val="solid"/>
                      <a:round/>
                      <a:headEnd type="none" w="med" len="med"/>
                      <a:tailEnd type="none" w="med" len="med"/>
                    </a:lnL>
                    <a:lnR w="6350" cap="flat" cmpd="sng" algn="ctr">
                      <a:solidFill>
                        <a:srgbClr val="2D333D"/>
                      </a:solidFill>
                      <a:prstDash val="solid"/>
                      <a:round/>
                      <a:headEnd type="none" w="med" len="med"/>
                      <a:tailEnd type="none" w="med" len="med"/>
                    </a:lnR>
                    <a:lnT w="6350" cap="flat" cmpd="sng" algn="ctr">
                      <a:solidFill>
                        <a:srgbClr val="2D333D"/>
                      </a:solidFill>
                      <a:prstDash val="solid"/>
                      <a:round/>
                      <a:headEnd type="none" w="med" len="med"/>
                      <a:tailEnd type="none" w="med" len="med"/>
                    </a:lnT>
                    <a:lnB w="6350" cap="flat" cmpd="sng" algn="ctr">
                      <a:solidFill>
                        <a:srgbClr val="2D333D"/>
                      </a:solidFill>
                      <a:prstDash val="solid"/>
                      <a:round/>
                      <a:headEnd type="none" w="med" len="med"/>
                      <a:tailEnd type="none" w="med" len="med"/>
                    </a:lnB>
                    <a:solidFill>
                      <a:srgbClr val="101318"/>
                    </a:solidFill>
                  </a:tcPr>
                </a:tc>
                <a:tc>
                  <a:txBody>
                    <a:bodyPr/>
                    <a:lstStyle/>
                    <a:p>
                      <a:pPr indent="0" marL="0">
                        <a:buNone/>
                      </a:pPr>
                      <a:r>
                        <a:rPr lang="en-US" sz="1200" dirty="0">
                          <a:solidFill>
                            <a:srgbClr val="ECE8E1"/>
                          </a:solidFill>
                        </a:rPr>
                        <a:t>48 / 114</a:t>
                      </a:r>
                      <a:endParaRPr lang="en-US" sz="1200" dirty="0"/>
                    </a:p>
                  </a:txBody>
                  <a:tcPr marL="91440" marR="91440" marT="36576" marB="36576" anchor="ctr">
                    <a:lnL w="6350" cap="flat" cmpd="sng" algn="ctr">
                      <a:solidFill>
                        <a:srgbClr val="2D333D"/>
                      </a:solidFill>
                      <a:prstDash val="solid"/>
                      <a:round/>
                      <a:headEnd type="none" w="med" len="med"/>
                      <a:tailEnd type="none" w="med" len="med"/>
                    </a:lnL>
                    <a:lnR w="6350" cap="flat" cmpd="sng" algn="ctr">
                      <a:solidFill>
                        <a:srgbClr val="2D333D"/>
                      </a:solidFill>
                      <a:prstDash val="solid"/>
                      <a:round/>
                      <a:headEnd type="none" w="med" len="med"/>
                      <a:tailEnd type="none" w="med" len="med"/>
                    </a:lnR>
                    <a:lnT w="6350" cap="flat" cmpd="sng" algn="ctr">
                      <a:solidFill>
                        <a:srgbClr val="2D333D"/>
                      </a:solidFill>
                      <a:prstDash val="solid"/>
                      <a:round/>
                      <a:headEnd type="none" w="med" len="med"/>
                      <a:tailEnd type="none" w="med" len="med"/>
                    </a:lnT>
                    <a:lnB w="6350" cap="flat" cmpd="sng" algn="ctr">
                      <a:solidFill>
                        <a:srgbClr val="2D333D"/>
                      </a:solidFill>
                      <a:prstDash val="solid"/>
                      <a:round/>
                      <a:headEnd type="none" w="med" len="med"/>
                      <a:tailEnd type="none" w="med" len="med"/>
                    </a:lnB>
                    <a:solidFill>
                      <a:srgbClr val="101318"/>
                    </a:solidFill>
                  </a:tcPr>
                </a:tc>
                <a:tc>
                  <a:txBody>
                    <a:bodyPr/>
                    <a:lstStyle/>
                    <a:p>
                      <a:pPr indent="0" marL="0">
                        <a:buNone/>
                      </a:pPr>
                      <a:r>
                        <a:rPr lang="en-US" sz="1200" dirty="0">
                          <a:solidFill>
                            <a:srgbClr val="ECE8E1"/>
                          </a:solidFill>
                        </a:rPr>
                        <a:t>Phase 1: Token, TokenType, tokenize(). Also defines CompileError</a:t>
                      </a:r>
                      <a:endParaRPr lang="en-US" sz="1200" dirty="0"/>
                    </a:p>
                  </a:txBody>
                  <a:tcPr marL="91440" marR="91440" marT="36576" marB="36576" anchor="ctr">
                    <a:lnL w="6350" cap="flat" cmpd="sng" algn="ctr">
                      <a:solidFill>
                        <a:srgbClr val="2D333D"/>
                      </a:solidFill>
                      <a:prstDash val="solid"/>
                      <a:round/>
                      <a:headEnd type="none" w="med" len="med"/>
                      <a:tailEnd type="none" w="med" len="med"/>
                    </a:lnL>
                    <a:lnR w="6350" cap="flat" cmpd="sng" algn="ctr">
                      <a:solidFill>
                        <a:srgbClr val="2D333D"/>
                      </a:solidFill>
                      <a:prstDash val="solid"/>
                      <a:round/>
                      <a:headEnd type="none" w="med" len="med"/>
                      <a:tailEnd type="none" w="med" len="med"/>
                    </a:lnR>
                    <a:lnT w="6350" cap="flat" cmpd="sng" algn="ctr">
                      <a:solidFill>
                        <a:srgbClr val="2D333D"/>
                      </a:solidFill>
                      <a:prstDash val="solid"/>
                      <a:round/>
                      <a:headEnd type="none" w="med" len="med"/>
                      <a:tailEnd type="none" w="med" len="med"/>
                    </a:lnT>
                    <a:lnB w="6350" cap="flat" cmpd="sng" algn="ctr">
                      <a:solidFill>
                        <a:srgbClr val="2D333D"/>
                      </a:solidFill>
                      <a:prstDash val="solid"/>
                      <a:round/>
                      <a:headEnd type="none" w="med" len="med"/>
                      <a:tailEnd type="none" w="med" len="med"/>
                    </a:lnB>
                    <a:solidFill>
                      <a:srgbClr val="101318"/>
                    </a:solidFill>
                  </a:tcPr>
                </a:tc>
              </a:tr>
              <a:tr h="402336">
                <a:tc>
                  <a:txBody>
                    <a:bodyPr/>
                    <a:lstStyle/>
                    <a:p>
                      <a:pPr indent="0" marL="0">
                        <a:buNone/>
                      </a:pPr>
                      <a:r>
                        <a:rPr lang="en-US" sz="1200" dirty="0">
                          <a:solidFill>
                            <a:srgbClr val="F2775F"/>
                          </a:solidFill>
                          <a:latin typeface="Courier New" pitchFamily="34" charset="0"/>
                          <a:ea typeface="Courier New" pitchFamily="34" charset="-122"/>
                          <a:cs typeface="Courier New" pitchFamily="34" charset="-120"/>
                        </a:rPr>
                        <a:t>parser.h / parser.cpp</a:t>
                      </a:r>
                      <a:endParaRPr lang="en-US" sz="1200" dirty="0">
                        <a:latin typeface="Courier New" charset="0"/>
                        <a:ea typeface="Courier New" charset="0"/>
                        <a:cs typeface="Courier New" charset="0"/>
                      </a:endParaRPr>
                    </a:p>
                  </a:txBody>
                  <a:tcPr marL="91440" marR="91440" marT="36576" marB="36576" anchor="ctr">
                    <a:lnL w="6350" cap="flat" cmpd="sng" algn="ctr">
                      <a:solidFill>
                        <a:srgbClr val="2D333D"/>
                      </a:solidFill>
                      <a:prstDash val="solid"/>
                      <a:round/>
                      <a:headEnd type="none" w="med" len="med"/>
                      <a:tailEnd type="none" w="med" len="med"/>
                    </a:lnL>
                    <a:lnR w="6350" cap="flat" cmpd="sng" algn="ctr">
                      <a:solidFill>
                        <a:srgbClr val="2D333D"/>
                      </a:solidFill>
                      <a:prstDash val="solid"/>
                      <a:round/>
                      <a:headEnd type="none" w="med" len="med"/>
                      <a:tailEnd type="none" w="med" len="med"/>
                    </a:lnR>
                    <a:lnT w="6350" cap="flat" cmpd="sng" algn="ctr">
                      <a:solidFill>
                        <a:srgbClr val="2D333D"/>
                      </a:solidFill>
                      <a:prstDash val="solid"/>
                      <a:round/>
                      <a:headEnd type="none" w="med" len="med"/>
                      <a:tailEnd type="none" w="med" len="med"/>
                    </a:lnT>
                    <a:lnB w="6350" cap="flat" cmpd="sng" algn="ctr">
                      <a:solidFill>
                        <a:srgbClr val="2D333D"/>
                      </a:solidFill>
                      <a:prstDash val="solid"/>
                      <a:round/>
                      <a:headEnd type="none" w="med" len="med"/>
                      <a:tailEnd type="none" w="med" len="med"/>
                    </a:lnB>
                    <a:solidFill>
                      <a:srgbClr val="101318"/>
                    </a:solidFill>
                  </a:tcPr>
                </a:tc>
                <a:tc>
                  <a:txBody>
                    <a:bodyPr/>
                    <a:lstStyle/>
                    <a:p>
                      <a:pPr indent="0" marL="0">
                        <a:buNone/>
                      </a:pPr>
                      <a:r>
                        <a:rPr lang="en-US" sz="1200" dirty="0">
                          <a:solidFill>
                            <a:srgbClr val="ECE8E1"/>
                          </a:solidFill>
                        </a:rPr>
                        <a:t>80 / 396</a:t>
                      </a:r>
                      <a:endParaRPr lang="en-US" sz="1200" dirty="0"/>
                    </a:p>
                  </a:txBody>
                  <a:tcPr marL="91440" marR="91440" marT="36576" marB="36576" anchor="ctr">
                    <a:lnL w="6350" cap="flat" cmpd="sng" algn="ctr">
                      <a:solidFill>
                        <a:srgbClr val="2D333D"/>
                      </a:solidFill>
                      <a:prstDash val="solid"/>
                      <a:round/>
                      <a:headEnd type="none" w="med" len="med"/>
                      <a:tailEnd type="none" w="med" len="med"/>
                    </a:lnL>
                    <a:lnR w="6350" cap="flat" cmpd="sng" algn="ctr">
                      <a:solidFill>
                        <a:srgbClr val="2D333D"/>
                      </a:solidFill>
                      <a:prstDash val="solid"/>
                      <a:round/>
                      <a:headEnd type="none" w="med" len="med"/>
                      <a:tailEnd type="none" w="med" len="med"/>
                    </a:lnR>
                    <a:lnT w="6350" cap="flat" cmpd="sng" algn="ctr">
                      <a:solidFill>
                        <a:srgbClr val="2D333D"/>
                      </a:solidFill>
                      <a:prstDash val="solid"/>
                      <a:round/>
                      <a:headEnd type="none" w="med" len="med"/>
                      <a:tailEnd type="none" w="med" len="med"/>
                    </a:lnT>
                    <a:lnB w="6350" cap="flat" cmpd="sng" algn="ctr">
                      <a:solidFill>
                        <a:srgbClr val="2D333D"/>
                      </a:solidFill>
                      <a:prstDash val="solid"/>
                      <a:round/>
                      <a:headEnd type="none" w="med" len="med"/>
                      <a:tailEnd type="none" w="med" len="med"/>
                    </a:lnB>
                    <a:solidFill>
                      <a:srgbClr val="101318"/>
                    </a:solidFill>
                  </a:tcPr>
                </a:tc>
                <a:tc>
                  <a:txBody>
                    <a:bodyPr/>
                    <a:lstStyle/>
                    <a:p>
                      <a:pPr indent="0" marL="0">
                        <a:buNone/>
                      </a:pPr>
                      <a:r>
                        <a:rPr lang="en-US" sz="1200" dirty="0">
                          <a:solidFill>
                            <a:srgbClr val="ECE8E1"/>
                          </a:solidFill>
                        </a:rPr>
                        <a:t>Phases 2–4 in one pass + most of Phase 5 (diagnosis helpers, typo hints)</a:t>
                      </a:r>
                      <a:endParaRPr lang="en-US" sz="1200" dirty="0"/>
                    </a:p>
                  </a:txBody>
                  <a:tcPr marL="91440" marR="91440" marT="36576" marB="36576" anchor="ctr">
                    <a:lnL w="6350" cap="flat" cmpd="sng" algn="ctr">
                      <a:solidFill>
                        <a:srgbClr val="2D333D"/>
                      </a:solidFill>
                      <a:prstDash val="solid"/>
                      <a:round/>
                      <a:headEnd type="none" w="med" len="med"/>
                      <a:tailEnd type="none" w="med" len="med"/>
                    </a:lnL>
                    <a:lnR w="6350" cap="flat" cmpd="sng" algn="ctr">
                      <a:solidFill>
                        <a:srgbClr val="2D333D"/>
                      </a:solidFill>
                      <a:prstDash val="solid"/>
                      <a:round/>
                      <a:headEnd type="none" w="med" len="med"/>
                      <a:tailEnd type="none" w="med" len="med"/>
                    </a:lnR>
                    <a:lnT w="6350" cap="flat" cmpd="sng" algn="ctr">
                      <a:solidFill>
                        <a:srgbClr val="2D333D"/>
                      </a:solidFill>
                      <a:prstDash val="solid"/>
                      <a:round/>
                      <a:headEnd type="none" w="med" len="med"/>
                      <a:tailEnd type="none" w="med" len="med"/>
                    </a:lnT>
                    <a:lnB w="6350" cap="flat" cmpd="sng" algn="ctr">
                      <a:solidFill>
                        <a:srgbClr val="2D333D"/>
                      </a:solidFill>
                      <a:prstDash val="solid"/>
                      <a:round/>
                      <a:headEnd type="none" w="med" len="med"/>
                      <a:tailEnd type="none" w="med" len="med"/>
                    </a:lnB>
                    <a:solidFill>
                      <a:srgbClr val="101318"/>
                    </a:solidFill>
                  </a:tcPr>
                </a:tc>
              </a:tr>
              <a:tr h="402336">
                <a:tc>
                  <a:txBody>
                    <a:bodyPr/>
                    <a:lstStyle/>
                    <a:p>
                      <a:pPr indent="0" marL="0">
                        <a:buNone/>
                      </a:pPr>
                      <a:r>
                        <a:rPr lang="en-US" sz="1200" dirty="0">
                          <a:solidFill>
                            <a:srgbClr val="F2775F"/>
                          </a:solidFill>
                          <a:latin typeface="Courier New" pitchFamily="34" charset="0"/>
                          <a:ea typeface="Courier New" pitchFamily="34" charset="-122"/>
                          <a:cs typeface="Courier New" pitchFamily="34" charset="-120"/>
                        </a:rPr>
                        <a:t>Makefile</a:t>
                      </a:r>
                      <a:endParaRPr lang="en-US" sz="1200" dirty="0">
                        <a:latin typeface="Courier New" charset="0"/>
                        <a:ea typeface="Courier New" charset="0"/>
                        <a:cs typeface="Courier New" charset="0"/>
                      </a:endParaRPr>
                    </a:p>
                  </a:txBody>
                  <a:tcPr marL="91440" marR="91440" marT="36576" marB="36576" anchor="ctr">
                    <a:lnL w="6350" cap="flat" cmpd="sng" algn="ctr">
                      <a:solidFill>
                        <a:srgbClr val="2D333D"/>
                      </a:solidFill>
                      <a:prstDash val="solid"/>
                      <a:round/>
                      <a:headEnd type="none" w="med" len="med"/>
                      <a:tailEnd type="none" w="med" len="med"/>
                    </a:lnL>
                    <a:lnR w="6350" cap="flat" cmpd="sng" algn="ctr">
                      <a:solidFill>
                        <a:srgbClr val="2D333D"/>
                      </a:solidFill>
                      <a:prstDash val="solid"/>
                      <a:round/>
                      <a:headEnd type="none" w="med" len="med"/>
                      <a:tailEnd type="none" w="med" len="med"/>
                    </a:lnR>
                    <a:lnT w="6350" cap="flat" cmpd="sng" algn="ctr">
                      <a:solidFill>
                        <a:srgbClr val="2D333D"/>
                      </a:solidFill>
                      <a:prstDash val="solid"/>
                      <a:round/>
                      <a:headEnd type="none" w="med" len="med"/>
                      <a:tailEnd type="none" w="med" len="med"/>
                    </a:lnT>
                    <a:lnB w="6350" cap="flat" cmpd="sng" algn="ctr">
                      <a:solidFill>
                        <a:srgbClr val="2D333D"/>
                      </a:solidFill>
                      <a:prstDash val="solid"/>
                      <a:round/>
                      <a:headEnd type="none" w="med" len="med"/>
                      <a:tailEnd type="none" w="med" len="med"/>
                    </a:lnB>
                    <a:solidFill>
                      <a:srgbClr val="101318"/>
                    </a:solidFill>
                  </a:tcPr>
                </a:tc>
                <a:tc>
                  <a:txBody>
                    <a:bodyPr/>
                    <a:lstStyle/>
                    <a:p>
                      <a:pPr indent="0" marL="0">
                        <a:buNone/>
                      </a:pPr>
                      <a:r>
                        <a:rPr lang="en-US" sz="1200" dirty="0">
                          <a:solidFill>
                            <a:srgbClr val="ECE8E1"/>
                          </a:solidFill>
                        </a:rPr>
                        <a:t>45</a:t>
                      </a:r>
                      <a:endParaRPr lang="en-US" sz="1200" dirty="0"/>
                    </a:p>
                  </a:txBody>
                  <a:tcPr marL="91440" marR="91440" marT="36576" marB="36576" anchor="ctr">
                    <a:lnL w="6350" cap="flat" cmpd="sng" algn="ctr">
                      <a:solidFill>
                        <a:srgbClr val="2D333D"/>
                      </a:solidFill>
                      <a:prstDash val="solid"/>
                      <a:round/>
                      <a:headEnd type="none" w="med" len="med"/>
                      <a:tailEnd type="none" w="med" len="med"/>
                    </a:lnL>
                    <a:lnR w="6350" cap="flat" cmpd="sng" algn="ctr">
                      <a:solidFill>
                        <a:srgbClr val="2D333D"/>
                      </a:solidFill>
                      <a:prstDash val="solid"/>
                      <a:round/>
                      <a:headEnd type="none" w="med" len="med"/>
                      <a:tailEnd type="none" w="med" len="med"/>
                    </a:lnR>
                    <a:lnT w="6350" cap="flat" cmpd="sng" algn="ctr">
                      <a:solidFill>
                        <a:srgbClr val="2D333D"/>
                      </a:solidFill>
                      <a:prstDash val="solid"/>
                      <a:round/>
                      <a:headEnd type="none" w="med" len="med"/>
                      <a:tailEnd type="none" w="med" len="med"/>
                    </a:lnT>
                    <a:lnB w="6350" cap="flat" cmpd="sng" algn="ctr">
                      <a:solidFill>
                        <a:srgbClr val="2D333D"/>
                      </a:solidFill>
                      <a:prstDash val="solid"/>
                      <a:round/>
                      <a:headEnd type="none" w="med" len="med"/>
                      <a:tailEnd type="none" w="med" len="med"/>
                    </a:lnB>
                    <a:solidFill>
                      <a:srgbClr val="101318"/>
                    </a:solidFill>
                  </a:tcPr>
                </a:tc>
                <a:tc>
                  <a:txBody>
                    <a:bodyPr/>
                    <a:lstStyle/>
                    <a:p>
                      <a:pPr indent="0" marL="0">
                        <a:buNone/>
                      </a:pPr>
                      <a:r>
                        <a:rPr lang="en-US" sz="1200" dirty="0">
                          <a:solidFill>
                            <a:srgbClr val="ECE8E1"/>
                          </a:solidFill>
                        </a:rPr>
                        <a:t>make, run, test, web, clean · g++ -std=c++17 -Wall -Wextra -pedantic -O2</a:t>
                      </a:r>
                      <a:endParaRPr lang="en-US" sz="1200" dirty="0"/>
                    </a:p>
                  </a:txBody>
                  <a:tcPr marL="91440" marR="91440" marT="36576" marB="36576" anchor="ctr">
                    <a:lnL w="6350" cap="flat" cmpd="sng" algn="ctr">
                      <a:solidFill>
                        <a:srgbClr val="2D333D"/>
                      </a:solidFill>
                      <a:prstDash val="solid"/>
                      <a:round/>
                      <a:headEnd type="none" w="med" len="med"/>
                      <a:tailEnd type="none" w="med" len="med"/>
                    </a:lnL>
                    <a:lnR w="6350" cap="flat" cmpd="sng" algn="ctr">
                      <a:solidFill>
                        <a:srgbClr val="2D333D"/>
                      </a:solidFill>
                      <a:prstDash val="solid"/>
                      <a:round/>
                      <a:headEnd type="none" w="med" len="med"/>
                      <a:tailEnd type="none" w="med" len="med"/>
                    </a:lnR>
                    <a:lnT w="6350" cap="flat" cmpd="sng" algn="ctr">
                      <a:solidFill>
                        <a:srgbClr val="2D333D"/>
                      </a:solidFill>
                      <a:prstDash val="solid"/>
                      <a:round/>
                      <a:headEnd type="none" w="med" len="med"/>
                      <a:tailEnd type="none" w="med" len="med"/>
                    </a:lnT>
                    <a:lnB w="6350" cap="flat" cmpd="sng" algn="ctr">
                      <a:solidFill>
                        <a:srgbClr val="2D333D"/>
                      </a:solidFill>
                      <a:prstDash val="solid"/>
                      <a:round/>
                      <a:headEnd type="none" w="med" len="med"/>
                      <a:tailEnd type="none" w="med" len="med"/>
                    </a:lnB>
                    <a:solidFill>
                      <a:srgbClr val="101318"/>
                    </a:solidFill>
                  </a:tcPr>
                </a:tc>
              </a:tr>
              <a:tr h="402336">
                <a:tc>
                  <a:txBody>
                    <a:bodyPr/>
                    <a:lstStyle/>
                    <a:p>
                      <a:pPr indent="0" marL="0">
                        <a:buNone/>
                      </a:pPr>
                      <a:r>
                        <a:rPr lang="en-US" sz="1200" dirty="0">
                          <a:solidFill>
                            <a:srgbClr val="F2775F"/>
                          </a:solidFill>
                          <a:latin typeface="Courier New" pitchFamily="34" charset="0"/>
                          <a:ea typeface="Courier New" pitchFamily="34" charset="-122"/>
                          <a:cs typeface="Courier New" pitchFamily="34" charset="-120"/>
                        </a:rPr>
                        <a:t>examples/</a:t>
                      </a:r>
                      <a:endParaRPr lang="en-US" sz="1200" dirty="0">
                        <a:latin typeface="Courier New" charset="0"/>
                        <a:ea typeface="Courier New" charset="0"/>
                        <a:cs typeface="Courier New" charset="0"/>
                      </a:endParaRPr>
                    </a:p>
                  </a:txBody>
                  <a:tcPr marL="91440" marR="91440" marT="36576" marB="36576" anchor="ctr">
                    <a:lnL w="6350" cap="flat" cmpd="sng" algn="ctr">
                      <a:solidFill>
                        <a:srgbClr val="2D333D"/>
                      </a:solidFill>
                      <a:prstDash val="solid"/>
                      <a:round/>
                      <a:headEnd type="none" w="med" len="med"/>
                      <a:tailEnd type="none" w="med" len="med"/>
                    </a:lnL>
                    <a:lnR w="6350" cap="flat" cmpd="sng" algn="ctr">
                      <a:solidFill>
                        <a:srgbClr val="2D333D"/>
                      </a:solidFill>
                      <a:prstDash val="solid"/>
                      <a:round/>
                      <a:headEnd type="none" w="med" len="med"/>
                      <a:tailEnd type="none" w="med" len="med"/>
                    </a:lnR>
                    <a:lnT w="6350" cap="flat" cmpd="sng" algn="ctr">
                      <a:solidFill>
                        <a:srgbClr val="2D333D"/>
                      </a:solidFill>
                      <a:prstDash val="solid"/>
                      <a:round/>
                      <a:headEnd type="none" w="med" len="med"/>
                      <a:tailEnd type="none" w="med" len="med"/>
                    </a:lnT>
                    <a:lnB w="6350" cap="flat" cmpd="sng" algn="ctr">
                      <a:solidFill>
                        <a:srgbClr val="2D333D"/>
                      </a:solidFill>
                      <a:prstDash val="solid"/>
                      <a:round/>
                      <a:headEnd type="none" w="med" len="med"/>
                      <a:tailEnd type="none" w="med" len="med"/>
                    </a:lnB>
                    <a:solidFill>
                      <a:srgbClr val="101318"/>
                    </a:solidFill>
                  </a:tcPr>
                </a:tc>
                <a:tc>
                  <a:txBody>
                    <a:bodyPr/>
                    <a:lstStyle/>
                    <a:p>
                      <a:pPr indent="0" marL="0">
                        <a:buNone/>
                      </a:pPr>
                      <a:r>
                        <a:rPr lang="en-US" sz="1200" dirty="0">
                          <a:solidFill>
                            <a:srgbClr val="ECE8E1"/>
                          </a:solidFill>
                        </a:rPr>
                        <a:t>10 + 10</a:t>
                      </a:r>
                      <a:endParaRPr lang="en-US" sz="1200" dirty="0"/>
                    </a:p>
                  </a:txBody>
                  <a:tcPr marL="91440" marR="91440" marT="36576" marB="36576" anchor="ctr">
                    <a:lnL w="6350" cap="flat" cmpd="sng" algn="ctr">
                      <a:solidFill>
                        <a:srgbClr val="2D333D"/>
                      </a:solidFill>
                      <a:prstDash val="solid"/>
                      <a:round/>
                      <a:headEnd type="none" w="med" len="med"/>
                      <a:tailEnd type="none" w="med" len="med"/>
                    </a:lnL>
                    <a:lnR w="6350" cap="flat" cmpd="sng" algn="ctr">
                      <a:solidFill>
                        <a:srgbClr val="2D333D"/>
                      </a:solidFill>
                      <a:prstDash val="solid"/>
                      <a:round/>
                      <a:headEnd type="none" w="med" len="med"/>
                      <a:tailEnd type="none" w="med" len="med"/>
                    </a:lnR>
                    <a:lnT w="6350" cap="flat" cmpd="sng" algn="ctr">
                      <a:solidFill>
                        <a:srgbClr val="2D333D"/>
                      </a:solidFill>
                      <a:prstDash val="solid"/>
                      <a:round/>
                      <a:headEnd type="none" w="med" len="med"/>
                      <a:tailEnd type="none" w="med" len="med"/>
                    </a:lnT>
                    <a:lnB w="6350" cap="flat" cmpd="sng" algn="ctr">
                      <a:solidFill>
                        <a:srgbClr val="2D333D"/>
                      </a:solidFill>
                      <a:prstDash val="solid"/>
                      <a:round/>
                      <a:headEnd type="none" w="med" len="med"/>
                      <a:tailEnd type="none" w="med" len="med"/>
                    </a:lnB>
                    <a:solidFill>
                      <a:srgbClr val="101318"/>
                    </a:solidFill>
                  </a:tcPr>
                </a:tc>
                <a:tc>
                  <a:txBody>
                    <a:bodyPr/>
                    <a:lstStyle/>
                    <a:p>
                      <a:pPr indent="0" marL="0">
                        <a:buNone/>
                      </a:pPr>
                      <a:r>
                        <a:rPr lang="en-US" sz="1200" dirty="0">
                          <a:solidFill>
                            <a:srgbClr val="ECE8E1"/>
                          </a:solidFill>
                        </a:rPr>
                        <a:t>Test programs and their expected output in examples/expected/*.out</a:t>
                      </a:r>
                      <a:endParaRPr lang="en-US" sz="1200" dirty="0"/>
                    </a:p>
                  </a:txBody>
                  <a:tcPr marL="91440" marR="91440" marT="36576" marB="36576" anchor="ctr">
                    <a:lnL w="6350" cap="flat" cmpd="sng" algn="ctr">
                      <a:solidFill>
                        <a:srgbClr val="2D333D"/>
                      </a:solidFill>
                      <a:prstDash val="solid"/>
                      <a:round/>
                      <a:headEnd type="none" w="med" len="med"/>
                      <a:tailEnd type="none" w="med" len="med"/>
                    </a:lnL>
                    <a:lnR w="6350" cap="flat" cmpd="sng" algn="ctr">
                      <a:solidFill>
                        <a:srgbClr val="2D333D"/>
                      </a:solidFill>
                      <a:prstDash val="solid"/>
                      <a:round/>
                      <a:headEnd type="none" w="med" len="med"/>
                      <a:tailEnd type="none" w="med" len="med"/>
                    </a:lnR>
                    <a:lnT w="6350" cap="flat" cmpd="sng" algn="ctr">
                      <a:solidFill>
                        <a:srgbClr val="2D333D"/>
                      </a:solidFill>
                      <a:prstDash val="solid"/>
                      <a:round/>
                      <a:headEnd type="none" w="med" len="med"/>
                      <a:tailEnd type="none" w="med" len="med"/>
                    </a:lnT>
                    <a:lnB w="6350" cap="flat" cmpd="sng" algn="ctr">
                      <a:solidFill>
                        <a:srgbClr val="2D333D"/>
                      </a:solidFill>
                      <a:prstDash val="solid"/>
                      <a:round/>
                      <a:headEnd type="none" w="med" len="med"/>
                      <a:tailEnd type="none" w="med" len="med"/>
                    </a:lnB>
                    <a:solidFill>
                      <a:srgbClr val="101318"/>
                    </a:solidFill>
                  </a:tcPr>
                </a:tc>
              </a:tr>
              <a:tr h="402336">
                <a:tc>
                  <a:txBody>
                    <a:bodyPr/>
                    <a:lstStyle/>
                    <a:p>
                      <a:pPr indent="0" marL="0">
                        <a:buNone/>
                      </a:pPr>
                      <a:r>
                        <a:rPr lang="en-US" sz="1200" dirty="0">
                          <a:solidFill>
                            <a:srgbClr val="F2775F"/>
                          </a:solidFill>
                          <a:latin typeface="Courier New" pitchFamily="34" charset="0"/>
                          <a:ea typeface="Courier New" pitchFamily="34" charset="-122"/>
                          <a:cs typeface="Courier New" pitchFamily="34" charset="-120"/>
                        </a:rPr>
                        <a:t>web/</a:t>
                      </a:r>
                      <a:endParaRPr lang="en-US" sz="1200" dirty="0">
                        <a:latin typeface="Courier New" charset="0"/>
                        <a:ea typeface="Courier New" charset="0"/>
                        <a:cs typeface="Courier New" charset="0"/>
                      </a:endParaRPr>
                    </a:p>
                  </a:txBody>
                  <a:tcPr marL="91440" marR="91440" marT="36576" marB="36576" anchor="ctr">
                    <a:lnL w="6350" cap="flat" cmpd="sng" algn="ctr">
                      <a:solidFill>
                        <a:srgbClr val="2D333D"/>
                      </a:solidFill>
                      <a:prstDash val="solid"/>
                      <a:round/>
                      <a:headEnd type="none" w="med" len="med"/>
                      <a:tailEnd type="none" w="med" len="med"/>
                    </a:lnL>
                    <a:lnR w="6350" cap="flat" cmpd="sng" algn="ctr">
                      <a:solidFill>
                        <a:srgbClr val="2D333D"/>
                      </a:solidFill>
                      <a:prstDash val="solid"/>
                      <a:round/>
                      <a:headEnd type="none" w="med" len="med"/>
                      <a:tailEnd type="none" w="med" len="med"/>
                    </a:lnR>
                    <a:lnT w="6350" cap="flat" cmpd="sng" algn="ctr">
                      <a:solidFill>
                        <a:srgbClr val="2D333D"/>
                      </a:solidFill>
                      <a:prstDash val="solid"/>
                      <a:round/>
                      <a:headEnd type="none" w="med" len="med"/>
                      <a:tailEnd type="none" w="med" len="med"/>
                    </a:lnT>
                    <a:lnB w="6350" cap="flat" cmpd="sng" algn="ctr">
                      <a:solidFill>
                        <a:srgbClr val="2D333D"/>
                      </a:solidFill>
                      <a:prstDash val="solid"/>
                      <a:round/>
                      <a:headEnd type="none" w="med" len="med"/>
                      <a:tailEnd type="none" w="med" len="med"/>
                    </a:lnB>
                    <a:solidFill>
                      <a:srgbClr val="101318"/>
                    </a:solidFill>
                  </a:tcPr>
                </a:tc>
                <a:tc>
                  <a:txBody>
                    <a:bodyPr/>
                    <a:lstStyle/>
                    <a:p>
                      <a:pPr indent="0" marL="0">
                        <a:buNone/>
                      </a:pPr>
                      <a:r>
                        <a:rPr lang="en-US" sz="1200" dirty="0">
                          <a:solidFill>
                            <a:srgbClr val="ECE8E1"/>
                          </a:solidFill>
                        </a:rPr>
                        <a:t>89 / 288</a:t>
                      </a:r>
                      <a:endParaRPr lang="en-US" sz="1200" dirty="0"/>
                    </a:p>
                  </a:txBody>
                  <a:tcPr marL="91440" marR="91440" marT="36576" marB="36576" anchor="ctr">
                    <a:lnL w="6350" cap="flat" cmpd="sng" algn="ctr">
                      <a:solidFill>
                        <a:srgbClr val="2D333D"/>
                      </a:solidFill>
                      <a:prstDash val="solid"/>
                      <a:round/>
                      <a:headEnd type="none" w="med" len="med"/>
                      <a:tailEnd type="none" w="med" len="med"/>
                    </a:lnL>
                    <a:lnR w="6350" cap="flat" cmpd="sng" algn="ctr">
                      <a:solidFill>
                        <a:srgbClr val="2D333D"/>
                      </a:solidFill>
                      <a:prstDash val="solid"/>
                      <a:round/>
                      <a:headEnd type="none" w="med" len="med"/>
                      <a:tailEnd type="none" w="med" len="med"/>
                    </a:lnR>
                    <a:lnT w="6350" cap="flat" cmpd="sng" algn="ctr">
                      <a:solidFill>
                        <a:srgbClr val="2D333D"/>
                      </a:solidFill>
                      <a:prstDash val="solid"/>
                      <a:round/>
                      <a:headEnd type="none" w="med" len="med"/>
                      <a:tailEnd type="none" w="med" len="med"/>
                    </a:lnT>
                    <a:lnB w="6350" cap="flat" cmpd="sng" algn="ctr">
                      <a:solidFill>
                        <a:srgbClr val="2D333D"/>
                      </a:solidFill>
                      <a:prstDash val="solid"/>
                      <a:round/>
                      <a:headEnd type="none" w="med" len="med"/>
                      <a:tailEnd type="none" w="med" len="med"/>
                    </a:lnB>
                    <a:solidFill>
                      <a:srgbClr val="101318"/>
                    </a:solidFill>
                  </a:tcPr>
                </a:tc>
                <a:tc>
                  <a:txBody>
                    <a:bodyPr/>
                    <a:lstStyle/>
                    <a:p>
                      <a:pPr indent="0" marL="0">
                        <a:buNone/>
                      </a:pPr>
                      <a:r>
                        <a:rPr lang="en-US" sz="1200" dirty="0">
                          <a:solidFill>
                            <a:srgbClr val="ECE8E1"/>
                          </a:solidFill>
                        </a:rPr>
                        <a:t>server.py + index.html: browser playground that runs the real binary</a:t>
                      </a:r>
                      <a:endParaRPr lang="en-US" sz="1200" dirty="0"/>
                    </a:p>
                  </a:txBody>
                  <a:tcPr marL="91440" marR="91440" marT="36576" marB="36576" anchor="ctr">
                    <a:lnL w="6350" cap="flat" cmpd="sng" algn="ctr">
                      <a:solidFill>
                        <a:srgbClr val="2D333D"/>
                      </a:solidFill>
                      <a:prstDash val="solid"/>
                      <a:round/>
                      <a:headEnd type="none" w="med" len="med"/>
                      <a:tailEnd type="none" w="med" len="med"/>
                    </a:lnL>
                    <a:lnR w="6350" cap="flat" cmpd="sng" algn="ctr">
                      <a:solidFill>
                        <a:srgbClr val="2D333D"/>
                      </a:solidFill>
                      <a:prstDash val="solid"/>
                      <a:round/>
                      <a:headEnd type="none" w="med" len="med"/>
                      <a:tailEnd type="none" w="med" len="med"/>
                    </a:lnR>
                    <a:lnT w="6350" cap="flat" cmpd="sng" algn="ctr">
                      <a:solidFill>
                        <a:srgbClr val="2D333D"/>
                      </a:solidFill>
                      <a:prstDash val="solid"/>
                      <a:round/>
                      <a:headEnd type="none" w="med" len="med"/>
                      <a:tailEnd type="none" w="med" len="med"/>
                    </a:lnT>
                    <a:lnB w="6350" cap="flat" cmpd="sng" algn="ctr">
                      <a:solidFill>
                        <a:srgbClr val="2D333D"/>
                      </a:solidFill>
                      <a:prstDash val="solid"/>
                      <a:round/>
                      <a:headEnd type="none" w="med" len="med"/>
                      <a:tailEnd type="none" w="med" len="med"/>
                    </a:lnB>
                    <a:solidFill>
                      <a:srgbClr val="101318"/>
                    </a:solidFill>
                  </a:tcPr>
                </a:tc>
              </a:tr>
              <a:tr h="402336">
                <a:tc>
                  <a:txBody>
                    <a:bodyPr/>
                    <a:lstStyle/>
                    <a:p>
                      <a:pPr indent="0" marL="0">
                        <a:buNone/>
                      </a:pPr>
                      <a:r>
                        <a:rPr lang="en-US" sz="1200" dirty="0">
                          <a:solidFill>
                            <a:srgbClr val="F2775F"/>
                          </a:solidFill>
                          <a:latin typeface="Courier New" pitchFamily="34" charset="0"/>
                          <a:ea typeface="Courier New" pitchFamily="34" charset="-122"/>
                          <a:cs typeface="Courier New" pitchFamily="34" charset="-120"/>
                        </a:rPr>
                        <a:t>case_study/</a:t>
                      </a:r>
                      <a:endParaRPr lang="en-US" sz="1200" dirty="0">
                        <a:latin typeface="Courier New" charset="0"/>
                        <a:ea typeface="Courier New" charset="0"/>
                        <a:cs typeface="Courier New" charset="0"/>
                      </a:endParaRPr>
                    </a:p>
                  </a:txBody>
                  <a:tcPr marL="91440" marR="91440" marT="36576" marB="36576" anchor="ctr">
                    <a:lnL w="6350" cap="flat" cmpd="sng" algn="ctr">
                      <a:solidFill>
                        <a:srgbClr val="2D333D"/>
                      </a:solidFill>
                      <a:prstDash val="solid"/>
                      <a:round/>
                      <a:headEnd type="none" w="med" len="med"/>
                      <a:tailEnd type="none" w="med" len="med"/>
                    </a:lnL>
                    <a:lnR w="6350" cap="flat" cmpd="sng" algn="ctr">
                      <a:solidFill>
                        <a:srgbClr val="2D333D"/>
                      </a:solidFill>
                      <a:prstDash val="solid"/>
                      <a:round/>
                      <a:headEnd type="none" w="med" len="med"/>
                      <a:tailEnd type="none" w="med" len="med"/>
                    </a:lnR>
                    <a:lnT w="6350" cap="flat" cmpd="sng" algn="ctr">
                      <a:solidFill>
                        <a:srgbClr val="2D333D"/>
                      </a:solidFill>
                      <a:prstDash val="solid"/>
                      <a:round/>
                      <a:headEnd type="none" w="med" len="med"/>
                      <a:tailEnd type="none" w="med" len="med"/>
                    </a:lnT>
                    <a:lnB w="6350" cap="flat" cmpd="sng" algn="ctr">
                      <a:solidFill>
                        <a:srgbClr val="2D333D"/>
                      </a:solidFill>
                      <a:prstDash val="solid"/>
                      <a:round/>
                      <a:headEnd type="none" w="med" len="med"/>
                      <a:tailEnd type="none" w="med" len="med"/>
                    </a:lnB>
                    <a:solidFill>
                      <a:srgbClr val="101318"/>
                    </a:solidFill>
                  </a:tcPr>
                </a:tc>
                <a:tc>
                  <a:txBody>
                    <a:bodyPr/>
                    <a:lstStyle/>
                    <a:p>
                      <a:pPr indent="0" marL="0">
                        <a:buNone/>
                      </a:pPr>
                      <a:r>
                        <a:rPr lang="en-US" sz="1200" dirty="0">
                          <a:solidFill>
                            <a:srgbClr val="ECE8E1"/>
                          </a:solidFill>
                        </a:rPr>
                        <a:t>972</a:t>
                      </a:r>
                      <a:endParaRPr lang="en-US" sz="1200" dirty="0"/>
                    </a:p>
                  </a:txBody>
                  <a:tcPr marL="91440" marR="91440" marT="36576" marB="36576" anchor="ctr">
                    <a:lnL w="6350" cap="flat" cmpd="sng" algn="ctr">
                      <a:solidFill>
                        <a:srgbClr val="2D333D"/>
                      </a:solidFill>
                      <a:prstDash val="solid"/>
                      <a:round/>
                      <a:headEnd type="none" w="med" len="med"/>
                      <a:tailEnd type="none" w="med" len="med"/>
                    </a:lnL>
                    <a:lnR w="6350" cap="flat" cmpd="sng" algn="ctr">
                      <a:solidFill>
                        <a:srgbClr val="2D333D"/>
                      </a:solidFill>
                      <a:prstDash val="solid"/>
                      <a:round/>
                      <a:headEnd type="none" w="med" len="med"/>
                      <a:tailEnd type="none" w="med" len="med"/>
                    </a:lnR>
                    <a:lnT w="6350" cap="flat" cmpd="sng" algn="ctr">
                      <a:solidFill>
                        <a:srgbClr val="2D333D"/>
                      </a:solidFill>
                      <a:prstDash val="solid"/>
                      <a:round/>
                      <a:headEnd type="none" w="med" len="med"/>
                      <a:tailEnd type="none" w="med" len="med"/>
                    </a:lnT>
                    <a:lnB w="6350" cap="flat" cmpd="sng" algn="ctr">
                      <a:solidFill>
                        <a:srgbClr val="2D333D"/>
                      </a:solidFill>
                      <a:prstDash val="solid"/>
                      <a:round/>
                      <a:headEnd type="none" w="med" len="med"/>
                      <a:tailEnd type="none" w="med" len="med"/>
                    </a:lnB>
                    <a:solidFill>
                      <a:srgbClr val="101318"/>
                    </a:solidFill>
                  </a:tcPr>
                </a:tc>
                <a:tc>
                  <a:txBody>
                    <a:bodyPr/>
                    <a:lstStyle/>
                    <a:p>
                      <a:pPr indent="0" marL="0">
                        <a:buNone/>
                      </a:pPr>
                      <a:r>
                        <a:rPr lang="en-US" sz="1200" dirty="0">
                          <a:solidFill>
                            <a:srgbClr val="ECE8E1"/>
                          </a:solidFill>
                        </a:rPr>
                        <a:t>24-mistake corpus, ErrorBuddy vs gcc study, hint and lexer experiments</a:t>
                      </a:r>
                      <a:endParaRPr lang="en-US" sz="1200" dirty="0"/>
                    </a:p>
                  </a:txBody>
                  <a:tcPr marL="91440" marR="91440" marT="36576" marB="36576" anchor="ctr">
                    <a:lnL w="6350" cap="flat" cmpd="sng" algn="ctr">
                      <a:solidFill>
                        <a:srgbClr val="2D333D"/>
                      </a:solidFill>
                      <a:prstDash val="solid"/>
                      <a:round/>
                      <a:headEnd type="none" w="med" len="med"/>
                      <a:tailEnd type="none" w="med" len="med"/>
                    </a:lnL>
                    <a:lnR w="6350" cap="flat" cmpd="sng" algn="ctr">
                      <a:solidFill>
                        <a:srgbClr val="2D333D"/>
                      </a:solidFill>
                      <a:prstDash val="solid"/>
                      <a:round/>
                      <a:headEnd type="none" w="med" len="med"/>
                      <a:tailEnd type="none" w="med" len="med"/>
                    </a:lnR>
                    <a:lnT w="6350" cap="flat" cmpd="sng" algn="ctr">
                      <a:solidFill>
                        <a:srgbClr val="2D333D"/>
                      </a:solidFill>
                      <a:prstDash val="solid"/>
                      <a:round/>
                      <a:headEnd type="none" w="med" len="med"/>
                      <a:tailEnd type="none" w="med" len="med"/>
                    </a:lnT>
                    <a:lnB w="6350" cap="flat" cmpd="sng" algn="ctr">
                      <a:solidFill>
                        <a:srgbClr val="2D333D"/>
                      </a:solidFill>
                      <a:prstDash val="solid"/>
                      <a:round/>
                      <a:headEnd type="none" w="med" len="med"/>
                      <a:tailEnd type="none" w="med" len="med"/>
                    </a:lnB>
                    <a:solidFill>
                      <a:srgbClr val="101318"/>
                    </a:solidFill>
                  </a:tcPr>
                </a:tc>
              </a:tr>
            </a:tbl>
          </a:graphicData>
        </a:graphic>
      </p:graphicFrame>
      <p:sp>
        <p:nvSpPr>
          <p:cNvPr id="25" name="Slide Number Placeholder 0"/>
          <p:cNvSpPr>
            <a:spLocks noGrp="1"/>
          </p:cNvSpPr>
          <p:nvPr>
            <p:ph type="sldNum" sz="quarter" idx="4294967295"/>
          </p:nvPr>
        </p:nvSpPr>
        <p:spPr>
          <a:xfrm>
            <a:off x="8321040" y="473659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600" b="1" dirty="0">
                <a:solidFill>
                  <a:schemeClr val="bg1"/>
                </a:solidFill>
              </a:rPr>
              <a:t>One compile, end to end</a:t>
            </a:r>
            <a:endParaRPr lang="en-US" sz="2600" dirty="0"/>
          </a:p>
        </p:txBody>
      </p:sp>
      <p:sp>
        <p:nvSpPr>
          <p:cNvPr id="4" name="panel-140"/>
          <p:cNvSpPr/>
          <p:nvPr/>
        </p:nvSpPr>
        <p:spPr>
          <a:xfrm>
            <a:off x="457200" y="1097280"/>
            <a:ext cx="1920240" cy="1508760"/>
          </a:xfrm>
          <a:prstGeom prst="roundRect">
            <a:avLst>
              <a:gd name="adj" fmla="val 4848"/>
            </a:avLst>
          </a:prstGeom>
          <a:solidFill>
            <a:schemeClr val="tx2"/>
          </a:solidFill>
          <a:ln w="9525">
            <a:solidFill>
              <a:schemeClr val="accent5"/>
            </a:solidFill>
            <a:prstDash val="solid"/>
          </a:ln>
        </p:spPr>
      </p:sp>
      <p:sp>
        <p:nvSpPr>
          <p:cNvPr id="5" name="text-141"/>
          <p:cNvSpPr txBox="1"/>
          <p:nvPr/>
        </p:nvSpPr>
        <p:spPr>
          <a:xfrm>
            <a:off x="594360" y="1188720"/>
            <a:ext cx="457200" cy="411480"/>
          </a:xfrm>
          <a:prstGeom prst="rect">
            <a:avLst/>
          </a:prstGeom>
          <a:noFill/>
          <a:ln/>
        </p:spPr>
        <p:txBody>
          <a:bodyPr wrap="square" lIns="0" tIns="0" rIns="0" bIns="0" rtlCol="0" anchor="t"/>
          <a:lstStyle/>
          <a:p>
            <a:pPr indent="0" marL="0">
              <a:buNone/>
            </a:pPr>
            <a:r>
              <a:rPr lang="en-US" sz="2200" b="1" dirty="0">
                <a:solidFill>
                  <a:schemeClr val="accent1"/>
                </a:solidFill>
                <a:latin typeface="Courier New" pitchFamily="34" charset="0"/>
                <a:ea typeface="Courier New" pitchFamily="34" charset="-122"/>
                <a:cs typeface="Courier New" pitchFamily="34" charset="-120"/>
              </a:rPr>
              <a:t>1</a:t>
            </a:r>
            <a:endParaRPr lang="en-US" sz="2200" dirty="0"/>
          </a:p>
        </p:txBody>
      </p:sp>
      <p:sp>
        <p:nvSpPr>
          <p:cNvPr id="6" name="text-142"/>
          <p:cNvSpPr txBox="1"/>
          <p:nvPr/>
        </p:nvSpPr>
        <p:spPr>
          <a:xfrm>
            <a:off x="594360" y="1600200"/>
            <a:ext cx="1691640" cy="274320"/>
          </a:xfrm>
          <a:prstGeom prst="rect">
            <a:avLst/>
          </a:prstGeom>
          <a:noFill/>
          <a:ln/>
        </p:spPr>
        <p:txBody>
          <a:bodyPr wrap="square" lIns="0" tIns="0" rIns="0" bIns="0" rtlCol="0" anchor="t"/>
          <a:lstStyle/>
          <a:p>
            <a:pPr indent="0" marL="0">
              <a:buNone/>
            </a:pPr>
            <a:r>
              <a:rPr lang="en-US" sz="1400" b="1" dirty="0">
                <a:solidFill>
                  <a:schemeClr val="bg1"/>
                </a:solidFill>
              </a:rPr>
              <a:t>Start</a:t>
            </a:r>
            <a:endParaRPr lang="en-US" sz="1400" dirty="0"/>
          </a:p>
        </p:txBody>
      </p:sp>
      <p:sp>
        <p:nvSpPr>
          <p:cNvPr id="7" name="text-143"/>
          <p:cNvSpPr txBox="1"/>
          <p:nvPr/>
        </p:nvSpPr>
        <p:spPr>
          <a:xfrm>
            <a:off x="594360" y="1892808"/>
            <a:ext cx="1691640" cy="685800"/>
          </a:xfrm>
          <a:prstGeom prst="rect">
            <a:avLst/>
          </a:prstGeom>
          <a:noFill/>
          <a:ln/>
        </p:spPr>
        <p:txBody>
          <a:bodyPr wrap="square" lIns="0" tIns="0" rIns="0" bIns="0" rtlCol="0" anchor="t"/>
          <a:lstStyle/>
          <a:p>
            <a:pPr indent="0" marL="0">
              <a:buNone/>
            </a:pPr>
            <a:r>
              <a:rPr lang="en-US" sz="1100" dirty="0">
                <a:solidFill>
                  <a:schemeClr val="bg2"/>
                </a:solidFill>
              </a:rPr>
              <a:t>main() reads path + --tokens, loads the whole file into one string</a:t>
            </a:r>
            <a:endParaRPr lang="en-US" sz="1100" dirty="0"/>
          </a:p>
        </p:txBody>
      </p:sp>
      <p:sp>
        <p:nvSpPr>
          <p:cNvPr id="8" name="arrow-144"/>
          <p:cNvSpPr/>
          <p:nvPr/>
        </p:nvSpPr>
        <p:spPr>
          <a:xfrm>
            <a:off x="2377440" y="1847088"/>
            <a:ext cx="182880" cy="0"/>
          </a:xfrm>
          <a:prstGeom prst="line">
            <a:avLst/>
          </a:prstGeom>
          <a:noFill/>
          <a:ln w="15875">
            <a:solidFill>
              <a:schemeClr val="bg2"/>
            </a:solidFill>
            <a:prstDash val="solid"/>
            <a:tailEnd type="triangle"/>
          </a:ln>
        </p:spPr>
      </p:sp>
      <p:sp>
        <p:nvSpPr>
          <p:cNvPr id="9" name="panel-145"/>
          <p:cNvSpPr/>
          <p:nvPr/>
        </p:nvSpPr>
        <p:spPr>
          <a:xfrm>
            <a:off x="2560320" y="1097280"/>
            <a:ext cx="1920240" cy="1508760"/>
          </a:xfrm>
          <a:prstGeom prst="roundRect">
            <a:avLst>
              <a:gd name="adj" fmla="val 4848"/>
            </a:avLst>
          </a:prstGeom>
          <a:solidFill>
            <a:schemeClr val="tx2"/>
          </a:solidFill>
          <a:ln w="9525">
            <a:solidFill>
              <a:schemeClr val="accent5"/>
            </a:solidFill>
            <a:prstDash val="solid"/>
          </a:ln>
        </p:spPr>
      </p:sp>
      <p:sp>
        <p:nvSpPr>
          <p:cNvPr id="10" name="text-146"/>
          <p:cNvSpPr txBox="1"/>
          <p:nvPr/>
        </p:nvSpPr>
        <p:spPr>
          <a:xfrm>
            <a:off x="2697480" y="1188720"/>
            <a:ext cx="457200" cy="411480"/>
          </a:xfrm>
          <a:prstGeom prst="rect">
            <a:avLst/>
          </a:prstGeom>
          <a:noFill/>
          <a:ln/>
        </p:spPr>
        <p:txBody>
          <a:bodyPr wrap="square" lIns="0" tIns="0" rIns="0" bIns="0" rtlCol="0" anchor="t"/>
          <a:lstStyle/>
          <a:p>
            <a:pPr indent="0" marL="0">
              <a:buNone/>
            </a:pPr>
            <a:r>
              <a:rPr lang="en-US" sz="2200" b="1" dirty="0">
                <a:solidFill>
                  <a:schemeClr val="accent1"/>
                </a:solidFill>
                <a:latin typeface="Courier New" pitchFamily="34" charset="0"/>
                <a:ea typeface="Courier New" pitchFamily="34" charset="-122"/>
                <a:cs typeface="Courier New" pitchFamily="34" charset="-120"/>
              </a:rPr>
              <a:t>2</a:t>
            </a:r>
            <a:endParaRPr lang="en-US" sz="2200" dirty="0"/>
          </a:p>
        </p:txBody>
      </p:sp>
      <p:sp>
        <p:nvSpPr>
          <p:cNvPr id="11" name="text-147"/>
          <p:cNvSpPr txBox="1"/>
          <p:nvPr/>
        </p:nvSpPr>
        <p:spPr>
          <a:xfrm>
            <a:off x="2697480" y="1600200"/>
            <a:ext cx="1691640" cy="274320"/>
          </a:xfrm>
          <a:prstGeom prst="rect">
            <a:avLst/>
          </a:prstGeom>
          <a:noFill/>
          <a:ln/>
        </p:spPr>
        <p:txBody>
          <a:bodyPr wrap="square" lIns="0" tIns="0" rIns="0" bIns="0" rtlCol="0" anchor="t"/>
          <a:lstStyle/>
          <a:p>
            <a:pPr indent="0" marL="0">
              <a:buNone/>
            </a:pPr>
            <a:r>
              <a:rPr lang="en-US" sz="1400" b="1" dirty="0">
                <a:solidFill>
                  <a:schemeClr val="bg1"/>
                </a:solidFill>
              </a:rPr>
              <a:t>Lex</a:t>
            </a:r>
            <a:endParaRPr lang="en-US" sz="1400" dirty="0"/>
          </a:p>
        </p:txBody>
      </p:sp>
      <p:sp>
        <p:nvSpPr>
          <p:cNvPr id="12" name="text-148"/>
          <p:cNvSpPr txBox="1"/>
          <p:nvPr/>
        </p:nvSpPr>
        <p:spPr>
          <a:xfrm>
            <a:off x="2697480" y="1892808"/>
            <a:ext cx="1691640" cy="685800"/>
          </a:xfrm>
          <a:prstGeom prst="rect">
            <a:avLst/>
          </a:prstGeom>
          <a:noFill/>
          <a:ln/>
        </p:spPr>
        <p:txBody>
          <a:bodyPr wrap="square" lIns="0" tIns="0" rIns="0" bIns="0" rtlCol="0" anchor="t"/>
          <a:lstStyle/>
          <a:p>
            <a:pPr indent="0" marL="0">
              <a:buNone/>
            </a:pPr>
            <a:r>
              <a:rPr lang="en-US" sz="1100" dirty="0">
                <a:solidFill>
                  <a:schemeClr val="bg2"/>
                </a:solidFill>
              </a:rPr>
              <a:t>tokenize() → vector&lt;Token&gt;, each with type, text and line</a:t>
            </a:r>
            <a:endParaRPr lang="en-US" sz="1100" dirty="0"/>
          </a:p>
        </p:txBody>
      </p:sp>
      <p:sp>
        <p:nvSpPr>
          <p:cNvPr id="13" name="arrow-149"/>
          <p:cNvSpPr/>
          <p:nvPr/>
        </p:nvSpPr>
        <p:spPr>
          <a:xfrm>
            <a:off x="4480560" y="1847088"/>
            <a:ext cx="182880" cy="0"/>
          </a:xfrm>
          <a:prstGeom prst="line">
            <a:avLst/>
          </a:prstGeom>
          <a:noFill/>
          <a:ln w="15875">
            <a:solidFill>
              <a:schemeClr val="bg2"/>
            </a:solidFill>
            <a:prstDash val="solid"/>
            <a:tailEnd type="triangle"/>
          </a:ln>
        </p:spPr>
      </p:sp>
      <p:sp>
        <p:nvSpPr>
          <p:cNvPr id="14" name="panel-150"/>
          <p:cNvSpPr/>
          <p:nvPr/>
        </p:nvSpPr>
        <p:spPr>
          <a:xfrm>
            <a:off x="4663440" y="1097280"/>
            <a:ext cx="1920240" cy="1508760"/>
          </a:xfrm>
          <a:prstGeom prst="roundRect">
            <a:avLst>
              <a:gd name="adj" fmla="val 4848"/>
            </a:avLst>
          </a:prstGeom>
          <a:solidFill>
            <a:schemeClr val="tx2"/>
          </a:solidFill>
          <a:ln w="9525">
            <a:solidFill>
              <a:schemeClr val="accent5"/>
            </a:solidFill>
            <a:prstDash val="solid"/>
          </a:ln>
        </p:spPr>
      </p:sp>
      <p:sp>
        <p:nvSpPr>
          <p:cNvPr id="15" name="text-151"/>
          <p:cNvSpPr txBox="1"/>
          <p:nvPr/>
        </p:nvSpPr>
        <p:spPr>
          <a:xfrm>
            <a:off x="4800600" y="1188720"/>
            <a:ext cx="457200" cy="411480"/>
          </a:xfrm>
          <a:prstGeom prst="rect">
            <a:avLst/>
          </a:prstGeom>
          <a:noFill/>
          <a:ln/>
        </p:spPr>
        <p:txBody>
          <a:bodyPr wrap="square" lIns="0" tIns="0" rIns="0" bIns="0" rtlCol="0" anchor="t"/>
          <a:lstStyle/>
          <a:p>
            <a:pPr indent="0" marL="0">
              <a:buNone/>
            </a:pPr>
            <a:r>
              <a:rPr lang="en-US" sz="2200" b="1" dirty="0">
                <a:solidFill>
                  <a:schemeClr val="accent1"/>
                </a:solidFill>
                <a:latin typeface="Courier New" pitchFamily="34" charset="0"/>
                <a:ea typeface="Courier New" pitchFamily="34" charset="-122"/>
                <a:cs typeface="Courier New" pitchFamily="34" charset="-120"/>
              </a:rPr>
              <a:t>3</a:t>
            </a:r>
            <a:endParaRPr lang="en-US" sz="2200" dirty="0"/>
          </a:p>
        </p:txBody>
      </p:sp>
      <p:sp>
        <p:nvSpPr>
          <p:cNvPr id="16" name="text-152"/>
          <p:cNvSpPr txBox="1"/>
          <p:nvPr/>
        </p:nvSpPr>
        <p:spPr>
          <a:xfrm>
            <a:off x="4800600" y="1600200"/>
            <a:ext cx="1691640" cy="274320"/>
          </a:xfrm>
          <a:prstGeom prst="rect">
            <a:avLst/>
          </a:prstGeom>
          <a:noFill/>
          <a:ln/>
        </p:spPr>
        <p:txBody>
          <a:bodyPr wrap="square" lIns="0" tIns="0" rIns="0" bIns="0" rtlCol="0" anchor="t"/>
          <a:lstStyle/>
          <a:p>
            <a:pPr indent="0" marL="0">
              <a:buNone/>
            </a:pPr>
            <a:r>
              <a:rPr lang="en-US" sz="1400" b="1" dirty="0">
                <a:solidFill>
                  <a:schemeClr val="bg1"/>
                </a:solidFill>
              </a:rPr>
              <a:t>Parse + emit</a:t>
            </a:r>
            <a:endParaRPr lang="en-US" sz="1400" dirty="0"/>
          </a:p>
        </p:txBody>
      </p:sp>
      <p:sp>
        <p:nvSpPr>
          <p:cNvPr id="17" name="text-153"/>
          <p:cNvSpPr txBox="1"/>
          <p:nvPr/>
        </p:nvSpPr>
        <p:spPr>
          <a:xfrm>
            <a:off x="4800600" y="1892808"/>
            <a:ext cx="1691640" cy="685800"/>
          </a:xfrm>
          <a:prstGeom prst="rect">
            <a:avLst/>
          </a:prstGeom>
          <a:noFill/>
          <a:ln/>
        </p:spPr>
        <p:txBody>
          <a:bodyPr wrap="square" lIns="0" tIns="0" rIns="0" bIns="0" rtlCol="0" anchor="t"/>
          <a:lstStyle/>
          <a:p>
            <a:pPr indent="0" marL="0">
              <a:buNone/>
            </a:pPr>
            <a:r>
              <a:rPr lang="en-US" sz="1100" dirty="0">
                <a:solidFill>
                  <a:schemeClr val="bg2"/>
                </a:solidFill>
              </a:rPr>
              <a:t>for every statement: grammar, symbol table, append TAC</a:t>
            </a:r>
            <a:endParaRPr lang="en-US" sz="1100" dirty="0"/>
          </a:p>
        </p:txBody>
      </p:sp>
      <p:sp>
        <p:nvSpPr>
          <p:cNvPr id="18" name="arrow-154"/>
          <p:cNvSpPr/>
          <p:nvPr/>
        </p:nvSpPr>
        <p:spPr>
          <a:xfrm>
            <a:off x="6583680" y="1847088"/>
            <a:ext cx="182880" cy="0"/>
          </a:xfrm>
          <a:prstGeom prst="line">
            <a:avLst/>
          </a:prstGeom>
          <a:noFill/>
          <a:ln w="15875">
            <a:solidFill>
              <a:schemeClr val="bg2"/>
            </a:solidFill>
            <a:prstDash val="solid"/>
            <a:tailEnd type="triangle"/>
          </a:ln>
        </p:spPr>
      </p:sp>
      <p:sp>
        <p:nvSpPr>
          <p:cNvPr id="19" name="panel-155"/>
          <p:cNvSpPr/>
          <p:nvPr/>
        </p:nvSpPr>
        <p:spPr>
          <a:xfrm>
            <a:off x="6766560" y="1097280"/>
            <a:ext cx="1920240" cy="1508760"/>
          </a:xfrm>
          <a:prstGeom prst="roundRect">
            <a:avLst>
              <a:gd name="adj" fmla="val 4848"/>
            </a:avLst>
          </a:prstGeom>
          <a:solidFill>
            <a:schemeClr val="tx2"/>
          </a:solidFill>
          <a:ln w="9525">
            <a:solidFill>
              <a:schemeClr val="accent5"/>
            </a:solidFill>
            <a:prstDash val="solid"/>
          </a:ln>
        </p:spPr>
      </p:sp>
      <p:sp>
        <p:nvSpPr>
          <p:cNvPr id="20" name="text-156"/>
          <p:cNvSpPr txBox="1"/>
          <p:nvPr/>
        </p:nvSpPr>
        <p:spPr>
          <a:xfrm>
            <a:off x="6903720" y="1188720"/>
            <a:ext cx="457200" cy="411480"/>
          </a:xfrm>
          <a:prstGeom prst="rect">
            <a:avLst/>
          </a:prstGeom>
          <a:noFill/>
          <a:ln/>
        </p:spPr>
        <p:txBody>
          <a:bodyPr wrap="square" lIns="0" tIns="0" rIns="0" bIns="0" rtlCol="0" anchor="t"/>
          <a:lstStyle/>
          <a:p>
            <a:pPr indent="0" marL="0">
              <a:buNone/>
            </a:pPr>
            <a:r>
              <a:rPr lang="en-US" sz="2200" b="1" dirty="0">
                <a:solidFill>
                  <a:schemeClr val="accent1"/>
                </a:solidFill>
                <a:latin typeface="Courier New" pitchFamily="34" charset="0"/>
                <a:ea typeface="Courier New" pitchFamily="34" charset="-122"/>
                <a:cs typeface="Courier New" pitchFamily="34" charset="-120"/>
              </a:rPr>
              <a:t>4</a:t>
            </a:r>
            <a:endParaRPr lang="en-US" sz="2200" dirty="0"/>
          </a:p>
        </p:txBody>
      </p:sp>
      <p:sp>
        <p:nvSpPr>
          <p:cNvPr id="21" name="text-157"/>
          <p:cNvSpPr txBox="1"/>
          <p:nvPr/>
        </p:nvSpPr>
        <p:spPr>
          <a:xfrm>
            <a:off x="6903720" y="1600200"/>
            <a:ext cx="1691640" cy="274320"/>
          </a:xfrm>
          <a:prstGeom prst="rect">
            <a:avLst/>
          </a:prstGeom>
          <a:noFill/>
          <a:ln/>
        </p:spPr>
        <p:txBody>
          <a:bodyPr wrap="square" lIns="0" tIns="0" rIns="0" bIns="0" rtlCol="0" anchor="t"/>
          <a:lstStyle/>
          <a:p>
            <a:pPr indent="0" marL="0">
              <a:buNone/>
            </a:pPr>
            <a:r>
              <a:rPr lang="en-US" sz="1400" b="1" dirty="0">
                <a:solidFill>
                  <a:schemeClr val="bg1"/>
                </a:solidFill>
              </a:rPr>
              <a:t>Finish</a:t>
            </a:r>
            <a:endParaRPr lang="en-US" sz="1400" dirty="0"/>
          </a:p>
        </p:txBody>
      </p:sp>
      <p:sp>
        <p:nvSpPr>
          <p:cNvPr id="22" name="text-158"/>
          <p:cNvSpPr txBox="1"/>
          <p:nvPr/>
        </p:nvSpPr>
        <p:spPr>
          <a:xfrm>
            <a:off x="6903720" y="1892808"/>
            <a:ext cx="1691640" cy="685800"/>
          </a:xfrm>
          <a:prstGeom prst="rect">
            <a:avLst/>
          </a:prstGeom>
          <a:noFill/>
          <a:ln/>
        </p:spPr>
        <p:txBody>
          <a:bodyPr wrap="square" lIns="0" tIns="0" rIns="0" bIns="0" rtlCol="0" anchor="t"/>
          <a:lstStyle/>
          <a:p>
            <a:pPr indent="0" marL="0">
              <a:buNone/>
            </a:pPr>
            <a:r>
              <a:rPr lang="en-US" sz="1100" dirty="0">
                <a:solidFill>
                  <a:schemeClr val="bg2"/>
                </a:solidFill>
              </a:rPr>
              <a:t>main() prints the result and sets the exit code</a:t>
            </a:r>
            <a:endParaRPr lang="en-US" sz="1100" dirty="0"/>
          </a:p>
        </p:txBody>
      </p:sp>
      <p:sp>
        <p:nvSpPr>
          <p:cNvPr id="23" name="text-159"/>
          <p:cNvSpPr txBox="1"/>
          <p:nvPr/>
        </p:nvSpPr>
        <p:spPr>
          <a:xfrm>
            <a:off x="457200" y="2788920"/>
            <a:ext cx="3931920" cy="228600"/>
          </a:xfrm>
          <a:prstGeom prst="rect">
            <a:avLst/>
          </a:prstGeom>
          <a:noFill/>
          <a:ln/>
        </p:spPr>
        <p:txBody>
          <a:bodyPr wrap="square" lIns="0" tIns="0" rIns="0" bIns="0" rtlCol="0" anchor="t"/>
          <a:lstStyle/>
          <a:p>
            <a:pPr indent="0" marL="0">
              <a:buNone/>
            </a:pPr>
            <a:r>
              <a:rPr lang="en-US" sz="1000" b="1" spc="150" kern="0" dirty="0">
                <a:solidFill>
                  <a:schemeClr val="accent2"/>
                </a:solidFill>
              </a:rPr>
              <a:t>EVERY PHASE PASSED · EXIT 0</a:t>
            </a:r>
            <a:endParaRPr lang="en-US" sz="1000" dirty="0"/>
          </a:p>
        </p:txBody>
      </p:sp>
      <p:sp>
        <p:nvSpPr>
          <p:cNvPr id="24" name="panel-160"/>
          <p:cNvSpPr/>
          <p:nvPr/>
        </p:nvSpPr>
        <p:spPr>
          <a:xfrm>
            <a:off x="457200" y="3063240"/>
            <a:ext cx="3931920" cy="1463040"/>
          </a:xfrm>
          <a:prstGeom prst="roundRect">
            <a:avLst>
              <a:gd name="adj" fmla="val 5000"/>
            </a:avLst>
          </a:prstGeom>
          <a:solidFill>
            <a:schemeClr val="tx1"/>
          </a:solidFill>
          <a:ln w="9525">
            <a:solidFill>
              <a:schemeClr val="accent5"/>
            </a:solidFill>
            <a:prstDash val="solid"/>
          </a:ln>
        </p:spPr>
      </p:sp>
      <p:sp>
        <p:nvSpPr>
          <p:cNvPr id="25" name="text-161"/>
          <p:cNvSpPr txBox="1"/>
          <p:nvPr/>
        </p:nvSpPr>
        <p:spPr>
          <a:xfrm>
            <a:off x="594360" y="3172968"/>
            <a:ext cx="3657600" cy="1243584"/>
          </a:xfrm>
          <a:prstGeom prst="rect">
            <a:avLst/>
          </a:prstGeom>
          <a:noFill/>
          <a:ln/>
        </p:spPr>
        <p:txBody>
          <a:bodyPr wrap="square" lIns="0" tIns="0" rIns="0" bIns="0" rtlCol="0" anchor="t"/>
          <a:lstStyle/>
          <a:p>
            <a:pPr indent="0" marL="0">
              <a:lnSpc>
                <a:spcPct val="110000"/>
              </a:lnSpc>
              <a:buNone/>
            </a:pPr>
            <a:r>
              <a:rPr lang="en-US" sz="1100" dirty="0">
                <a:solidFill>
                  <a:schemeClr val="bg1"/>
                </a:solidFill>
                <a:latin typeface="Courier New" pitchFamily="34" charset="0"/>
                <a:ea typeface="Courier New" pitchFamily="34" charset="-122"/>
                <a:cs typeface="Courier New" pitchFamily="34" charset="-120"/>
              </a:rPr>
              <a:t>Compilation successful!</a:t>
            </a:r>
            <a:endParaRPr lang="en-US" sz="1100" dirty="0"/>
          </a:p>
          <a:p>
            <a:pPr indent="0" marL="0">
              <a:lnSpc>
                <a:spcPct val="110000"/>
              </a:lnSpc>
              <a:buNone/>
            </a:pPr>
            <a:r>
              <a:rPr lang="en-US" sz="1100" dirty="0">
                <a:solidFill>
                  <a:schemeClr val="bg1"/>
                </a:solidFill>
                <a:latin typeface="Courier New" pitchFamily="34" charset="0"/>
                <a:ea typeface="Courier New" pitchFamily="34" charset="-122"/>
                <a:cs typeface="Courier New" pitchFamily="34" charset="-120"/>
              </a:rPr>
              <a:t>    t1 = b * 2</a:t>
            </a:r>
            <a:endParaRPr lang="en-US" sz="1100" dirty="0"/>
          </a:p>
          <a:p>
            <a:pPr indent="0" marL="0">
              <a:lnSpc>
                <a:spcPct val="110000"/>
              </a:lnSpc>
              <a:buNone/>
            </a:pPr>
            <a:r>
              <a:rPr lang="en-US" sz="1100" dirty="0">
                <a:solidFill>
                  <a:schemeClr val="bg1"/>
                </a:solidFill>
                <a:latin typeface="Courier New" pitchFamily="34" charset="0"/>
                <a:ea typeface="Courier New" pitchFamily="34" charset="-122"/>
                <a:cs typeface="Courier New" pitchFamily="34" charset="-120"/>
              </a:rPr>
              <a:t>    t2 = a + t1</a:t>
            </a:r>
            <a:endParaRPr lang="en-US" sz="1100" dirty="0"/>
          </a:p>
          <a:p>
            <a:pPr indent="0" marL="0">
              <a:lnSpc>
                <a:spcPct val="110000"/>
              </a:lnSpc>
              <a:buNone/>
            </a:pPr>
            <a:r>
              <a:rPr lang="en-US" sz="1100" dirty="0">
                <a:solidFill>
                  <a:schemeClr val="bg1"/>
                </a:solidFill>
                <a:latin typeface="Courier New" pitchFamily="34" charset="0"/>
                <a:ea typeface="Courier New" pitchFamily="34" charset="-122"/>
                <a:cs typeface="Courier New" pitchFamily="34" charset="-120"/>
              </a:rPr>
              <a:t>    c = t2</a:t>
            </a:r>
            <a:endParaRPr lang="en-US" sz="1100" dirty="0"/>
          </a:p>
          <a:p>
            <a:pPr indent="0" marL="0">
              <a:lnSpc>
                <a:spcPct val="110000"/>
              </a:lnSpc>
              <a:buNone/>
            </a:pPr>
            <a:r>
              <a:rPr lang="en-US" sz="1100" dirty="0">
                <a:solidFill>
                  <a:schemeClr val="bg1"/>
                </a:solidFill>
                <a:latin typeface="Courier New" pitchFamily="34" charset="0"/>
                <a:ea typeface="Courier New" pitchFamily="34" charset="-122"/>
                <a:cs typeface="Courier New" pitchFamily="34" charset="-120"/>
              </a:rPr>
              <a:t>[OK] 1. Lexical Analysis - 22 tokens …</a:t>
            </a:r>
            <a:endParaRPr lang="en-US" sz="1100" dirty="0"/>
          </a:p>
        </p:txBody>
      </p:sp>
      <p:sp>
        <p:nvSpPr>
          <p:cNvPr id="26" name="text-162"/>
          <p:cNvSpPr txBox="1"/>
          <p:nvPr/>
        </p:nvSpPr>
        <p:spPr>
          <a:xfrm>
            <a:off x="4754880" y="2788920"/>
            <a:ext cx="3931920" cy="228600"/>
          </a:xfrm>
          <a:prstGeom prst="rect">
            <a:avLst/>
          </a:prstGeom>
          <a:noFill/>
          <a:ln/>
        </p:spPr>
        <p:txBody>
          <a:bodyPr wrap="square" lIns="0" tIns="0" rIns="0" bIns="0" rtlCol="0" anchor="t"/>
          <a:lstStyle/>
          <a:p>
            <a:pPr indent="0" marL="0">
              <a:buNone/>
            </a:pPr>
            <a:r>
              <a:rPr lang="en-US" sz="1000" b="1" spc="150" kern="0" dirty="0">
                <a:solidFill>
                  <a:schemeClr val="accent1"/>
                </a:solidFill>
              </a:rPr>
              <a:t>FIRST PROBLEM FOUND · EXIT 1</a:t>
            </a:r>
            <a:endParaRPr lang="en-US" sz="1000" dirty="0"/>
          </a:p>
        </p:txBody>
      </p:sp>
      <p:sp>
        <p:nvSpPr>
          <p:cNvPr id="27" name="panel-163"/>
          <p:cNvSpPr/>
          <p:nvPr/>
        </p:nvSpPr>
        <p:spPr>
          <a:xfrm>
            <a:off x="4754880" y="3063240"/>
            <a:ext cx="3931920" cy="1463040"/>
          </a:xfrm>
          <a:prstGeom prst="roundRect">
            <a:avLst>
              <a:gd name="adj" fmla="val 5000"/>
            </a:avLst>
          </a:prstGeom>
          <a:solidFill>
            <a:schemeClr val="tx1"/>
          </a:solidFill>
          <a:ln w="9525">
            <a:solidFill>
              <a:schemeClr val="accent5"/>
            </a:solidFill>
            <a:prstDash val="solid"/>
          </a:ln>
        </p:spPr>
      </p:sp>
      <p:sp>
        <p:nvSpPr>
          <p:cNvPr id="28" name="text-164"/>
          <p:cNvSpPr txBox="1"/>
          <p:nvPr/>
        </p:nvSpPr>
        <p:spPr>
          <a:xfrm>
            <a:off x="4892040" y="3172968"/>
            <a:ext cx="3657600" cy="1243584"/>
          </a:xfrm>
          <a:prstGeom prst="rect">
            <a:avLst/>
          </a:prstGeom>
          <a:noFill/>
          <a:ln/>
        </p:spPr>
        <p:txBody>
          <a:bodyPr wrap="square" lIns="0" tIns="0" rIns="0" bIns="0" rtlCol="0" anchor="t"/>
          <a:lstStyle/>
          <a:p>
            <a:pPr indent="0" marL="0">
              <a:lnSpc>
                <a:spcPct val="110000"/>
              </a:lnSpc>
              <a:buNone/>
            </a:pPr>
            <a:r>
              <a:rPr lang="en-US" sz="1100" dirty="0">
                <a:solidFill>
                  <a:srgbClr val="F2775F"/>
                </a:solidFill>
                <a:latin typeface="Courier New" pitchFamily="34" charset="0"/>
                <a:ea typeface="Courier New" pitchFamily="34" charset="-122"/>
                <a:cs typeface="Courier New" pitchFamily="34" charset="-120"/>
              </a:rPr>
              <a:t>Error on line 3:</a:t>
            </a:r>
            <a:endParaRPr lang="en-US" sz="1100" dirty="0"/>
          </a:p>
          <a:p>
            <a:pPr indent="0" marL="0">
              <a:lnSpc>
                <a:spcPct val="110000"/>
              </a:lnSpc>
              <a:buNone/>
            </a:pPr>
            <a:r>
              <a:rPr lang="en-US" sz="1100" dirty="0">
                <a:solidFill>
                  <a:schemeClr val="bg1"/>
                </a:solidFill>
                <a:latin typeface="Courier New" pitchFamily="34" charset="0"/>
                <a:ea typeface="Courier New" pitchFamily="34" charset="-122"/>
                <a:cs typeface="Courier New" pitchFamily="34" charset="-120"/>
              </a:rPr>
              <a:t>Division by zero. Variable 'zero'</a:t>
            </a:r>
            <a:endParaRPr lang="en-US" sz="1100" dirty="0"/>
          </a:p>
          <a:p>
            <a:pPr indent="0" marL="0">
              <a:lnSpc>
                <a:spcPct val="110000"/>
              </a:lnSpc>
              <a:buNone/>
            </a:pPr>
            <a:r>
              <a:rPr lang="en-US" sz="1100" dirty="0">
                <a:solidFill>
                  <a:schemeClr val="bg1"/>
                </a:solidFill>
                <a:latin typeface="Courier New" pitchFamily="34" charset="0"/>
                <a:ea typeface="Courier New" pitchFamily="34" charset="-122"/>
                <a:cs typeface="Courier New" pitchFamily="34" charset="-120"/>
              </a:rPr>
              <a:t>is 0 at this point …</a:t>
            </a:r>
            <a:endParaRPr lang="en-US" sz="1100" dirty="0"/>
          </a:p>
          <a:p>
            <a:pPr indent="0" marL="0">
              <a:lnSpc>
                <a:spcPct val="110000"/>
              </a:lnSpc>
              <a:buNone/>
            </a:pPr>
            <a:r>
              <a:rPr lang="en-US" sz="1100" dirty="0">
                <a:solidFill>
                  <a:srgbClr val="E2B451"/>
                </a:solidFill>
                <a:latin typeface="Courier New" pitchFamily="34" charset="0"/>
                <a:ea typeface="Courier New" pitchFamily="34" charset="-122"/>
                <a:cs typeface="Courier New" pitchFamily="34" charset="-120"/>
              </a:rPr>
              <a:t>Suggestion: </a:t>
            </a:r>
            <a:pPr indent="0" marL="0">
              <a:lnSpc>
                <a:spcPct val="110000"/>
              </a:lnSpc>
              <a:buNone/>
            </a:pPr>
            <a:r>
              <a:rPr lang="en-US" sz="1100" dirty="0">
                <a:solidFill>
                  <a:schemeClr val="bg1"/>
                </a:solidFill>
                <a:latin typeface="Courier New" pitchFamily="34" charset="0"/>
                <a:ea typeface="Courier New" pitchFamily="34" charset="-122"/>
                <a:cs typeface="Courier New" pitchFamily="34" charset="-120"/>
              </a:rPr>
              <a:t>Make sure the value</a:t>
            </a:r>
            <a:endParaRPr lang="en-US" sz="1100" dirty="0"/>
          </a:p>
          <a:p>
            <a:pPr indent="0" marL="0">
              <a:lnSpc>
                <a:spcPct val="110000"/>
              </a:lnSpc>
              <a:buNone/>
            </a:pPr>
            <a:r>
              <a:rPr lang="en-US" sz="1100" dirty="0">
                <a:solidFill>
                  <a:schemeClr val="bg1"/>
                </a:solidFill>
                <a:latin typeface="Courier New" pitchFamily="34" charset="0"/>
                <a:ea typeface="Courier New" pitchFamily="34" charset="-122"/>
                <a:cs typeface="Courier New" pitchFamily="34" charset="-120"/>
              </a:rPr>
              <a:t>on the right of '/' is not zero.</a:t>
            </a:r>
            <a:endParaRPr lang="en-US" sz="1100" dirty="0"/>
          </a:p>
        </p:txBody>
      </p:sp>
      <p:sp>
        <p:nvSpPr>
          <p:cNvPr id="25" name="Slide Number Placeholder 0"/>
          <p:cNvSpPr>
            <a:spLocks noGrp="1"/>
          </p:cNvSpPr>
          <p:nvPr>
            <p:ph type="sldNum" sz="quarter" idx="4294967295"/>
          </p:nvPr>
        </p:nvSpPr>
        <p:spPr>
          <a:xfrm>
            <a:off x="8321040" y="473659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600" b="1" dirty="0">
                <a:solidFill>
                  <a:schemeClr val="bg1"/>
                </a:solidFill>
              </a:rPr>
              <a:t>Inside the parser</a:t>
            </a:r>
            <a:endParaRPr lang="en-US" sz="2600" dirty="0"/>
          </a:p>
        </p:txBody>
      </p:sp>
      <p:sp>
        <p:nvSpPr>
          <p:cNvPr id="4" name="panel-165"/>
          <p:cNvSpPr/>
          <p:nvPr/>
        </p:nvSpPr>
        <p:spPr>
          <a:xfrm>
            <a:off x="457200" y="1188720"/>
            <a:ext cx="1417320" cy="658368"/>
          </a:xfrm>
          <a:prstGeom prst="roundRect">
            <a:avLst>
              <a:gd name="adj" fmla="val 11111"/>
            </a:avLst>
          </a:prstGeom>
          <a:solidFill>
            <a:schemeClr val="tx2"/>
          </a:solidFill>
          <a:ln w="9525">
            <a:solidFill>
              <a:schemeClr val="accent5"/>
            </a:solidFill>
            <a:prstDash val="solid"/>
          </a:ln>
        </p:spPr>
      </p:sp>
      <p:sp>
        <p:nvSpPr>
          <p:cNvPr id="5" name="text-166"/>
          <p:cNvSpPr txBox="1"/>
          <p:nvPr/>
        </p:nvSpPr>
        <p:spPr>
          <a:xfrm>
            <a:off x="548640" y="1188720"/>
            <a:ext cx="1234440" cy="658368"/>
          </a:xfrm>
          <a:prstGeom prst="rect">
            <a:avLst/>
          </a:prstGeom>
          <a:noFill/>
          <a:ln/>
        </p:spPr>
        <p:txBody>
          <a:bodyPr wrap="square" lIns="0" tIns="0" rIns="0" bIns="0" rtlCol="0" anchor="ctr"/>
          <a:lstStyle/>
          <a:p>
            <a:pPr algn="ctr" indent="0" marL="0">
              <a:buNone/>
            </a:pPr>
            <a:r>
              <a:rPr lang="en-US" sz="1000" b="1" dirty="0">
                <a:solidFill>
                  <a:schemeClr val="bg1"/>
                </a:solidFill>
              </a:rPr>
              <a:t>parseProgram()</a:t>
            </a:r>
            <a:endParaRPr lang="en-US" sz="1400" dirty="0"/>
          </a:p>
          <a:p>
            <a:pPr algn="ctr" indent="0" marL="0">
              <a:buNone/>
            </a:pPr>
            <a:r>
              <a:rPr lang="en-US" sz="1000" dirty="0">
                <a:solidFill>
                  <a:schemeClr val="bg2"/>
                </a:solidFill>
              </a:rPr>
              <a:t>until END_OF_FILE</a:t>
            </a:r>
            <a:endParaRPr lang="en-US" sz="1400" dirty="0"/>
          </a:p>
        </p:txBody>
      </p:sp>
      <p:sp>
        <p:nvSpPr>
          <p:cNvPr id="6" name="panel-167"/>
          <p:cNvSpPr/>
          <p:nvPr/>
        </p:nvSpPr>
        <p:spPr>
          <a:xfrm>
            <a:off x="2194560" y="1188720"/>
            <a:ext cx="1463040" cy="658368"/>
          </a:xfrm>
          <a:prstGeom prst="roundRect">
            <a:avLst>
              <a:gd name="adj" fmla="val 11111"/>
            </a:avLst>
          </a:prstGeom>
          <a:solidFill>
            <a:schemeClr val="tx2"/>
          </a:solidFill>
          <a:ln w="9525">
            <a:solidFill>
              <a:schemeClr val="accent5"/>
            </a:solidFill>
            <a:prstDash val="solid"/>
          </a:ln>
        </p:spPr>
      </p:sp>
      <p:sp>
        <p:nvSpPr>
          <p:cNvPr id="7" name="text-168"/>
          <p:cNvSpPr txBox="1"/>
          <p:nvPr/>
        </p:nvSpPr>
        <p:spPr>
          <a:xfrm>
            <a:off x="2286000" y="1188720"/>
            <a:ext cx="1280160" cy="658368"/>
          </a:xfrm>
          <a:prstGeom prst="rect">
            <a:avLst/>
          </a:prstGeom>
          <a:noFill/>
          <a:ln/>
        </p:spPr>
        <p:txBody>
          <a:bodyPr wrap="square" lIns="0" tIns="0" rIns="0" bIns="0" rtlCol="0" anchor="ctr"/>
          <a:lstStyle/>
          <a:p>
            <a:pPr algn="ctr" indent="0" marL="0">
              <a:buNone/>
            </a:pPr>
            <a:r>
              <a:rPr lang="en-US" sz="1000" b="1" dirty="0">
                <a:solidFill>
                  <a:schemeClr val="bg1"/>
                </a:solidFill>
              </a:rPr>
              <a:t>statement()</a:t>
            </a:r>
            <a:endParaRPr lang="en-US" sz="1400" dirty="0"/>
          </a:p>
          <a:p>
            <a:pPr algn="ctr" indent="0" marL="0">
              <a:buNone/>
            </a:pPr>
            <a:r>
              <a:rPr lang="en-US" sz="1000" dirty="0">
                <a:solidFill>
                  <a:schemeClr val="bg2"/>
                </a:solidFill>
              </a:rPr>
              <a:t>dispatch on 1st token</a:t>
            </a:r>
            <a:endParaRPr lang="en-US" sz="1400" dirty="0"/>
          </a:p>
        </p:txBody>
      </p:sp>
      <p:sp>
        <p:nvSpPr>
          <p:cNvPr id="8" name="panel-169"/>
          <p:cNvSpPr/>
          <p:nvPr/>
        </p:nvSpPr>
        <p:spPr>
          <a:xfrm>
            <a:off x="3977640" y="1024128"/>
            <a:ext cx="1737360" cy="310896"/>
          </a:xfrm>
          <a:prstGeom prst="roundRect">
            <a:avLst>
              <a:gd name="adj" fmla="val 23529"/>
            </a:avLst>
          </a:prstGeom>
          <a:solidFill>
            <a:schemeClr val="tx2"/>
          </a:solidFill>
          <a:ln w="9525">
            <a:solidFill>
              <a:schemeClr val="accent5"/>
            </a:solidFill>
            <a:prstDash val="solid"/>
          </a:ln>
        </p:spPr>
      </p:sp>
      <p:sp>
        <p:nvSpPr>
          <p:cNvPr id="9" name="text-170"/>
          <p:cNvSpPr txBox="1"/>
          <p:nvPr/>
        </p:nvSpPr>
        <p:spPr>
          <a:xfrm>
            <a:off x="4050792" y="1024128"/>
            <a:ext cx="1645920" cy="310896"/>
          </a:xfrm>
          <a:prstGeom prst="rect">
            <a:avLst/>
          </a:prstGeom>
          <a:noFill/>
          <a:ln/>
        </p:spPr>
        <p:txBody>
          <a:bodyPr wrap="square" lIns="0" tIns="0" rIns="0" bIns="0" rtlCol="0" anchor="ctr"/>
          <a:lstStyle/>
          <a:p>
            <a:pPr indent="0" marL="0">
              <a:buNone/>
            </a:pPr>
            <a:r>
              <a:rPr lang="en-US" sz="1100" b="1" dirty="0">
                <a:solidFill>
                  <a:schemeClr val="accent1"/>
                </a:solidFill>
              </a:rPr>
              <a:t>int  </a:t>
            </a:r>
            <a:pPr indent="0" marL="0">
              <a:buNone/>
            </a:pPr>
            <a:r>
              <a:rPr lang="en-US" sz="1100" dirty="0">
                <a:solidFill>
                  <a:schemeClr val="bg1"/>
                </a:solidFill>
                <a:latin typeface="Courier New" pitchFamily="34" charset="0"/>
                <a:ea typeface="Courier New" pitchFamily="34" charset="-122"/>
                <a:cs typeface="Courier New" pitchFamily="34" charset="-120"/>
              </a:rPr>
              <a:t>declaration()</a:t>
            </a:r>
            <a:endParaRPr lang="en-US" sz="1100" dirty="0"/>
          </a:p>
        </p:txBody>
      </p:sp>
      <p:sp>
        <p:nvSpPr>
          <p:cNvPr id="10" name="panel-171"/>
          <p:cNvSpPr/>
          <p:nvPr/>
        </p:nvSpPr>
        <p:spPr>
          <a:xfrm>
            <a:off x="3977640" y="1389888"/>
            <a:ext cx="1737360" cy="310896"/>
          </a:xfrm>
          <a:prstGeom prst="roundRect">
            <a:avLst>
              <a:gd name="adj" fmla="val 23529"/>
            </a:avLst>
          </a:prstGeom>
          <a:solidFill>
            <a:schemeClr val="tx2"/>
          </a:solidFill>
          <a:ln w="9525">
            <a:solidFill>
              <a:schemeClr val="accent5"/>
            </a:solidFill>
            <a:prstDash val="solid"/>
          </a:ln>
        </p:spPr>
      </p:sp>
      <p:sp>
        <p:nvSpPr>
          <p:cNvPr id="11" name="text-172"/>
          <p:cNvSpPr txBox="1"/>
          <p:nvPr/>
        </p:nvSpPr>
        <p:spPr>
          <a:xfrm>
            <a:off x="4050792" y="1389888"/>
            <a:ext cx="1645920" cy="310896"/>
          </a:xfrm>
          <a:prstGeom prst="rect">
            <a:avLst/>
          </a:prstGeom>
          <a:noFill/>
          <a:ln/>
        </p:spPr>
        <p:txBody>
          <a:bodyPr wrap="square" lIns="0" tIns="0" rIns="0" bIns="0" rtlCol="0" anchor="ctr"/>
          <a:lstStyle/>
          <a:p>
            <a:pPr indent="0" marL="0">
              <a:buNone/>
            </a:pPr>
            <a:r>
              <a:rPr lang="en-US" sz="1100" b="1" dirty="0">
                <a:solidFill>
                  <a:schemeClr val="accent1"/>
                </a:solidFill>
              </a:rPr>
              <a:t>name =  </a:t>
            </a:r>
            <a:pPr indent="0" marL="0">
              <a:buNone/>
            </a:pPr>
            <a:r>
              <a:rPr lang="en-US" sz="1100" dirty="0">
                <a:solidFill>
                  <a:schemeClr val="bg1"/>
                </a:solidFill>
                <a:latin typeface="Courier New" pitchFamily="34" charset="0"/>
                <a:ea typeface="Courier New" pitchFamily="34" charset="-122"/>
                <a:cs typeface="Courier New" pitchFamily="34" charset="-120"/>
              </a:rPr>
              <a:t>assignment()</a:t>
            </a:r>
            <a:endParaRPr lang="en-US" sz="1100" dirty="0"/>
          </a:p>
        </p:txBody>
      </p:sp>
      <p:sp>
        <p:nvSpPr>
          <p:cNvPr id="12" name="panel-173"/>
          <p:cNvSpPr/>
          <p:nvPr/>
        </p:nvSpPr>
        <p:spPr>
          <a:xfrm>
            <a:off x="3977640" y="1755648"/>
            <a:ext cx="1737360" cy="310896"/>
          </a:xfrm>
          <a:prstGeom prst="roundRect">
            <a:avLst>
              <a:gd name="adj" fmla="val 23529"/>
            </a:avLst>
          </a:prstGeom>
          <a:solidFill>
            <a:schemeClr val="tx2"/>
          </a:solidFill>
          <a:ln w="9525">
            <a:solidFill>
              <a:schemeClr val="accent5"/>
            </a:solidFill>
            <a:prstDash val="solid"/>
          </a:ln>
        </p:spPr>
      </p:sp>
      <p:sp>
        <p:nvSpPr>
          <p:cNvPr id="13" name="text-174"/>
          <p:cNvSpPr txBox="1"/>
          <p:nvPr/>
        </p:nvSpPr>
        <p:spPr>
          <a:xfrm>
            <a:off x="4050792" y="1755648"/>
            <a:ext cx="1645920" cy="310896"/>
          </a:xfrm>
          <a:prstGeom prst="rect">
            <a:avLst/>
          </a:prstGeom>
          <a:noFill/>
          <a:ln/>
        </p:spPr>
        <p:txBody>
          <a:bodyPr wrap="square" lIns="0" tIns="0" rIns="0" bIns="0" rtlCol="0" anchor="ctr"/>
          <a:lstStyle/>
          <a:p>
            <a:pPr indent="0" marL="0">
              <a:buNone/>
            </a:pPr>
            <a:r>
              <a:rPr lang="en-US" sz="1100" b="1" dirty="0">
                <a:solidFill>
                  <a:schemeClr val="accent1"/>
                </a:solidFill>
              </a:rPr>
              <a:t>print  </a:t>
            </a:r>
            <a:pPr indent="0" marL="0">
              <a:buNone/>
            </a:pPr>
            <a:r>
              <a:rPr lang="en-US" sz="1100" dirty="0">
                <a:solidFill>
                  <a:schemeClr val="bg1"/>
                </a:solidFill>
                <a:latin typeface="Courier New" pitchFamily="34" charset="0"/>
                <a:ea typeface="Courier New" pitchFamily="34" charset="-122"/>
                <a:cs typeface="Courier New" pitchFamily="34" charset="-120"/>
              </a:rPr>
              <a:t>printStatement()</a:t>
            </a:r>
            <a:endParaRPr lang="en-US" sz="1100" dirty="0"/>
          </a:p>
        </p:txBody>
      </p:sp>
      <p:sp>
        <p:nvSpPr>
          <p:cNvPr id="14" name="panel-175"/>
          <p:cNvSpPr/>
          <p:nvPr/>
        </p:nvSpPr>
        <p:spPr>
          <a:xfrm>
            <a:off x="6035040" y="1024128"/>
            <a:ext cx="1234440" cy="457200"/>
          </a:xfrm>
          <a:prstGeom prst="roundRect">
            <a:avLst>
              <a:gd name="adj" fmla="val 16000"/>
            </a:avLst>
          </a:prstGeom>
          <a:solidFill>
            <a:schemeClr val="tx2"/>
          </a:solidFill>
          <a:ln w="9525">
            <a:solidFill>
              <a:schemeClr val="accent5"/>
            </a:solidFill>
            <a:prstDash val="solid"/>
          </a:ln>
        </p:spPr>
      </p:sp>
      <p:sp>
        <p:nvSpPr>
          <p:cNvPr id="15" name="text-176"/>
          <p:cNvSpPr txBox="1"/>
          <p:nvPr/>
        </p:nvSpPr>
        <p:spPr>
          <a:xfrm>
            <a:off x="6126480" y="1024128"/>
            <a:ext cx="1051560" cy="457200"/>
          </a:xfrm>
          <a:prstGeom prst="rect">
            <a:avLst/>
          </a:prstGeom>
          <a:noFill/>
          <a:ln/>
        </p:spPr>
        <p:txBody>
          <a:bodyPr wrap="square" lIns="0" tIns="0" rIns="0" bIns="0" rtlCol="0" anchor="ctr"/>
          <a:lstStyle/>
          <a:p>
            <a:pPr algn="ctr" indent="0" marL="0">
              <a:buNone/>
            </a:pPr>
            <a:r>
              <a:rPr lang="en-US" sz="1000" b="1" dirty="0">
                <a:solidFill>
                  <a:schemeClr val="bg1"/>
                </a:solidFill>
              </a:rPr>
              <a:t>expression()</a:t>
            </a:r>
            <a:endParaRPr lang="en-US" sz="1400" dirty="0"/>
          </a:p>
          <a:p>
            <a:pPr algn="ctr" indent="0" marL="0">
              <a:buNone/>
            </a:pPr>
            <a:r>
              <a:rPr lang="en-US" sz="1000" dirty="0">
                <a:solidFill>
                  <a:schemeClr val="bg2"/>
                </a:solidFill>
              </a:rPr>
              <a:t>loops on + −</a:t>
            </a:r>
            <a:endParaRPr lang="en-US" sz="1400" dirty="0"/>
          </a:p>
        </p:txBody>
      </p:sp>
      <p:sp>
        <p:nvSpPr>
          <p:cNvPr id="16" name="panel-177"/>
          <p:cNvSpPr/>
          <p:nvPr/>
        </p:nvSpPr>
        <p:spPr>
          <a:xfrm>
            <a:off x="6035040" y="1572768"/>
            <a:ext cx="1234440" cy="457200"/>
          </a:xfrm>
          <a:prstGeom prst="roundRect">
            <a:avLst>
              <a:gd name="adj" fmla="val 16000"/>
            </a:avLst>
          </a:prstGeom>
          <a:solidFill>
            <a:schemeClr val="tx2"/>
          </a:solidFill>
          <a:ln w="9525">
            <a:solidFill>
              <a:schemeClr val="accent5"/>
            </a:solidFill>
            <a:prstDash val="solid"/>
          </a:ln>
        </p:spPr>
      </p:sp>
      <p:sp>
        <p:nvSpPr>
          <p:cNvPr id="17" name="text-178"/>
          <p:cNvSpPr txBox="1"/>
          <p:nvPr/>
        </p:nvSpPr>
        <p:spPr>
          <a:xfrm>
            <a:off x="6126480" y="1572768"/>
            <a:ext cx="1051560" cy="457200"/>
          </a:xfrm>
          <a:prstGeom prst="rect">
            <a:avLst/>
          </a:prstGeom>
          <a:noFill/>
          <a:ln/>
        </p:spPr>
        <p:txBody>
          <a:bodyPr wrap="square" lIns="0" tIns="0" rIns="0" bIns="0" rtlCol="0" anchor="ctr"/>
          <a:lstStyle/>
          <a:p>
            <a:pPr algn="ctr" indent="0" marL="0">
              <a:buNone/>
            </a:pPr>
            <a:r>
              <a:rPr lang="en-US" sz="1000" b="1" dirty="0">
                <a:solidFill>
                  <a:schemeClr val="bg1"/>
                </a:solidFill>
              </a:rPr>
              <a:t>term()</a:t>
            </a:r>
            <a:endParaRPr lang="en-US" sz="1400" dirty="0"/>
          </a:p>
          <a:p>
            <a:pPr algn="ctr" indent="0" marL="0">
              <a:buNone/>
            </a:pPr>
            <a:r>
              <a:rPr lang="en-US" sz="1000" dirty="0">
                <a:solidFill>
                  <a:schemeClr val="bg2"/>
                </a:solidFill>
              </a:rPr>
              <a:t>loops on * /</a:t>
            </a:r>
            <a:endParaRPr lang="en-US" sz="1400" dirty="0"/>
          </a:p>
        </p:txBody>
      </p:sp>
      <p:sp>
        <p:nvSpPr>
          <p:cNvPr id="18" name="panel-179"/>
          <p:cNvSpPr/>
          <p:nvPr/>
        </p:nvSpPr>
        <p:spPr>
          <a:xfrm>
            <a:off x="7452360" y="1024128"/>
            <a:ext cx="1234440" cy="1005840"/>
          </a:xfrm>
          <a:prstGeom prst="roundRect">
            <a:avLst>
              <a:gd name="adj" fmla="val 7273"/>
            </a:avLst>
          </a:prstGeom>
          <a:solidFill>
            <a:schemeClr val="tx2"/>
          </a:solidFill>
          <a:ln w="9525">
            <a:solidFill>
              <a:schemeClr val="accent5"/>
            </a:solidFill>
            <a:prstDash val="solid"/>
          </a:ln>
        </p:spPr>
      </p:sp>
      <p:sp>
        <p:nvSpPr>
          <p:cNvPr id="19" name="text-180"/>
          <p:cNvSpPr txBox="1"/>
          <p:nvPr/>
        </p:nvSpPr>
        <p:spPr>
          <a:xfrm>
            <a:off x="7543800" y="1024128"/>
            <a:ext cx="1051560" cy="1005840"/>
          </a:xfrm>
          <a:prstGeom prst="rect">
            <a:avLst/>
          </a:prstGeom>
          <a:noFill/>
          <a:ln/>
        </p:spPr>
        <p:txBody>
          <a:bodyPr wrap="square" lIns="0" tIns="0" rIns="0" bIns="0" rtlCol="0" anchor="ctr"/>
          <a:lstStyle/>
          <a:p>
            <a:pPr algn="ctr" indent="0" marL="0">
              <a:buNone/>
            </a:pPr>
            <a:r>
              <a:rPr lang="en-US" sz="1000" b="1" dirty="0">
                <a:solidFill>
                  <a:schemeClr val="bg1"/>
                </a:solidFill>
              </a:rPr>
              <a:t>factor()</a:t>
            </a:r>
            <a:endParaRPr lang="en-US" sz="1400" dirty="0"/>
          </a:p>
          <a:p>
            <a:pPr algn="ctr" indent="0" marL="0">
              <a:buNone/>
            </a:pPr>
            <a:r>
              <a:rPr lang="en-US" sz="1000" dirty="0">
                <a:solidFill>
                  <a:schemeClr val="bg2"/>
                </a:solidFill>
              </a:rPr>
              <a:t>NUM, ID, (expr)</a:t>
            </a:r>
            <a:endParaRPr lang="en-US" sz="1400" dirty="0"/>
          </a:p>
        </p:txBody>
      </p:sp>
      <p:sp>
        <p:nvSpPr>
          <p:cNvPr id="20" name="arrow-181"/>
          <p:cNvSpPr/>
          <p:nvPr/>
        </p:nvSpPr>
        <p:spPr>
          <a:xfrm>
            <a:off x="1874520" y="1517904"/>
            <a:ext cx="320040" cy="0"/>
          </a:xfrm>
          <a:prstGeom prst="line">
            <a:avLst/>
          </a:prstGeom>
          <a:noFill/>
          <a:ln w="15875">
            <a:solidFill>
              <a:schemeClr val="bg2"/>
            </a:solidFill>
            <a:prstDash val="solid"/>
            <a:tailEnd type="triangle"/>
          </a:ln>
        </p:spPr>
      </p:sp>
      <p:sp>
        <p:nvSpPr>
          <p:cNvPr id="21" name="arrow-182"/>
          <p:cNvSpPr/>
          <p:nvPr/>
        </p:nvSpPr>
        <p:spPr>
          <a:xfrm>
            <a:off x="3657600" y="1517904"/>
            <a:ext cx="320040" cy="0"/>
          </a:xfrm>
          <a:prstGeom prst="line">
            <a:avLst/>
          </a:prstGeom>
          <a:noFill/>
          <a:ln w="15875">
            <a:solidFill>
              <a:schemeClr val="bg2"/>
            </a:solidFill>
            <a:prstDash val="solid"/>
            <a:tailEnd type="triangle"/>
          </a:ln>
        </p:spPr>
      </p:sp>
      <p:sp>
        <p:nvSpPr>
          <p:cNvPr id="22" name="arrow-183"/>
          <p:cNvSpPr/>
          <p:nvPr/>
        </p:nvSpPr>
        <p:spPr>
          <a:xfrm>
            <a:off x="5715000" y="1517904"/>
            <a:ext cx="320040" cy="0"/>
          </a:xfrm>
          <a:prstGeom prst="line">
            <a:avLst/>
          </a:prstGeom>
          <a:noFill/>
          <a:ln w="15875">
            <a:solidFill>
              <a:schemeClr val="bg2"/>
            </a:solidFill>
            <a:prstDash val="solid"/>
            <a:tailEnd type="triangle"/>
          </a:ln>
        </p:spPr>
      </p:sp>
      <p:sp>
        <p:nvSpPr>
          <p:cNvPr id="23" name="arrow-184"/>
          <p:cNvSpPr/>
          <p:nvPr/>
        </p:nvSpPr>
        <p:spPr>
          <a:xfrm>
            <a:off x="7269480" y="1527048"/>
            <a:ext cx="182880" cy="0"/>
          </a:xfrm>
          <a:prstGeom prst="line">
            <a:avLst/>
          </a:prstGeom>
          <a:noFill/>
          <a:ln w="15875">
            <a:solidFill>
              <a:schemeClr val="bg2"/>
            </a:solidFill>
            <a:prstDash val="solid"/>
            <a:tailEnd type="triangle"/>
          </a:ln>
        </p:spPr>
      </p:sp>
      <p:sp>
        <p:nvSpPr>
          <p:cNvPr id="24" name="text-185"/>
          <p:cNvSpPr txBox="1"/>
          <p:nvPr/>
        </p:nvSpPr>
        <p:spPr>
          <a:xfrm>
            <a:off x="457200" y="2267712"/>
            <a:ext cx="1417320" cy="502920"/>
          </a:xfrm>
          <a:prstGeom prst="rect">
            <a:avLst/>
          </a:prstGeom>
          <a:noFill/>
          <a:ln/>
        </p:spPr>
        <p:txBody>
          <a:bodyPr wrap="square" lIns="0" tIns="0" rIns="0" bIns="0" rtlCol="0" anchor="t"/>
          <a:lstStyle/>
          <a:p>
            <a:pPr indent="0" marL="0">
              <a:buNone/>
            </a:pPr>
            <a:r>
              <a:rPr lang="en-US" sz="1000" dirty="0">
                <a:solidFill>
                  <a:schemeClr val="accent1"/>
                </a:solidFill>
              </a:rPr>
              <a:t>throws: empty program</a:t>
            </a:r>
            <a:endParaRPr lang="en-US" sz="1000" dirty="0"/>
          </a:p>
        </p:txBody>
      </p:sp>
      <p:sp>
        <p:nvSpPr>
          <p:cNvPr id="25" name="text-186"/>
          <p:cNvSpPr txBox="1"/>
          <p:nvPr/>
        </p:nvSpPr>
        <p:spPr>
          <a:xfrm>
            <a:off x="2194560" y="2267712"/>
            <a:ext cx="1463040" cy="502920"/>
          </a:xfrm>
          <a:prstGeom prst="rect">
            <a:avLst/>
          </a:prstGeom>
          <a:noFill/>
          <a:ln/>
        </p:spPr>
        <p:txBody>
          <a:bodyPr wrap="square" lIns="0" tIns="0" rIns="0" bIns="0" rtlCol="0" anchor="t"/>
          <a:lstStyle/>
          <a:p>
            <a:pPr indent="0" marL="0">
              <a:buNone/>
            </a:pPr>
            <a:r>
              <a:rPr lang="en-US" sz="1000" dirty="0">
                <a:solidFill>
                  <a:schemeClr val="accent1"/>
                </a:solidFill>
              </a:rPr>
              <a:t>throws: misspelled keyword, lone name, extra ;</a:t>
            </a:r>
            <a:endParaRPr lang="en-US" sz="1000" dirty="0"/>
          </a:p>
        </p:txBody>
      </p:sp>
      <p:sp>
        <p:nvSpPr>
          <p:cNvPr id="26" name="text-187"/>
          <p:cNvSpPr txBox="1"/>
          <p:nvPr/>
        </p:nvSpPr>
        <p:spPr>
          <a:xfrm>
            <a:off x="3977640" y="2267712"/>
            <a:ext cx="1737360" cy="502920"/>
          </a:xfrm>
          <a:prstGeom prst="rect">
            <a:avLst/>
          </a:prstGeom>
          <a:noFill/>
          <a:ln/>
        </p:spPr>
        <p:txBody>
          <a:bodyPr wrap="square" lIns="0" tIns="0" rIns="0" bIns="0" rtlCol="0" anchor="t"/>
          <a:lstStyle/>
          <a:p>
            <a:pPr indent="0" marL="0">
              <a:buNone/>
            </a:pPr>
            <a:r>
              <a:rPr lang="en-US" sz="1000" dirty="0">
                <a:solidFill>
                  <a:schemeClr val="accent1"/>
                </a:solidFill>
              </a:rPr>
              <a:t>throws: already declared, keyword as name, not declared + Did you mean</a:t>
            </a:r>
            <a:endParaRPr lang="en-US" sz="1000" dirty="0"/>
          </a:p>
        </p:txBody>
      </p:sp>
      <p:sp>
        <p:nvSpPr>
          <p:cNvPr id="27" name="text-188"/>
          <p:cNvSpPr txBox="1"/>
          <p:nvPr/>
        </p:nvSpPr>
        <p:spPr>
          <a:xfrm>
            <a:off x="6035040" y="2267712"/>
            <a:ext cx="2651760" cy="502920"/>
          </a:xfrm>
          <a:prstGeom prst="rect">
            <a:avLst/>
          </a:prstGeom>
          <a:noFill/>
          <a:ln/>
        </p:spPr>
        <p:txBody>
          <a:bodyPr wrap="square" lIns="0" tIns="0" rIns="0" bIns="0" rtlCol="0" anchor="t"/>
          <a:lstStyle/>
          <a:p>
            <a:pPr indent="0" marL="0">
              <a:buNone/>
            </a:pPr>
            <a:r>
              <a:rPr lang="en-US" sz="1000" dirty="0">
                <a:solidFill>
                  <a:schemeClr val="accent1"/>
                </a:solidFill>
              </a:rPr>
              <a:t>throws: two operators in a row, -5, empty ( ), missing )</a:t>
            </a:r>
            <a:endParaRPr lang="en-US" sz="1000" dirty="0"/>
          </a:p>
        </p:txBody>
      </p:sp>
      <p:sp>
        <p:nvSpPr>
          <p:cNvPr id="28" name="panel-189"/>
          <p:cNvSpPr/>
          <p:nvPr/>
        </p:nvSpPr>
        <p:spPr>
          <a:xfrm>
            <a:off x="6035040" y="2880360"/>
            <a:ext cx="2651760" cy="658368"/>
          </a:xfrm>
          <a:prstGeom prst="roundRect">
            <a:avLst>
              <a:gd name="adj" fmla="val 11111"/>
            </a:avLst>
          </a:prstGeom>
          <a:solidFill>
            <a:schemeClr val="tx2"/>
          </a:solidFill>
          <a:ln w="9525">
            <a:solidFill>
              <a:schemeClr val="accent5"/>
            </a:solidFill>
            <a:prstDash val="solid"/>
          </a:ln>
        </p:spPr>
      </p:sp>
      <p:sp>
        <p:nvSpPr>
          <p:cNvPr id="29" name="text-190"/>
          <p:cNvSpPr txBox="1"/>
          <p:nvPr/>
        </p:nvSpPr>
        <p:spPr>
          <a:xfrm>
            <a:off x="6126480" y="2880360"/>
            <a:ext cx="2468880" cy="658368"/>
          </a:xfrm>
          <a:prstGeom prst="rect">
            <a:avLst/>
          </a:prstGeom>
          <a:noFill/>
          <a:ln/>
        </p:spPr>
        <p:txBody>
          <a:bodyPr wrap="square" lIns="0" tIns="0" rIns="0" bIns="0" rtlCol="0" anchor="ctr"/>
          <a:lstStyle/>
          <a:p>
            <a:pPr algn="ctr" indent="0" marL="0">
              <a:buNone/>
            </a:pPr>
            <a:r>
              <a:rPr lang="en-US" sz="1000" b="1" dirty="0">
                <a:solidFill>
                  <a:schemeClr val="bg1"/>
                </a:solidFill>
              </a:rPr>
              <a:t>binary()</a:t>
            </a:r>
            <a:endParaRPr lang="en-US" sz="1400" dirty="0"/>
          </a:p>
          <a:p>
            <a:pPr algn="ctr" indent="0" marL="0">
              <a:buNone/>
            </a:pPr>
            <a:r>
              <a:rPr lang="en-US" sz="1000" dirty="0">
                <a:solidFill>
                  <a:schemeClr val="bg2"/>
                </a:solidFill>
              </a:rPr>
              <a:t>value, div by 0, int range, emit</a:t>
            </a:r>
            <a:endParaRPr lang="en-US" sz="1400" dirty="0"/>
          </a:p>
        </p:txBody>
      </p:sp>
      <p:sp>
        <p:nvSpPr>
          <p:cNvPr id="30" name="panel-191"/>
          <p:cNvSpPr/>
          <p:nvPr/>
        </p:nvSpPr>
        <p:spPr>
          <a:xfrm>
            <a:off x="3977640" y="2880360"/>
            <a:ext cx="1737360" cy="658368"/>
          </a:xfrm>
          <a:prstGeom prst="roundRect">
            <a:avLst>
              <a:gd name="adj" fmla="val 11111"/>
            </a:avLst>
          </a:prstGeom>
          <a:solidFill>
            <a:schemeClr val="tx2"/>
          </a:solidFill>
          <a:ln w="9525">
            <a:solidFill>
              <a:schemeClr val="accent5"/>
            </a:solidFill>
            <a:prstDash val="solid"/>
          </a:ln>
        </p:spPr>
      </p:sp>
      <p:sp>
        <p:nvSpPr>
          <p:cNvPr id="31" name="text-192"/>
          <p:cNvSpPr txBox="1"/>
          <p:nvPr/>
        </p:nvSpPr>
        <p:spPr>
          <a:xfrm>
            <a:off x="4069080" y="2880360"/>
            <a:ext cx="1554480" cy="658368"/>
          </a:xfrm>
          <a:prstGeom prst="rect">
            <a:avLst/>
          </a:prstGeom>
          <a:noFill/>
          <a:ln/>
        </p:spPr>
        <p:txBody>
          <a:bodyPr wrap="square" lIns="0" tIns="0" rIns="0" bIns="0" rtlCol="0" anchor="ctr"/>
          <a:lstStyle/>
          <a:p>
            <a:pPr algn="ctr" indent="0" marL="0">
              <a:buNone/>
            </a:pPr>
            <a:r>
              <a:rPr lang="en-US" sz="1000" b="1" dirty="0">
                <a:solidFill>
                  <a:schemeClr val="bg1"/>
                </a:solidFill>
              </a:rPr>
              <a:t>expectSemicolon()</a:t>
            </a:r>
            <a:endParaRPr lang="en-US" sz="1400" dirty="0"/>
          </a:p>
          <a:p>
            <a:pPr algn="ctr" indent="0" marL="0">
              <a:buNone/>
            </a:pPr>
            <a:r>
              <a:rPr lang="en-US" sz="1000" dirty="0">
                <a:solidFill>
                  <a:schemeClr val="bg2"/>
                </a:solidFill>
              </a:rPr>
              <a:t>ends every statement</a:t>
            </a:r>
            <a:endParaRPr lang="en-US" sz="1400" dirty="0"/>
          </a:p>
        </p:txBody>
      </p:sp>
      <p:sp>
        <p:nvSpPr>
          <p:cNvPr id="32" name="panel-193"/>
          <p:cNvSpPr/>
          <p:nvPr/>
        </p:nvSpPr>
        <p:spPr>
          <a:xfrm>
            <a:off x="2194560" y="2880360"/>
            <a:ext cx="1463040" cy="658368"/>
          </a:xfrm>
          <a:prstGeom prst="roundRect">
            <a:avLst>
              <a:gd name="adj" fmla="val 11111"/>
            </a:avLst>
          </a:prstGeom>
          <a:solidFill>
            <a:schemeClr val="tx2"/>
          </a:solidFill>
          <a:ln w="9525">
            <a:solidFill>
              <a:schemeClr val="accent5"/>
            </a:solidFill>
            <a:prstDash val="solid"/>
          </a:ln>
        </p:spPr>
      </p:sp>
      <p:sp>
        <p:nvSpPr>
          <p:cNvPr id="33" name="text-194"/>
          <p:cNvSpPr txBox="1"/>
          <p:nvPr/>
        </p:nvSpPr>
        <p:spPr>
          <a:xfrm>
            <a:off x="2286000" y="2880360"/>
            <a:ext cx="1280160" cy="658368"/>
          </a:xfrm>
          <a:prstGeom prst="rect">
            <a:avLst/>
          </a:prstGeom>
          <a:noFill/>
          <a:ln/>
        </p:spPr>
        <p:txBody>
          <a:bodyPr wrap="square" lIns="0" tIns="0" rIns="0" bIns="0" rtlCol="0" anchor="ctr"/>
          <a:lstStyle/>
          <a:p>
            <a:pPr algn="ctr" indent="0" marL="0">
              <a:buNone/>
            </a:pPr>
            <a:r>
              <a:rPr lang="en-US" sz="1000" b="1" dirty="0">
                <a:solidFill>
                  <a:schemeClr val="bg1"/>
                </a:solidFill>
              </a:rPr>
              <a:t>save</a:t>
            </a:r>
            <a:endParaRPr lang="en-US" sz="1400" dirty="0"/>
          </a:p>
          <a:p>
            <a:pPr algn="ctr" indent="0" marL="0">
              <a:buNone/>
            </a:pPr>
            <a:r>
              <a:rPr lang="en-US" sz="1000" dirty="0">
                <a:solidFill>
                  <a:schemeClr val="bg2"/>
                </a:solidFill>
              </a:rPr>
              <a:t>symbol table, emit, loop</a:t>
            </a:r>
            <a:endParaRPr lang="en-US" sz="1400" dirty="0"/>
          </a:p>
        </p:txBody>
      </p:sp>
      <p:sp>
        <p:nvSpPr>
          <p:cNvPr id="34" name="panel-195"/>
          <p:cNvSpPr/>
          <p:nvPr/>
        </p:nvSpPr>
        <p:spPr>
          <a:xfrm>
            <a:off x="457200" y="2880360"/>
            <a:ext cx="1417320" cy="658368"/>
          </a:xfrm>
          <a:prstGeom prst="roundRect">
            <a:avLst>
              <a:gd name="adj" fmla="val 11111"/>
            </a:avLst>
          </a:prstGeom>
          <a:solidFill>
            <a:schemeClr val="tx2"/>
          </a:solidFill>
          <a:ln w="9525">
            <a:solidFill>
              <a:schemeClr val="accent2"/>
            </a:solidFill>
            <a:prstDash val="solid"/>
          </a:ln>
        </p:spPr>
      </p:sp>
      <p:sp>
        <p:nvSpPr>
          <p:cNvPr id="35" name="text-196"/>
          <p:cNvSpPr txBox="1"/>
          <p:nvPr/>
        </p:nvSpPr>
        <p:spPr>
          <a:xfrm>
            <a:off x="548640" y="2880360"/>
            <a:ext cx="1234440" cy="658368"/>
          </a:xfrm>
          <a:prstGeom prst="rect">
            <a:avLst/>
          </a:prstGeom>
          <a:noFill/>
          <a:ln/>
        </p:spPr>
        <p:txBody>
          <a:bodyPr wrap="square" lIns="0" tIns="0" rIns="0" bIns="0" rtlCol="0" anchor="ctr"/>
          <a:lstStyle/>
          <a:p>
            <a:pPr algn="ctr" indent="0" marL="0">
              <a:buNone/>
            </a:pPr>
            <a:r>
              <a:rPr lang="en-US" sz="1000" b="1" dirty="0">
                <a:solidFill>
                  <a:schemeClr val="accent2"/>
                </a:solidFill>
              </a:rPr>
              <a:t>Success</a:t>
            </a:r>
            <a:endParaRPr lang="en-US" sz="1400" dirty="0"/>
          </a:p>
          <a:p>
            <a:pPr algn="ctr" indent="0" marL="0">
              <a:buNone/>
            </a:pPr>
            <a:r>
              <a:rPr lang="en-US" sz="1000" dirty="0">
                <a:solidFill>
                  <a:schemeClr val="bg2"/>
                </a:solidFill>
              </a:rPr>
              <a:t>TAC → main.cpp</a:t>
            </a:r>
            <a:endParaRPr lang="en-US" sz="1400" dirty="0"/>
          </a:p>
        </p:txBody>
      </p:sp>
      <p:sp>
        <p:nvSpPr>
          <p:cNvPr id="36" name="arrow-197"/>
          <p:cNvSpPr/>
          <p:nvPr/>
        </p:nvSpPr>
        <p:spPr>
          <a:xfrm>
            <a:off x="8065008" y="2029968"/>
            <a:ext cx="0" cy="850392"/>
          </a:xfrm>
          <a:prstGeom prst="line">
            <a:avLst/>
          </a:prstGeom>
          <a:noFill/>
          <a:ln w="15875">
            <a:solidFill>
              <a:schemeClr val="bg2"/>
            </a:solidFill>
            <a:prstDash val="solid"/>
            <a:tailEnd type="triangle"/>
          </a:ln>
        </p:spPr>
      </p:sp>
      <p:sp>
        <p:nvSpPr>
          <p:cNvPr id="37" name="arrow-198"/>
          <p:cNvSpPr/>
          <p:nvPr/>
        </p:nvSpPr>
        <p:spPr>
          <a:xfrm flipH="1">
            <a:off x="5715000" y="3209544"/>
            <a:ext cx="320040" cy="0"/>
          </a:xfrm>
          <a:prstGeom prst="line">
            <a:avLst/>
          </a:prstGeom>
          <a:noFill/>
          <a:ln w="15875">
            <a:solidFill>
              <a:schemeClr val="bg2"/>
            </a:solidFill>
            <a:prstDash val="solid"/>
            <a:tailEnd type="triangle"/>
          </a:ln>
        </p:spPr>
      </p:sp>
      <p:sp>
        <p:nvSpPr>
          <p:cNvPr id="38" name="arrow-199"/>
          <p:cNvSpPr/>
          <p:nvPr/>
        </p:nvSpPr>
        <p:spPr>
          <a:xfrm flipH="1">
            <a:off x="3657600" y="3209544"/>
            <a:ext cx="320040" cy="0"/>
          </a:xfrm>
          <a:prstGeom prst="line">
            <a:avLst/>
          </a:prstGeom>
          <a:noFill/>
          <a:ln w="15875">
            <a:solidFill>
              <a:schemeClr val="bg2"/>
            </a:solidFill>
            <a:prstDash val="solid"/>
            <a:tailEnd type="triangle"/>
          </a:ln>
        </p:spPr>
      </p:sp>
      <p:sp>
        <p:nvSpPr>
          <p:cNvPr id="39" name="arrow-200"/>
          <p:cNvSpPr/>
          <p:nvPr/>
        </p:nvSpPr>
        <p:spPr>
          <a:xfrm flipH="1">
            <a:off x="1874520" y="3209544"/>
            <a:ext cx="320040" cy="0"/>
          </a:xfrm>
          <a:prstGeom prst="line">
            <a:avLst/>
          </a:prstGeom>
          <a:noFill/>
          <a:ln w="15875">
            <a:solidFill>
              <a:schemeClr val="bg2"/>
            </a:solidFill>
            <a:prstDash val="solid"/>
            <a:tailEnd type="triangle"/>
          </a:ln>
        </p:spPr>
      </p:sp>
      <p:sp>
        <p:nvSpPr>
          <p:cNvPr id="40" name="text-201"/>
          <p:cNvSpPr txBox="1"/>
          <p:nvPr/>
        </p:nvSpPr>
        <p:spPr>
          <a:xfrm>
            <a:off x="6035040" y="3611880"/>
            <a:ext cx="2651760" cy="274320"/>
          </a:xfrm>
          <a:prstGeom prst="rect">
            <a:avLst/>
          </a:prstGeom>
          <a:noFill/>
          <a:ln/>
        </p:spPr>
        <p:txBody>
          <a:bodyPr wrap="square" lIns="0" tIns="0" rIns="0" bIns="0" rtlCol="0" anchor="t"/>
          <a:lstStyle/>
          <a:p>
            <a:pPr indent="0" marL="0">
              <a:buNone/>
            </a:pPr>
            <a:r>
              <a:rPr lang="en-US" sz="1000" dirty="0">
                <a:solidFill>
                  <a:schemeClr val="accent1"/>
                </a:solidFill>
              </a:rPr>
              <a:t>throws: division by zero, int overflow</a:t>
            </a:r>
            <a:endParaRPr lang="en-US" sz="1000" dirty="0"/>
          </a:p>
        </p:txBody>
      </p:sp>
      <p:sp>
        <p:nvSpPr>
          <p:cNvPr id="41" name="text-202"/>
          <p:cNvSpPr txBox="1"/>
          <p:nvPr/>
        </p:nvSpPr>
        <p:spPr>
          <a:xfrm>
            <a:off x="3977640" y="3611880"/>
            <a:ext cx="1920240" cy="457200"/>
          </a:xfrm>
          <a:prstGeom prst="rect">
            <a:avLst/>
          </a:prstGeom>
          <a:noFill/>
          <a:ln/>
        </p:spPr>
        <p:txBody>
          <a:bodyPr wrap="square" lIns="0" tIns="0" rIns="0" bIns="0" rtlCol="0" anchor="t"/>
          <a:lstStyle/>
          <a:p>
            <a:pPr indent="0" marL="0">
              <a:buNone/>
            </a:pPr>
            <a:r>
              <a:rPr lang="en-US" sz="1000" dirty="0">
                <a:solidFill>
                  <a:schemeClr val="accent1"/>
                </a:solidFill>
              </a:rPr>
              <a:t>throws: extra ), extra =, missing operator, missing ;</a:t>
            </a:r>
            <a:endParaRPr lang="en-US" sz="1000" dirty="0"/>
          </a:p>
        </p:txBody>
      </p:sp>
      <p:sp>
        <p:nvSpPr>
          <p:cNvPr id="42" name="text-203"/>
          <p:cNvSpPr txBox="1"/>
          <p:nvPr/>
        </p:nvSpPr>
        <p:spPr>
          <a:xfrm>
            <a:off x="457200" y="4206240"/>
            <a:ext cx="8229600" cy="274320"/>
          </a:xfrm>
          <a:prstGeom prst="rect">
            <a:avLst/>
          </a:prstGeom>
          <a:noFill/>
          <a:ln/>
        </p:spPr>
        <p:txBody>
          <a:bodyPr wrap="square" lIns="0" tIns="0" rIns="0" bIns="0" rtlCol="0" anchor="t"/>
          <a:lstStyle/>
          <a:p>
            <a:pPr indent="0" marL="0">
              <a:buNone/>
            </a:pPr>
            <a:r>
              <a:rPr lang="en-US" sz="1100" i="1" dirty="0">
                <a:solidFill>
                  <a:schemeClr val="bg2"/>
                </a:solidFill>
              </a:rPr>
              <a:t>After save, statement() runs again until END_OF_FILE. Every throw is a CompileError caught by main.cpp.</a:t>
            </a:r>
            <a:endParaRPr lang="en-US" sz="1100" dirty="0"/>
          </a:p>
        </p:txBody>
      </p:sp>
      <p:sp>
        <p:nvSpPr>
          <p:cNvPr id="25" name="Slide Number Placeholder 0"/>
          <p:cNvSpPr>
            <a:spLocks noGrp="1"/>
          </p:cNvSpPr>
          <p:nvPr>
            <p:ph type="sldNum" sz="quarter" idx="4294967295"/>
          </p:nvPr>
        </p:nvSpPr>
        <p:spPr>
          <a:xfrm>
            <a:off x="8321040" y="473659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204"/>
          <p:cNvSpPr txBox="1"/>
          <p:nvPr/>
        </p:nvSpPr>
        <p:spPr>
          <a:xfrm>
            <a:off x="457200" y="1325880"/>
            <a:ext cx="1828800" cy="640080"/>
          </a:xfrm>
          <a:prstGeom prst="rect">
            <a:avLst/>
          </a:prstGeom>
          <a:noFill/>
          <a:ln/>
        </p:spPr>
        <p:txBody>
          <a:bodyPr wrap="square" lIns="0" tIns="0" rIns="0" bIns="0" rtlCol="0" anchor="t"/>
          <a:lstStyle/>
          <a:p>
            <a:pPr indent="0" marL="0">
              <a:buNone/>
            </a:pPr>
            <a:r>
              <a:rPr lang="en-US" sz="4000" b="1" dirty="0">
                <a:solidFill>
                  <a:schemeClr val="accent1"/>
                </a:solidFill>
                <a:latin typeface="Courier New" pitchFamily="34" charset="0"/>
                <a:ea typeface="Courier New" pitchFamily="34" charset="-122"/>
                <a:cs typeface="Courier New" pitchFamily="34" charset="-120"/>
              </a:rPr>
              <a:t>04</a:t>
            </a:r>
            <a:endParaRPr lang="en-US" sz="4000" dirty="0"/>
          </a:p>
        </p:txBody>
      </p:sp>
      <p:sp>
        <p:nvSpPr>
          <p:cNvPr id="3" name="Text 0"/>
          <p:cNvSpPr/>
          <p:nvPr>
            <p:ph idx="100" type="title" hasCustomPrompt="1"/>
          </p:nvPr>
        </p:nvSpPr>
        <p:spPr>
          <a:xfrm>
            <a:off x="457200" y="2011680"/>
            <a:ext cx="8229600" cy="822960"/>
          </a:xfrm>
          <a:prstGeom prst="rect">
            <a:avLst/>
          </a:prstGeom>
          <a:noFill/>
          <a:ln/>
        </p:spPr>
        <p:txBody>
          <a:bodyPr wrap="square" lIns="0" tIns="0" rIns="0" bIns="0" rtlCol="0" anchor="ctr"/>
          <a:lstStyle/>
          <a:p>
            <a:pPr algn="l" indent="0" marL="0">
              <a:buNone/>
            </a:pPr>
            <a:r>
              <a:rPr lang="en-US" sz="4000" b="1" dirty="0">
                <a:solidFill>
                  <a:schemeClr val="bg1"/>
                </a:solidFill>
              </a:rPr>
              <a:t>The five phases</a:t>
            </a:r>
            <a:endParaRPr lang="en-US" sz="4000" dirty="0"/>
          </a:p>
        </p:txBody>
      </p:sp>
      <p:sp>
        <p:nvSpPr>
          <p:cNvPr id="4" name="Text 0"/>
          <p:cNvSpPr/>
          <p:nvPr>
            <p:ph idx="101" type="body" hasCustomPrompt="1"/>
          </p:nvPr>
        </p:nvSpPr>
        <p:spPr>
          <a:xfrm>
            <a:off x="457200" y="2880360"/>
            <a:ext cx="7315200" cy="731520"/>
          </a:xfrm>
          <a:prstGeom prst="rect">
            <a:avLst/>
          </a:prstGeom>
          <a:noFill/>
          <a:ln/>
        </p:spPr>
        <p:txBody>
          <a:bodyPr wrap="square" lIns="0" tIns="0" rIns="0" bIns="0" rtlCol="0" anchor="t"/>
          <a:lstStyle/>
          <a:p>
            <a:pPr indent="0" marL="0">
              <a:buNone/>
            </a:pPr>
            <a:r>
              <a:rPr lang="en-US" sz="1600" dirty="0">
                <a:solidFill>
                  <a:schemeClr val="bg2"/>
                </a:solidFill>
              </a:rPr>
              <a:t>Lexer, parser, symbol table, three-address code, and the error engine.</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600" b="1" dirty="0">
                <a:solidFill>
                  <a:schemeClr val="bg1"/>
                </a:solidFill>
              </a:rPr>
              <a:t>Phase 1 · The lexer makes tokens</a:t>
            </a:r>
            <a:endParaRPr lang="en-US" sz="2600" dirty="0"/>
          </a:p>
        </p:txBody>
      </p:sp>
      <p:sp>
        <p:nvSpPr>
          <p:cNvPr id="4" name="phase-205"/>
          <p:cNvSpPr/>
          <p:nvPr/>
        </p:nvSpPr>
        <p:spPr>
          <a:xfrm>
            <a:off x="457200" y="4718304"/>
            <a:ext cx="868680" cy="256032"/>
          </a:xfrm>
          <a:prstGeom prst="roundRect">
            <a:avLst>
              <a:gd name="adj" fmla="val 17857"/>
            </a:avLst>
          </a:prstGeom>
          <a:solidFill>
            <a:schemeClr val="accent1"/>
          </a:solidFill>
          <a:ln w="9525">
            <a:solidFill>
              <a:schemeClr val="accent1"/>
            </a:solidFill>
            <a:prstDash val="solid"/>
          </a:ln>
        </p:spPr>
      </p:sp>
      <p:sp>
        <p:nvSpPr>
          <p:cNvPr id="5" name="text-206"/>
          <p:cNvSpPr txBox="1"/>
          <p:nvPr/>
        </p:nvSpPr>
        <p:spPr>
          <a:xfrm>
            <a:off x="457200" y="4718304"/>
            <a:ext cx="868680" cy="256032"/>
          </a:xfrm>
          <a:prstGeom prst="rect">
            <a:avLst/>
          </a:prstGeom>
          <a:noFill/>
          <a:ln/>
        </p:spPr>
        <p:txBody>
          <a:bodyPr wrap="square" lIns="0" tIns="0" rIns="0" bIns="0" rtlCol="0" anchor="ctr"/>
          <a:lstStyle/>
          <a:p>
            <a:pPr algn="ctr" indent="0" marL="0">
              <a:buNone/>
            </a:pPr>
            <a:r>
              <a:rPr lang="en-US" sz="1000" b="1" dirty="0">
                <a:solidFill>
                  <a:schemeClr val="tx1"/>
                </a:solidFill>
              </a:rPr>
              <a:t>1 Lexical</a:t>
            </a:r>
            <a:endParaRPr lang="en-US" sz="1000" dirty="0"/>
          </a:p>
        </p:txBody>
      </p:sp>
      <p:sp>
        <p:nvSpPr>
          <p:cNvPr id="6" name="phase-207"/>
          <p:cNvSpPr/>
          <p:nvPr/>
        </p:nvSpPr>
        <p:spPr>
          <a:xfrm>
            <a:off x="1389888" y="4718304"/>
            <a:ext cx="868680" cy="256032"/>
          </a:xfrm>
          <a:prstGeom prst="roundRect">
            <a:avLst>
              <a:gd name="adj" fmla="val 17857"/>
            </a:avLst>
          </a:prstGeom>
          <a:solidFill>
            <a:schemeClr val="tx2"/>
          </a:solidFill>
          <a:ln w="9525">
            <a:solidFill>
              <a:schemeClr val="accent5"/>
            </a:solidFill>
            <a:prstDash val="solid"/>
          </a:ln>
        </p:spPr>
      </p:sp>
      <p:sp>
        <p:nvSpPr>
          <p:cNvPr id="7" name="text-208"/>
          <p:cNvSpPr txBox="1"/>
          <p:nvPr/>
        </p:nvSpPr>
        <p:spPr>
          <a:xfrm>
            <a:off x="1389888" y="4718304"/>
            <a:ext cx="868680" cy="256032"/>
          </a:xfrm>
          <a:prstGeom prst="rect">
            <a:avLst/>
          </a:prstGeom>
          <a:noFill/>
          <a:ln/>
        </p:spPr>
        <p:txBody>
          <a:bodyPr wrap="square" lIns="0" tIns="0" rIns="0" bIns="0" rtlCol="0" anchor="ctr"/>
          <a:lstStyle/>
          <a:p>
            <a:pPr algn="ctr" indent="0" marL="0">
              <a:buNone/>
            </a:pPr>
            <a:r>
              <a:rPr lang="en-US" sz="1000" dirty="0">
                <a:solidFill>
                  <a:schemeClr val="bg2"/>
                </a:solidFill>
              </a:rPr>
              <a:t>2 Syntax</a:t>
            </a:r>
            <a:endParaRPr lang="en-US" sz="1000" dirty="0"/>
          </a:p>
        </p:txBody>
      </p:sp>
      <p:sp>
        <p:nvSpPr>
          <p:cNvPr id="8" name="phase-209"/>
          <p:cNvSpPr/>
          <p:nvPr/>
        </p:nvSpPr>
        <p:spPr>
          <a:xfrm>
            <a:off x="2322576" y="4718304"/>
            <a:ext cx="868680" cy="256032"/>
          </a:xfrm>
          <a:prstGeom prst="roundRect">
            <a:avLst>
              <a:gd name="adj" fmla="val 17857"/>
            </a:avLst>
          </a:prstGeom>
          <a:solidFill>
            <a:schemeClr val="tx2"/>
          </a:solidFill>
          <a:ln w="9525">
            <a:solidFill>
              <a:schemeClr val="accent5"/>
            </a:solidFill>
            <a:prstDash val="solid"/>
          </a:ln>
        </p:spPr>
      </p:sp>
      <p:sp>
        <p:nvSpPr>
          <p:cNvPr id="9" name="text-210"/>
          <p:cNvSpPr txBox="1"/>
          <p:nvPr/>
        </p:nvSpPr>
        <p:spPr>
          <a:xfrm>
            <a:off x="2322576" y="4718304"/>
            <a:ext cx="868680" cy="256032"/>
          </a:xfrm>
          <a:prstGeom prst="rect">
            <a:avLst/>
          </a:prstGeom>
          <a:noFill/>
          <a:ln/>
        </p:spPr>
        <p:txBody>
          <a:bodyPr wrap="square" lIns="0" tIns="0" rIns="0" bIns="0" rtlCol="0" anchor="ctr"/>
          <a:lstStyle/>
          <a:p>
            <a:pPr algn="ctr" indent="0" marL="0">
              <a:buNone/>
            </a:pPr>
            <a:r>
              <a:rPr lang="en-US" sz="1000" dirty="0">
                <a:solidFill>
                  <a:schemeClr val="bg2"/>
                </a:solidFill>
              </a:rPr>
              <a:t>3 Semantic</a:t>
            </a:r>
            <a:endParaRPr lang="en-US" sz="1000" dirty="0"/>
          </a:p>
        </p:txBody>
      </p:sp>
      <p:sp>
        <p:nvSpPr>
          <p:cNvPr id="10" name="phase-211"/>
          <p:cNvSpPr/>
          <p:nvPr/>
        </p:nvSpPr>
        <p:spPr>
          <a:xfrm>
            <a:off x="3255264" y="4718304"/>
            <a:ext cx="868680" cy="256032"/>
          </a:xfrm>
          <a:prstGeom prst="roundRect">
            <a:avLst>
              <a:gd name="adj" fmla="val 17857"/>
            </a:avLst>
          </a:prstGeom>
          <a:solidFill>
            <a:schemeClr val="tx2"/>
          </a:solidFill>
          <a:ln w="9525">
            <a:solidFill>
              <a:schemeClr val="accent5"/>
            </a:solidFill>
            <a:prstDash val="solid"/>
          </a:ln>
        </p:spPr>
      </p:sp>
      <p:sp>
        <p:nvSpPr>
          <p:cNvPr id="11" name="text-212"/>
          <p:cNvSpPr txBox="1"/>
          <p:nvPr/>
        </p:nvSpPr>
        <p:spPr>
          <a:xfrm>
            <a:off x="3255264" y="4718304"/>
            <a:ext cx="868680" cy="256032"/>
          </a:xfrm>
          <a:prstGeom prst="rect">
            <a:avLst/>
          </a:prstGeom>
          <a:noFill/>
          <a:ln/>
        </p:spPr>
        <p:txBody>
          <a:bodyPr wrap="square" lIns="0" tIns="0" rIns="0" bIns="0" rtlCol="0" anchor="ctr"/>
          <a:lstStyle/>
          <a:p>
            <a:pPr algn="ctr" indent="0" marL="0">
              <a:buNone/>
            </a:pPr>
            <a:r>
              <a:rPr lang="en-US" sz="1000" dirty="0">
                <a:solidFill>
                  <a:schemeClr val="bg2"/>
                </a:solidFill>
              </a:rPr>
              <a:t>4 TAC</a:t>
            </a:r>
            <a:endParaRPr lang="en-US" sz="1000" dirty="0"/>
          </a:p>
        </p:txBody>
      </p:sp>
      <p:sp>
        <p:nvSpPr>
          <p:cNvPr id="12" name="phase-213"/>
          <p:cNvSpPr/>
          <p:nvPr/>
        </p:nvSpPr>
        <p:spPr>
          <a:xfrm>
            <a:off x="4187952" y="4718304"/>
            <a:ext cx="868680" cy="256032"/>
          </a:xfrm>
          <a:prstGeom prst="roundRect">
            <a:avLst>
              <a:gd name="adj" fmla="val 17857"/>
            </a:avLst>
          </a:prstGeom>
          <a:solidFill>
            <a:schemeClr val="tx2"/>
          </a:solidFill>
          <a:ln w="9525">
            <a:solidFill>
              <a:schemeClr val="accent5"/>
            </a:solidFill>
            <a:prstDash val="solid"/>
          </a:ln>
        </p:spPr>
      </p:sp>
      <p:sp>
        <p:nvSpPr>
          <p:cNvPr id="13" name="text-214"/>
          <p:cNvSpPr txBox="1"/>
          <p:nvPr/>
        </p:nvSpPr>
        <p:spPr>
          <a:xfrm>
            <a:off x="4187952" y="4718304"/>
            <a:ext cx="868680" cy="256032"/>
          </a:xfrm>
          <a:prstGeom prst="rect">
            <a:avLst/>
          </a:prstGeom>
          <a:noFill/>
          <a:ln/>
        </p:spPr>
        <p:txBody>
          <a:bodyPr wrap="square" lIns="0" tIns="0" rIns="0" bIns="0" rtlCol="0" anchor="ctr"/>
          <a:lstStyle/>
          <a:p>
            <a:pPr algn="ctr" indent="0" marL="0">
              <a:buNone/>
            </a:pPr>
            <a:r>
              <a:rPr lang="en-US" sz="1000" dirty="0">
                <a:solidFill>
                  <a:schemeClr val="bg2"/>
                </a:solidFill>
              </a:rPr>
              <a:t>5 Errors</a:t>
            </a:r>
            <a:endParaRPr lang="en-US" sz="1000" dirty="0"/>
          </a:p>
        </p:txBody>
      </p:sp>
      <p:sp>
        <p:nvSpPr>
          <p:cNvPr id="14" name="text-215"/>
          <p:cNvSpPr txBox="1"/>
          <p:nvPr/>
        </p:nvSpPr>
        <p:spPr>
          <a:xfrm>
            <a:off x="457200" y="1051560"/>
            <a:ext cx="1828800" cy="228600"/>
          </a:xfrm>
          <a:prstGeom prst="rect">
            <a:avLst/>
          </a:prstGeom>
          <a:noFill/>
          <a:ln/>
        </p:spPr>
        <p:txBody>
          <a:bodyPr wrap="square" lIns="0" tIns="0" rIns="0" bIns="0" rtlCol="0" anchor="t"/>
          <a:lstStyle/>
          <a:p>
            <a:pPr indent="0" marL="0">
              <a:buNone/>
            </a:pPr>
            <a:r>
              <a:rPr lang="en-US" sz="1000" b="1" spc="150" kern="0" dirty="0">
                <a:solidFill>
                  <a:schemeClr val="bg2"/>
                </a:solidFill>
              </a:rPr>
              <a:t>INPUT</a:t>
            </a:r>
            <a:endParaRPr lang="en-US" sz="1000" dirty="0"/>
          </a:p>
        </p:txBody>
      </p:sp>
      <p:sp>
        <p:nvSpPr>
          <p:cNvPr id="15" name="panel-216"/>
          <p:cNvSpPr/>
          <p:nvPr/>
        </p:nvSpPr>
        <p:spPr>
          <a:xfrm>
            <a:off x="457200" y="1325880"/>
            <a:ext cx="2926080" cy="457200"/>
          </a:xfrm>
          <a:prstGeom prst="roundRect">
            <a:avLst>
              <a:gd name="adj" fmla="val 16000"/>
            </a:avLst>
          </a:prstGeom>
          <a:solidFill>
            <a:schemeClr val="tx1"/>
          </a:solidFill>
          <a:ln w="9525">
            <a:solidFill>
              <a:schemeClr val="accent5"/>
            </a:solidFill>
            <a:prstDash val="solid"/>
          </a:ln>
        </p:spPr>
      </p:sp>
      <p:sp>
        <p:nvSpPr>
          <p:cNvPr id="16" name="text-217"/>
          <p:cNvSpPr txBox="1"/>
          <p:nvPr/>
        </p:nvSpPr>
        <p:spPr>
          <a:xfrm>
            <a:off x="594360" y="1435608"/>
            <a:ext cx="2651760" cy="237744"/>
          </a:xfrm>
          <a:prstGeom prst="rect">
            <a:avLst/>
          </a:prstGeom>
          <a:noFill/>
          <a:ln/>
        </p:spPr>
        <p:txBody>
          <a:bodyPr wrap="square" lIns="0" tIns="0" rIns="0" bIns="0" rtlCol="0" anchor="t"/>
          <a:lstStyle/>
          <a:p>
            <a:pPr indent="0" marL="0">
              <a:lnSpc>
                <a:spcPct val="110000"/>
              </a:lnSpc>
              <a:buNone/>
            </a:pPr>
            <a:r>
              <a:rPr lang="en-US" sz="1400" dirty="0">
                <a:solidFill>
                  <a:schemeClr val="bg1"/>
                </a:solidFill>
                <a:latin typeface="Courier New" pitchFamily="34" charset="0"/>
                <a:ea typeface="Courier New" pitchFamily="34" charset="-122"/>
                <a:cs typeface="Courier New" pitchFamily="34" charset="-120"/>
              </a:rPr>
              <a:t>int c = a + b * 2;</a:t>
            </a:r>
            <a:endParaRPr lang="en-US" sz="1400" dirty="0"/>
          </a:p>
        </p:txBody>
      </p:sp>
      <p:sp>
        <p:nvSpPr>
          <p:cNvPr id="17" name="text-218"/>
          <p:cNvSpPr txBox="1"/>
          <p:nvPr/>
        </p:nvSpPr>
        <p:spPr>
          <a:xfrm>
            <a:off x="3657600" y="1051560"/>
            <a:ext cx="5029200" cy="228600"/>
          </a:xfrm>
          <a:prstGeom prst="rect">
            <a:avLst/>
          </a:prstGeom>
          <a:noFill/>
          <a:ln/>
        </p:spPr>
        <p:txBody>
          <a:bodyPr wrap="square" lIns="0" tIns="0" rIns="0" bIns="0" rtlCol="0" anchor="t"/>
          <a:lstStyle/>
          <a:p>
            <a:pPr indent="0" marL="0">
              <a:buNone/>
            </a:pPr>
            <a:r>
              <a:rPr lang="en-US" sz="1000" b="1" spc="150" kern="0" dirty="0">
                <a:solidFill>
                  <a:schemeClr val="bg2"/>
                </a:solidFill>
              </a:rPr>
              <a:t>OUTPUT: VECTOR&lt;TOKEN&gt;  (TEXT · TYPE · LINE)</a:t>
            </a:r>
            <a:endParaRPr lang="en-US" sz="1000" dirty="0"/>
          </a:p>
        </p:txBody>
      </p:sp>
      <p:sp>
        <p:nvSpPr>
          <p:cNvPr id="18" name="panel-219"/>
          <p:cNvSpPr/>
          <p:nvPr/>
        </p:nvSpPr>
        <p:spPr>
          <a:xfrm>
            <a:off x="457200" y="1965960"/>
            <a:ext cx="822960" cy="777240"/>
          </a:xfrm>
          <a:prstGeom prst="roundRect">
            <a:avLst>
              <a:gd name="adj" fmla="val 9412"/>
            </a:avLst>
          </a:prstGeom>
          <a:solidFill>
            <a:schemeClr val="tx2"/>
          </a:solidFill>
          <a:ln w="9525">
            <a:solidFill>
              <a:schemeClr val="accent5"/>
            </a:solidFill>
            <a:prstDash val="solid"/>
          </a:ln>
        </p:spPr>
      </p:sp>
      <p:sp>
        <p:nvSpPr>
          <p:cNvPr id="19" name="text-220"/>
          <p:cNvSpPr txBox="1"/>
          <p:nvPr/>
        </p:nvSpPr>
        <p:spPr>
          <a:xfrm>
            <a:off x="457200" y="2011680"/>
            <a:ext cx="822960" cy="365760"/>
          </a:xfrm>
          <a:prstGeom prst="rect">
            <a:avLst/>
          </a:prstGeom>
          <a:noFill/>
          <a:ln/>
        </p:spPr>
        <p:txBody>
          <a:bodyPr wrap="square" lIns="0" tIns="0" rIns="0" bIns="0" rtlCol="0" anchor="t"/>
          <a:lstStyle/>
          <a:p>
            <a:pPr algn="ctr" indent="0" marL="0">
              <a:buNone/>
            </a:pPr>
            <a:r>
              <a:rPr lang="en-US" sz="1800" b="1" dirty="0">
                <a:solidFill>
                  <a:schemeClr val="accent1"/>
                </a:solidFill>
                <a:latin typeface="Courier New" pitchFamily="34" charset="0"/>
                <a:ea typeface="Courier New" pitchFamily="34" charset="-122"/>
                <a:cs typeface="Courier New" pitchFamily="34" charset="-120"/>
              </a:rPr>
              <a:t>int</a:t>
            </a:r>
            <a:endParaRPr lang="en-US" sz="1800" dirty="0"/>
          </a:p>
        </p:txBody>
      </p:sp>
      <p:sp>
        <p:nvSpPr>
          <p:cNvPr id="20" name="text-221"/>
          <p:cNvSpPr txBox="1"/>
          <p:nvPr/>
        </p:nvSpPr>
        <p:spPr>
          <a:xfrm>
            <a:off x="457200" y="2377440"/>
            <a:ext cx="822960" cy="274320"/>
          </a:xfrm>
          <a:prstGeom prst="rect">
            <a:avLst/>
          </a:prstGeom>
          <a:noFill/>
          <a:ln/>
        </p:spPr>
        <p:txBody>
          <a:bodyPr wrap="square" lIns="0" tIns="0" rIns="0" bIns="0" rtlCol="0" anchor="t"/>
          <a:lstStyle/>
          <a:p>
            <a:pPr algn="ctr" indent="0" marL="0">
              <a:buNone/>
            </a:pPr>
            <a:r>
              <a:rPr lang="en-US" sz="900" dirty="0">
                <a:solidFill>
                  <a:schemeClr val="bg2"/>
                </a:solidFill>
              </a:rPr>
              <a:t>KEYWORD</a:t>
            </a:r>
            <a:endParaRPr lang="en-US" sz="900" dirty="0"/>
          </a:p>
        </p:txBody>
      </p:sp>
      <p:sp>
        <p:nvSpPr>
          <p:cNvPr id="21" name="panel-222"/>
          <p:cNvSpPr/>
          <p:nvPr/>
        </p:nvSpPr>
        <p:spPr>
          <a:xfrm>
            <a:off x="1371600" y="1965960"/>
            <a:ext cx="822960" cy="777240"/>
          </a:xfrm>
          <a:prstGeom prst="roundRect">
            <a:avLst>
              <a:gd name="adj" fmla="val 9412"/>
            </a:avLst>
          </a:prstGeom>
          <a:solidFill>
            <a:schemeClr val="tx2"/>
          </a:solidFill>
          <a:ln w="9525">
            <a:solidFill>
              <a:schemeClr val="accent5"/>
            </a:solidFill>
            <a:prstDash val="solid"/>
          </a:ln>
        </p:spPr>
      </p:sp>
      <p:sp>
        <p:nvSpPr>
          <p:cNvPr id="22" name="text-223"/>
          <p:cNvSpPr txBox="1"/>
          <p:nvPr/>
        </p:nvSpPr>
        <p:spPr>
          <a:xfrm>
            <a:off x="1371600" y="2011680"/>
            <a:ext cx="822960" cy="365760"/>
          </a:xfrm>
          <a:prstGeom prst="rect">
            <a:avLst/>
          </a:prstGeom>
          <a:noFill/>
          <a:ln/>
        </p:spPr>
        <p:txBody>
          <a:bodyPr wrap="square" lIns="0" tIns="0" rIns="0" bIns="0" rtlCol="0" anchor="t"/>
          <a:lstStyle/>
          <a:p>
            <a:pPr algn="ctr" indent="0" marL="0">
              <a:buNone/>
            </a:pPr>
            <a:r>
              <a:rPr lang="en-US" sz="1800" b="1" dirty="0">
                <a:solidFill>
                  <a:schemeClr val="accent1"/>
                </a:solidFill>
                <a:latin typeface="Courier New" pitchFamily="34" charset="0"/>
                <a:ea typeface="Courier New" pitchFamily="34" charset="-122"/>
                <a:cs typeface="Courier New" pitchFamily="34" charset="-120"/>
              </a:rPr>
              <a:t>c</a:t>
            </a:r>
            <a:endParaRPr lang="en-US" sz="1800" dirty="0"/>
          </a:p>
        </p:txBody>
      </p:sp>
      <p:sp>
        <p:nvSpPr>
          <p:cNvPr id="23" name="text-224"/>
          <p:cNvSpPr txBox="1"/>
          <p:nvPr/>
        </p:nvSpPr>
        <p:spPr>
          <a:xfrm>
            <a:off x="1371600" y="2377440"/>
            <a:ext cx="822960" cy="274320"/>
          </a:xfrm>
          <a:prstGeom prst="rect">
            <a:avLst/>
          </a:prstGeom>
          <a:noFill/>
          <a:ln/>
        </p:spPr>
        <p:txBody>
          <a:bodyPr wrap="square" lIns="0" tIns="0" rIns="0" bIns="0" rtlCol="0" anchor="t"/>
          <a:lstStyle/>
          <a:p>
            <a:pPr algn="ctr" indent="0" marL="0">
              <a:buNone/>
            </a:pPr>
            <a:r>
              <a:rPr lang="en-US" sz="900" dirty="0">
                <a:solidFill>
                  <a:schemeClr val="bg2"/>
                </a:solidFill>
              </a:rPr>
              <a:t>IDENT</a:t>
            </a:r>
            <a:endParaRPr lang="en-US" sz="900" dirty="0"/>
          </a:p>
        </p:txBody>
      </p:sp>
      <p:sp>
        <p:nvSpPr>
          <p:cNvPr id="24" name="panel-225"/>
          <p:cNvSpPr/>
          <p:nvPr/>
        </p:nvSpPr>
        <p:spPr>
          <a:xfrm>
            <a:off x="2286000" y="1965960"/>
            <a:ext cx="822960" cy="777240"/>
          </a:xfrm>
          <a:prstGeom prst="roundRect">
            <a:avLst>
              <a:gd name="adj" fmla="val 9412"/>
            </a:avLst>
          </a:prstGeom>
          <a:solidFill>
            <a:schemeClr val="tx2"/>
          </a:solidFill>
          <a:ln w="9525">
            <a:solidFill>
              <a:schemeClr val="accent5"/>
            </a:solidFill>
            <a:prstDash val="solid"/>
          </a:ln>
        </p:spPr>
      </p:sp>
      <p:sp>
        <p:nvSpPr>
          <p:cNvPr id="25" name="text-226"/>
          <p:cNvSpPr txBox="1"/>
          <p:nvPr/>
        </p:nvSpPr>
        <p:spPr>
          <a:xfrm>
            <a:off x="2286000" y="2011680"/>
            <a:ext cx="822960" cy="365760"/>
          </a:xfrm>
          <a:prstGeom prst="rect">
            <a:avLst/>
          </a:prstGeom>
          <a:noFill/>
          <a:ln/>
        </p:spPr>
        <p:txBody>
          <a:bodyPr wrap="square" lIns="0" tIns="0" rIns="0" bIns="0" rtlCol="0" anchor="t"/>
          <a:lstStyle/>
          <a:p>
            <a:pPr algn="ctr" indent="0" marL="0">
              <a:buNone/>
            </a:pPr>
            <a:r>
              <a:rPr lang="en-US" sz="1800" b="1" dirty="0">
                <a:solidFill>
                  <a:schemeClr val="accent1"/>
                </a:solidFill>
                <a:latin typeface="Courier New" pitchFamily="34" charset="0"/>
                <a:ea typeface="Courier New" pitchFamily="34" charset="-122"/>
                <a:cs typeface="Courier New" pitchFamily="34" charset="-120"/>
              </a:rPr>
              <a:t>=</a:t>
            </a:r>
            <a:endParaRPr lang="en-US" sz="1800" dirty="0"/>
          </a:p>
        </p:txBody>
      </p:sp>
      <p:sp>
        <p:nvSpPr>
          <p:cNvPr id="26" name="text-227"/>
          <p:cNvSpPr txBox="1"/>
          <p:nvPr/>
        </p:nvSpPr>
        <p:spPr>
          <a:xfrm>
            <a:off x="2286000" y="2377440"/>
            <a:ext cx="822960" cy="274320"/>
          </a:xfrm>
          <a:prstGeom prst="rect">
            <a:avLst/>
          </a:prstGeom>
          <a:noFill/>
          <a:ln/>
        </p:spPr>
        <p:txBody>
          <a:bodyPr wrap="square" lIns="0" tIns="0" rIns="0" bIns="0" rtlCol="0" anchor="t"/>
          <a:lstStyle/>
          <a:p>
            <a:pPr algn="ctr" indent="0" marL="0">
              <a:buNone/>
            </a:pPr>
            <a:r>
              <a:rPr lang="en-US" sz="900" dirty="0">
                <a:solidFill>
                  <a:schemeClr val="bg2"/>
                </a:solidFill>
              </a:rPr>
              <a:t>ASSIGN</a:t>
            </a:r>
            <a:endParaRPr lang="en-US" sz="900" dirty="0"/>
          </a:p>
        </p:txBody>
      </p:sp>
      <p:sp>
        <p:nvSpPr>
          <p:cNvPr id="27" name="panel-228"/>
          <p:cNvSpPr/>
          <p:nvPr/>
        </p:nvSpPr>
        <p:spPr>
          <a:xfrm>
            <a:off x="3200400" y="1965960"/>
            <a:ext cx="822960" cy="777240"/>
          </a:xfrm>
          <a:prstGeom prst="roundRect">
            <a:avLst>
              <a:gd name="adj" fmla="val 9412"/>
            </a:avLst>
          </a:prstGeom>
          <a:solidFill>
            <a:schemeClr val="tx2"/>
          </a:solidFill>
          <a:ln w="9525">
            <a:solidFill>
              <a:schemeClr val="accent5"/>
            </a:solidFill>
            <a:prstDash val="solid"/>
          </a:ln>
        </p:spPr>
      </p:sp>
      <p:sp>
        <p:nvSpPr>
          <p:cNvPr id="28" name="text-229"/>
          <p:cNvSpPr txBox="1"/>
          <p:nvPr/>
        </p:nvSpPr>
        <p:spPr>
          <a:xfrm>
            <a:off x="3200400" y="2011680"/>
            <a:ext cx="822960" cy="365760"/>
          </a:xfrm>
          <a:prstGeom prst="rect">
            <a:avLst/>
          </a:prstGeom>
          <a:noFill/>
          <a:ln/>
        </p:spPr>
        <p:txBody>
          <a:bodyPr wrap="square" lIns="0" tIns="0" rIns="0" bIns="0" rtlCol="0" anchor="t"/>
          <a:lstStyle/>
          <a:p>
            <a:pPr algn="ctr" indent="0" marL="0">
              <a:buNone/>
            </a:pPr>
            <a:r>
              <a:rPr lang="en-US" sz="1800" b="1" dirty="0">
                <a:solidFill>
                  <a:schemeClr val="accent1"/>
                </a:solidFill>
                <a:latin typeface="Courier New" pitchFamily="34" charset="0"/>
                <a:ea typeface="Courier New" pitchFamily="34" charset="-122"/>
                <a:cs typeface="Courier New" pitchFamily="34" charset="-120"/>
              </a:rPr>
              <a:t>a</a:t>
            </a:r>
            <a:endParaRPr lang="en-US" sz="1800" dirty="0"/>
          </a:p>
        </p:txBody>
      </p:sp>
      <p:sp>
        <p:nvSpPr>
          <p:cNvPr id="29" name="text-230"/>
          <p:cNvSpPr txBox="1"/>
          <p:nvPr/>
        </p:nvSpPr>
        <p:spPr>
          <a:xfrm>
            <a:off x="3200400" y="2377440"/>
            <a:ext cx="822960" cy="274320"/>
          </a:xfrm>
          <a:prstGeom prst="rect">
            <a:avLst/>
          </a:prstGeom>
          <a:noFill/>
          <a:ln/>
        </p:spPr>
        <p:txBody>
          <a:bodyPr wrap="square" lIns="0" tIns="0" rIns="0" bIns="0" rtlCol="0" anchor="t"/>
          <a:lstStyle/>
          <a:p>
            <a:pPr algn="ctr" indent="0" marL="0">
              <a:buNone/>
            </a:pPr>
            <a:r>
              <a:rPr lang="en-US" sz="900" dirty="0">
                <a:solidFill>
                  <a:schemeClr val="bg2"/>
                </a:solidFill>
              </a:rPr>
              <a:t>IDENT</a:t>
            </a:r>
            <a:endParaRPr lang="en-US" sz="900" dirty="0"/>
          </a:p>
        </p:txBody>
      </p:sp>
      <p:sp>
        <p:nvSpPr>
          <p:cNvPr id="30" name="panel-231"/>
          <p:cNvSpPr/>
          <p:nvPr/>
        </p:nvSpPr>
        <p:spPr>
          <a:xfrm>
            <a:off x="4114800" y="1965960"/>
            <a:ext cx="822960" cy="777240"/>
          </a:xfrm>
          <a:prstGeom prst="roundRect">
            <a:avLst>
              <a:gd name="adj" fmla="val 9412"/>
            </a:avLst>
          </a:prstGeom>
          <a:solidFill>
            <a:schemeClr val="tx2"/>
          </a:solidFill>
          <a:ln w="9525">
            <a:solidFill>
              <a:schemeClr val="accent5"/>
            </a:solidFill>
            <a:prstDash val="solid"/>
          </a:ln>
        </p:spPr>
      </p:sp>
      <p:sp>
        <p:nvSpPr>
          <p:cNvPr id="31" name="text-232"/>
          <p:cNvSpPr txBox="1"/>
          <p:nvPr/>
        </p:nvSpPr>
        <p:spPr>
          <a:xfrm>
            <a:off x="4114800" y="2011680"/>
            <a:ext cx="822960" cy="365760"/>
          </a:xfrm>
          <a:prstGeom prst="rect">
            <a:avLst/>
          </a:prstGeom>
          <a:noFill/>
          <a:ln/>
        </p:spPr>
        <p:txBody>
          <a:bodyPr wrap="square" lIns="0" tIns="0" rIns="0" bIns="0" rtlCol="0" anchor="t"/>
          <a:lstStyle/>
          <a:p>
            <a:pPr algn="ctr" indent="0" marL="0">
              <a:buNone/>
            </a:pPr>
            <a:r>
              <a:rPr lang="en-US" sz="1800" b="1" dirty="0">
                <a:solidFill>
                  <a:schemeClr val="accent1"/>
                </a:solidFill>
                <a:latin typeface="Courier New" pitchFamily="34" charset="0"/>
                <a:ea typeface="Courier New" pitchFamily="34" charset="-122"/>
                <a:cs typeface="Courier New" pitchFamily="34" charset="-120"/>
              </a:rPr>
              <a:t>+</a:t>
            </a:r>
            <a:endParaRPr lang="en-US" sz="1800" dirty="0"/>
          </a:p>
        </p:txBody>
      </p:sp>
      <p:sp>
        <p:nvSpPr>
          <p:cNvPr id="32" name="text-233"/>
          <p:cNvSpPr txBox="1"/>
          <p:nvPr/>
        </p:nvSpPr>
        <p:spPr>
          <a:xfrm>
            <a:off x="4114800" y="2377440"/>
            <a:ext cx="822960" cy="274320"/>
          </a:xfrm>
          <a:prstGeom prst="rect">
            <a:avLst/>
          </a:prstGeom>
          <a:noFill/>
          <a:ln/>
        </p:spPr>
        <p:txBody>
          <a:bodyPr wrap="square" lIns="0" tIns="0" rIns="0" bIns="0" rtlCol="0" anchor="t"/>
          <a:lstStyle/>
          <a:p>
            <a:pPr algn="ctr" indent="0" marL="0">
              <a:buNone/>
            </a:pPr>
            <a:r>
              <a:rPr lang="en-US" sz="900" dirty="0">
                <a:solidFill>
                  <a:schemeClr val="bg2"/>
                </a:solidFill>
              </a:rPr>
              <a:t>OPERATOR</a:t>
            </a:r>
            <a:endParaRPr lang="en-US" sz="900" dirty="0"/>
          </a:p>
        </p:txBody>
      </p:sp>
      <p:sp>
        <p:nvSpPr>
          <p:cNvPr id="33" name="panel-234"/>
          <p:cNvSpPr/>
          <p:nvPr/>
        </p:nvSpPr>
        <p:spPr>
          <a:xfrm>
            <a:off x="5029200" y="1965960"/>
            <a:ext cx="822960" cy="777240"/>
          </a:xfrm>
          <a:prstGeom prst="roundRect">
            <a:avLst>
              <a:gd name="adj" fmla="val 9412"/>
            </a:avLst>
          </a:prstGeom>
          <a:solidFill>
            <a:schemeClr val="tx2"/>
          </a:solidFill>
          <a:ln w="9525">
            <a:solidFill>
              <a:schemeClr val="accent5"/>
            </a:solidFill>
            <a:prstDash val="solid"/>
          </a:ln>
        </p:spPr>
      </p:sp>
      <p:sp>
        <p:nvSpPr>
          <p:cNvPr id="34" name="text-235"/>
          <p:cNvSpPr txBox="1"/>
          <p:nvPr/>
        </p:nvSpPr>
        <p:spPr>
          <a:xfrm>
            <a:off x="5029200" y="2011680"/>
            <a:ext cx="822960" cy="365760"/>
          </a:xfrm>
          <a:prstGeom prst="rect">
            <a:avLst/>
          </a:prstGeom>
          <a:noFill/>
          <a:ln/>
        </p:spPr>
        <p:txBody>
          <a:bodyPr wrap="square" lIns="0" tIns="0" rIns="0" bIns="0" rtlCol="0" anchor="t"/>
          <a:lstStyle/>
          <a:p>
            <a:pPr algn="ctr" indent="0" marL="0">
              <a:buNone/>
            </a:pPr>
            <a:r>
              <a:rPr lang="en-US" sz="1800" b="1" dirty="0">
                <a:solidFill>
                  <a:schemeClr val="accent1"/>
                </a:solidFill>
                <a:latin typeface="Courier New" pitchFamily="34" charset="0"/>
                <a:ea typeface="Courier New" pitchFamily="34" charset="-122"/>
                <a:cs typeface="Courier New" pitchFamily="34" charset="-120"/>
              </a:rPr>
              <a:t>b</a:t>
            </a:r>
            <a:endParaRPr lang="en-US" sz="1800" dirty="0"/>
          </a:p>
        </p:txBody>
      </p:sp>
      <p:sp>
        <p:nvSpPr>
          <p:cNvPr id="35" name="text-236"/>
          <p:cNvSpPr txBox="1"/>
          <p:nvPr/>
        </p:nvSpPr>
        <p:spPr>
          <a:xfrm>
            <a:off x="5029200" y="2377440"/>
            <a:ext cx="822960" cy="274320"/>
          </a:xfrm>
          <a:prstGeom prst="rect">
            <a:avLst/>
          </a:prstGeom>
          <a:noFill/>
          <a:ln/>
        </p:spPr>
        <p:txBody>
          <a:bodyPr wrap="square" lIns="0" tIns="0" rIns="0" bIns="0" rtlCol="0" anchor="t"/>
          <a:lstStyle/>
          <a:p>
            <a:pPr algn="ctr" indent="0" marL="0">
              <a:buNone/>
            </a:pPr>
            <a:r>
              <a:rPr lang="en-US" sz="900" dirty="0">
                <a:solidFill>
                  <a:schemeClr val="bg2"/>
                </a:solidFill>
              </a:rPr>
              <a:t>IDENT</a:t>
            </a:r>
            <a:endParaRPr lang="en-US" sz="900" dirty="0"/>
          </a:p>
        </p:txBody>
      </p:sp>
      <p:sp>
        <p:nvSpPr>
          <p:cNvPr id="36" name="panel-237"/>
          <p:cNvSpPr/>
          <p:nvPr/>
        </p:nvSpPr>
        <p:spPr>
          <a:xfrm>
            <a:off x="5943600" y="1965960"/>
            <a:ext cx="822960" cy="777240"/>
          </a:xfrm>
          <a:prstGeom prst="roundRect">
            <a:avLst>
              <a:gd name="adj" fmla="val 9412"/>
            </a:avLst>
          </a:prstGeom>
          <a:solidFill>
            <a:schemeClr val="tx2"/>
          </a:solidFill>
          <a:ln w="9525">
            <a:solidFill>
              <a:schemeClr val="accent5"/>
            </a:solidFill>
            <a:prstDash val="solid"/>
          </a:ln>
        </p:spPr>
      </p:sp>
      <p:sp>
        <p:nvSpPr>
          <p:cNvPr id="37" name="text-238"/>
          <p:cNvSpPr txBox="1"/>
          <p:nvPr/>
        </p:nvSpPr>
        <p:spPr>
          <a:xfrm>
            <a:off x="5943600" y="2011680"/>
            <a:ext cx="822960" cy="365760"/>
          </a:xfrm>
          <a:prstGeom prst="rect">
            <a:avLst/>
          </a:prstGeom>
          <a:noFill/>
          <a:ln/>
        </p:spPr>
        <p:txBody>
          <a:bodyPr wrap="square" lIns="0" tIns="0" rIns="0" bIns="0" rtlCol="0" anchor="t"/>
          <a:lstStyle/>
          <a:p>
            <a:pPr algn="ctr" indent="0" marL="0">
              <a:buNone/>
            </a:pPr>
            <a:r>
              <a:rPr lang="en-US" sz="1800" b="1" dirty="0">
                <a:solidFill>
                  <a:schemeClr val="accent1"/>
                </a:solidFill>
                <a:latin typeface="Courier New" pitchFamily="34" charset="0"/>
                <a:ea typeface="Courier New" pitchFamily="34" charset="-122"/>
                <a:cs typeface="Courier New" pitchFamily="34" charset="-120"/>
              </a:rPr>
              <a:t>*</a:t>
            </a:r>
            <a:endParaRPr lang="en-US" sz="1800" dirty="0"/>
          </a:p>
        </p:txBody>
      </p:sp>
      <p:sp>
        <p:nvSpPr>
          <p:cNvPr id="38" name="text-239"/>
          <p:cNvSpPr txBox="1"/>
          <p:nvPr/>
        </p:nvSpPr>
        <p:spPr>
          <a:xfrm>
            <a:off x="5943600" y="2377440"/>
            <a:ext cx="822960" cy="274320"/>
          </a:xfrm>
          <a:prstGeom prst="rect">
            <a:avLst/>
          </a:prstGeom>
          <a:noFill/>
          <a:ln/>
        </p:spPr>
        <p:txBody>
          <a:bodyPr wrap="square" lIns="0" tIns="0" rIns="0" bIns="0" rtlCol="0" anchor="t"/>
          <a:lstStyle/>
          <a:p>
            <a:pPr algn="ctr" indent="0" marL="0">
              <a:buNone/>
            </a:pPr>
            <a:r>
              <a:rPr lang="en-US" sz="900" dirty="0">
                <a:solidFill>
                  <a:schemeClr val="bg2"/>
                </a:solidFill>
              </a:rPr>
              <a:t>OPERATOR</a:t>
            </a:r>
            <a:endParaRPr lang="en-US" sz="900" dirty="0"/>
          </a:p>
        </p:txBody>
      </p:sp>
      <p:sp>
        <p:nvSpPr>
          <p:cNvPr id="39" name="panel-240"/>
          <p:cNvSpPr/>
          <p:nvPr/>
        </p:nvSpPr>
        <p:spPr>
          <a:xfrm>
            <a:off x="6858000" y="1965960"/>
            <a:ext cx="822960" cy="777240"/>
          </a:xfrm>
          <a:prstGeom prst="roundRect">
            <a:avLst>
              <a:gd name="adj" fmla="val 9412"/>
            </a:avLst>
          </a:prstGeom>
          <a:solidFill>
            <a:schemeClr val="tx2"/>
          </a:solidFill>
          <a:ln w="9525">
            <a:solidFill>
              <a:schemeClr val="accent5"/>
            </a:solidFill>
            <a:prstDash val="solid"/>
          </a:ln>
        </p:spPr>
      </p:sp>
      <p:sp>
        <p:nvSpPr>
          <p:cNvPr id="40" name="text-241"/>
          <p:cNvSpPr txBox="1"/>
          <p:nvPr/>
        </p:nvSpPr>
        <p:spPr>
          <a:xfrm>
            <a:off x="6858000" y="2011680"/>
            <a:ext cx="822960" cy="365760"/>
          </a:xfrm>
          <a:prstGeom prst="rect">
            <a:avLst/>
          </a:prstGeom>
          <a:noFill/>
          <a:ln/>
        </p:spPr>
        <p:txBody>
          <a:bodyPr wrap="square" lIns="0" tIns="0" rIns="0" bIns="0" rtlCol="0" anchor="t"/>
          <a:lstStyle/>
          <a:p>
            <a:pPr algn="ctr" indent="0" marL="0">
              <a:buNone/>
            </a:pPr>
            <a:r>
              <a:rPr lang="en-US" sz="1800" b="1" dirty="0">
                <a:solidFill>
                  <a:schemeClr val="accent1"/>
                </a:solidFill>
                <a:latin typeface="Courier New" pitchFamily="34" charset="0"/>
                <a:ea typeface="Courier New" pitchFamily="34" charset="-122"/>
                <a:cs typeface="Courier New" pitchFamily="34" charset="-120"/>
              </a:rPr>
              <a:t>2</a:t>
            </a:r>
            <a:endParaRPr lang="en-US" sz="1800" dirty="0"/>
          </a:p>
        </p:txBody>
      </p:sp>
      <p:sp>
        <p:nvSpPr>
          <p:cNvPr id="41" name="text-242"/>
          <p:cNvSpPr txBox="1"/>
          <p:nvPr/>
        </p:nvSpPr>
        <p:spPr>
          <a:xfrm>
            <a:off x="6858000" y="2377440"/>
            <a:ext cx="822960" cy="274320"/>
          </a:xfrm>
          <a:prstGeom prst="rect">
            <a:avLst/>
          </a:prstGeom>
          <a:noFill/>
          <a:ln/>
        </p:spPr>
        <p:txBody>
          <a:bodyPr wrap="square" lIns="0" tIns="0" rIns="0" bIns="0" rtlCol="0" anchor="t"/>
          <a:lstStyle/>
          <a:p>
            <a:pPr algn="ctr" indent="0" marL="0">
              <a:buNone/>
            </a:pPr>
            <a:r>
              <a:rPr lang="en-US" sz="900" dirty="0">
                <a:solidFill>
                  <a:schemeClr val="bg2"/>
                </a:solidFill>
              </a:rPr>
              <a:t>NUMBER</a:t>
            </a:r>
            <a:endParaRPr lang="en-US" sz="900" dirty="0"/>
          </a:p>
        </p:txBody>
      </p:sp>
      <p:sp>
        <p:nvSpPr>
          <p:cNvPr id="42" name="panel-243"/>
          <p:cNvSpPr/>
          <p:nvPr/>
        </p:nvSpPr>
        <p:spPr>
          <a:xfrm>
            <a:off x="7772400" y="1965960"/>
            <a:ext cx="822960" cy="777240"/>
          </a:xfrm>
          <a:prstGeom prst="roundRect">
            <a:avLst>
              <a:gd name="adj" fmla="val 9412"/>
            </a:avLst>
          </a:prstGeom>
          <a:solidFill>
            <a:schemeClr val="tx2"/>
          </a:solidFill>
          <a:ln w="9525">
            <a:solidFill>
              <a:schemeClr val="accent5"/>
            </a:solidFill>
            <a:prstDash val="solid"/>
          </a:ln>
        </p:spPr>
      </p:sp>
      <p:sp>
        <p:nvSpPr>
          <p:cNvPr id="43" name="text-244"/>
          <p:cNvSpPr txBox="1"/>
          <p:nvPr/>
        </p:nvSpPr>
        <p:spPr>
          <a:xfrm>
            <a:off x="7772400" y="2011680"/>
            <a:ext cx="822960" cy="365760"/>
          </a:xfrm>
          <a:prstGeom prst="rect">
            <a:avLst/>
          </a:prstGeom>
          <a:noFill/>
          <a:ln/>
        </p:spPr>
        <p:txBody>
          <a:bodyPr wrap="square" lIns="0" tIns="0" rIns="0" bIns="0" rtlCol="0" anchor="t"/>
          <a:lstStyle/>
          <a:p>
            <a:pPr algn="ctr" indent="0" marL="0">
              <a:buNone/>
            </a:pPr>
            <a:r>
              <a:rPr lang="en-US" sz="1800" b="1" dirty="0">
                <a:solidFill>
                  <a:schemeClr val="accent1"/>
                </a:solidFill>
                <a:latin typeface="Courier New" pitchFamily="34" charset="0"/>
                <a:ea typeface="Courier New" pitchFamily="34" charset="-122"/>
                <a:cs typeface="Courier New" pitchFamily="34" charset="-120"/>
              </a:rPr>
              <a:t>;</a:t>
            </a:r>
            <a:endParaRPr lang="en-US" sz="1800" dirty="0"/>
          </a:p>
        </p:txBody>
      </p:sp>
      <p:sp>
        <p:nvSpPr>
          <p:cNvPr id="44" name="text-245"/>
          <p:cNvSpPr txBox="1"/>
          <p:nvPr/>
        </p:nvSpPr>
        <p:spPr>
          <a:xfrm>
            <a:off x="7772400" y="2377440"/>
            <a:ext cx="822960" cy="274320"/>
          </a:xfrm>
          <a:prstGeom prst="rect">
            <a:avLst/>
          </a:prstGeom>
          <a:noFill/>
          <a:ln/>
        </p:spPr>
        <p:txBody>
          <a:bodyPr wrap="square" lIns="0" tIns="0" rIns="0" bIns="0" rtlCol="0" anchor="t"/>
          <a:lstStyle/>
          <a:p>
            <a:pPr algn="ctr" indent="0" marL="0">
              <a:buNone/>
            </a:pPr>
            <a:r>
              <a:rPr lang="en-US" sz="900" dirty="0">
                <a:solidFill>
                  <a:schemeClr val="bg2"/>
                </a:solidFill>
              </a:rPr>
              <a:t>SEMI</a:t>
            </a:r>
            <a:endParaRPr lang="en-US" sz="900" dirty="0"/>
          </a:p>
        </p:txBody>
      </p:sp>
      <p:sp>
        <p:nvSpPr>
          <p:cNvPr id="45" name="panel-246"/>
          <p:cNvSpPr/>
          <p:nvPr/>
        </p:nvSpPr>
        <p:spPr>
          <a:xfrm>
            <a:off x="457200" y="2971800"/>
            <a:ext cx="2651760" cy="1554480"/>
          </a:xfrm>
          <a:prstGeom prst="roundRect">
            <a:avLst>
              <a:gd name="adj" fmla="val 4706"/>
            </a:avLst>
          </a:prstGeom>
          <a:solidFill>
            <a:schemeClr val="tx2"/>
          </a:solidFill>
          <a:ln w="9525">
            <a:solidFill>
              <a:schemeClr val="accent5"/>
            </a:solidFill>
            <a:prstDash val="solid"/>
          </a:ln>
        </p:spPr>
      </p:sp>
      <p:sp>
        <p:nvSpPr>
          <p:cNvPr id="46" name="text-247"/>
          <p:cNvSpPr txBox="1"/>
          <p:nvPr/>
        </p:nvSpPr>
        <p:spPr>
          <a:xfrm>
            <a:off x="640080" y="3063240"/>
            <a:ext cx="2286000" cy="274320"/>
          </a:xfrm>
          <a:prstGeom prst="rect">
            <a:avLst/>
          </a:prstGeom>
          <a:noFill/>
          <a:ln/>
        </p:spPr>
        <p:txBody>
          <a:bodyPr wrap="square" lIns="0" tIns="0" rIns="0" bIns="0" rtlCol="0" anchor="t"/>
          <a:lstStyle/>
          <a:p>
            <a:pPr indent="0" marL="0">
              <a:buNone/>
            </a:pPr>
            <a:r>
              <a:rPr lang="en-US" sz="1400" b="1" dirty="0">
                <a:solidFill>
                  <a:schemeClr val="accent2"/>
                </a:solidFill>
              </a:rPr>
              <a:t>Skips and tracks</a:t>
            </a:r>
            <a:endParaRPr lang="en-US" sz="1400" dirty="0"/>
          </a:p>
        </p:txBody>
      </p:sp>
      <p:sp>
        <p:nvSpPr>
          <p:cNvPr id="47" name="text-248"/>
          <p:cNvSpPr txBox="1"/>
          <p:nvPr/>
        </p:nvSpPr>
        <p:spPr>
          <a:xfrm>
            <a:off x="640080" y="3383280"/>
            <a:ext cx="2331720" cy="109728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bg1"/>
                </a:solidFill>
              </a:rPr>
              <a:t>spaces and // comments</a:t>
            </a:r>
            <a:endParaRPr lang="en-US" sz="1200" dirty="0"/>
          </a:p>
          <a:p>
            <a:pPr marL="342900" indent="-342900">
              <a:spcAft>
                <a:spcPts val="300"/>
              </a:spcAft>
              <a:buSzPct val="100000"/>
              <a:buChar char="•"/>
            </a:pPr>
            <a:r>
              <a:rPr lang="en-US" sz="1200" dirty="0">
                <a:solidFill>
                  <a:schemeClr val="bg1"/>
                </a:solidFill>
              </a:rPr>
              <a:t>counts newlines, so every token carries its line</a:t>
            </a:r>
            <a:endParaRPr lang="en-US" sz="1200" dirty="0"/>
          </a:p>
        </p:txBody>
      </p:sp>
      <p:sp>
        <p:nvSpPr>
          <p:cNvPr id="48" name="panel-249"/>
          <p:cNvSpPr/>
          <p:nvPr/>
        </p:nvSpPr>
        <p:spPr>
          <a:xfrm>
            <a:off x="3264408" y="2971800"/>
            <a:ext cx="2651760" cy="1554480"/>
          </a:xfrm>
          <a:prstGeom prst="roundRect">
            <a:avLst>
              <a:gd name="adj" fmla="val 4706"/>
            </a:avLst>
          </a:prstGeom>
          <a:solidFill>
            <a:schemeClr val="tx2"/>
          </a:solidFill>
          <a:ln w="9525">
            <a:solidFill>
              <a:schemeClr val="accent5"/>
            </a:solidFill>
            <a:prstDash val="solid"/>
          </a:ln>
        </p:spPr>
      </p:sp>
      <p:sp>
        <p:nvSpPr>
          <p:cNvPr id="49" name="text-250"/>
          <p:cNvSpPr txBox="1"/>
          <p:nvPr/>
        </p:nvSpPr>
        <p:spPr>
          <a:xfrm>
            <a:off x="3447288" y="3063240"/>
            <a:ext cx="2286000" cy="274320"/>
          </a:xfrm>
          <a:prstGeom prst="rect">
            <a:avLst/>
          </a:prstGeom>
          <a:noFill/>
          <a:ln/>
        </p:spPr>
        <p:txBody>
          <a:bodyPr wrap="square" lIns="0" tIns="0" rIns="0" bIns="0" rtlCol="0" anchor="t"/>
          <a:lstStyle/>
          <a:p>
            <a:pPr indent="0" marL="0">
              <a:buNone/>
            </a:pPr>
            <a:r>
              <a:rPr lang="en-US" sz="1400" b="1" dirty="0">
                <a:solidFill>
                  <a:schemeClr val="accent1"/>
                </a:solidFill>
              </a:rPr>
              <a:t>Rejects (lexical errors)</a:t>
            </a:r>
            <a:endParaRPr lang="en-US" sz="1400" dirty="0"/>
          </a:p>
        </p:txBody>
      </p:sp>
      <p:sp>
        <p:nvSpPr>
          <p:cNvPr id="50" name="text-251"/>
          <p:cNvSpPr txBox="1"/>
          <p:nvPr/>
        </p:nvSpPr>
        <p:spPr>
          <a:xfrm>
            <a:off x="3447288" y="3383280"/>
            <a:ext cx="2331720" cy="109728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bg1"/>
                </a:solidFill>
              </a:rPr>
              <a:t>unknown symbols such as @</a:t>
            </a:r>
            <a:endParaRPr lang="en-US" sz="1200" dirty="0"/>
          </a:p>
          <a:p>
            <a:pPr marL="342900" indent="-342900">
              <a:spcAft>
                <a:spcPts val="300"/>
              </a:spcAft>
              <a:buSzPct val="100000"/>
              <a:buChar char="•"/>
            </a:pPr>
            <a:r>
              <a:rPr lang="en-US" sz="1200" dirty="0">
                <a:solidFill>
                  <a:schemeClr val="bg1"/>
                </a:solidFill>
              </a:rPr>
              <a:t>numbers above INT_MAX</a:t>
            </a:r>
            <a:endParaRPr lang="en-US" sz="1200" dirty="0"/>
          </a:p>
          <a:p>
            <a:pPr marL="342900" indent="-342900">
              <a:spcAft>
                <a:spcPts val="300"/>
              </a:spcAft>
              <a:buSzPct val="100000"/>
              <a:buChar char="•"/>
            </a:pPr>
            <a:r>
              <a:rPr lang="en-US" sz="1200" dirty="0">
                <a:solidFill>
                  <a:schemeClr val="bg1"/>
                </a:solidFill>
              </a:rPr>
              <a:t>names that start with a digit: 2nd</a:t>
            </a:r>
            <a:endParaRPr lang="en-US" sz="1200" dirty="0"/>
          </a:p>
        </p:txBody>
      </p:sp>
      <p:sp>
        <p:nvSpPr>
          <p:cNvPr id="51" name="panel-252"/>
          <p:cNvSpPr/>
          <p:nvPr/>
        </p:nvSpPr>
        <p:spPr>
          <a:xfrm>
            <a:off x="6071616" y="2971800"/>
            <a:ext cx="2651760" cy="1554480"/>
          </a:xfrm>
          <a:prstGeom prst="roundRect">
            <a:avLst>
              <a:gd name="adj" fmla="val 4706"/>
            </a:avLst>
          </a:prstGeom>
          <a:solidFill>
            <a:schemeClr val="tx2"/>
          </a:solidFill>
          <a:ln w="9525">
            <a:solidFill>
              <a:schemeClr val="accent5"/>
            </a:solidFill>
            <a:prstDash val="solid"/>
          </a:ln>
        </p:spPr>
      </p:sp>
      <p:sp>
        <p:nvSpPr>
          <p:cNvPr id="52" name="text-253"/>
          <p:cNvSpPr txBox="1"/>
          <p:nvPr/>
        </p:nvSpPr>
        <p:spPr>
          <a:xfrm>
            <a:off x="6254496" y="3063240"/>
            <a:ext cx="2286000" cy="274320"/>
          </a:xfrm>
          <a:prstGeom prst="rect">
            <a:avLst/>
          </a:prstGeom>
          <a:noFill/>
          <a:ln/>
        </p:spPr>
        <p:txBody>
          <a:bodyPr wrap="square" lIns="0" tIns="0" rIns="0" bIns="0" rtlCol="0" anchor="t"/>
          <a:lstStyle/>
          <a:p>
            <a:pPr indent="0" marL="0">
              <a:buNone/>
            </a:pPr>
            <a:r>
              <a:rPr lang="en-US" sz="1400" b="1" dirty="0">
                <a:solidFill>
                  <a:schemeClr val="accent4"/>
                </a:solidFill>
              </a:rPr>
              <a:t>Hands on</a:t>
            </a:r>
            <a:endParaRPr lang="en-US" sz="1400" dirty="0"/>
          </a:p>
        </p:txBody>
      </p:sp>
      <p:sp>
        <p:nvSpPr>
          <p:cNvPr id="53" name="text-254"/>
          <p:cNvSpPr txBox="1"/>
          <p:nvPr/>
        </p:nvSpPr>
        <p:spPr>
          <a:xfrm>
            <a:off x="6254496" y="3383280"/>
            <a:ext cx="2331720" cy="109728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bg1"/>
                </a:solidFill>
              </a:rPr>
              <a:t>token list ending in END_OF_FILE</a:t>
            </a:r>
            <a:endParaRPr lang="en-US" sz="1200" dirty="0"/>
          </a:p>
          <a:p>
            <a:pPr marL="342900" indent="-342900">
              <a:spcAft>
                <a:spcPts val="300"/>
              </a:spcAft>
              <a:buSzPct val="100000"/>
              <a:buChar char="•"/>
            </a:pPr>
            <a:r>
              <a:rPr lang="en-US" sz="1200" dirty="0">
                <a:solidFill>
                  <a:schemeClr val="bg1"/>
                </a:solidFill>
              </a:rPr>
              <a:t>--tokens prints it as a line / type / text table</a:t>
            </a:r>
            <a:endParaRPr lang="en-US" sz="1200" dirty="0"/>
          </a:p>
        </p:txBody>
      </p:sp>
      <p:sp>
        <p:nvSpPr>
          <p:cNvPr id="25" name="Slide Number Placeholder 0"/>
          <p:cNvSpPr>
            <a:spLocks noGrp="1"/>
          </p:cNvSpPr>
          <p:nvPr>
            <p:ph type="sldNum" sz="quarter" idx="4294967295"/>
          </p:nvPr>
        </p:nvSpPr>
        <p:spPr>
          <a:xfrm>
            <a:off x="8321040" y="473659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600" b="1" dirty="0">
                <a:solidFill>
                  <a:schemeClr val="bg1"/>
                </a:solidFill>
              </a:rPr>
              <a:t>Phase 2 · Recursive descent</a:t>
            </a:r>
            <a:endParaRPr lang="en-US" sz="2600" dirty="0"/>
          </a:p>
        </p:txBody>
      </p:sp>
      <p:sp>
        <p:nvSpPr>
          <p:cNvPr id="4" name="phase-255"/>
          <p:cNvSpPr/>
          <p:nvPr/>
        </p:nvSpPr>
        <p:spPr>
          <a:xfrm>
            <a:off x="457200" y="4718304"/>
            <a:ext cx="868680" cy="256032"/>
          </a:xfrm>
          <a:prstGeom prst="roundRect">
            <a:avLst>
              <a:gd name="adj" fmla="val 17857"/>
            </a:avLst>
          </a:prstGeom>
          <a:solidFill>
            <a:schemeClr val="tx2"/>
          </a:solidFill>
          <a:ln w="9525">
            <a:solidFill>
              <a:schemeClr val="accent5"/>
            </a:solidFill>
            <a:prstDash val="solid"/>
          </a:ln>
        </p:spPr>
      </p:sp>
      <p:sp>
        <p:nvSpPr>
          <p:cNvPr id="5" name="text-256"/>
          <p:cNvSpPr txBox="1"/>
          <p:nvPr/>
        </p:nvSpPr>
        <p:spPr>
          <a:xfrm>
            <a:off x="457200" y="4718304"/>
            <a:ext cx="868680" cy="256032"/>
          </a:xfrm>
          <a:prstGeom prst="rect">
            <a:avLst/>
          </a:prstGeom>
          <a:noFill/>
          <a:ln/>
        </p:spPr>
        <p:txBody>
          <a:bodyPr wrap="square" lIns="0" tIns="0" rIns="0" bIns="0" rtlCol="0" anchor="ctr"/>
          <a:lstStyle/>
          <a:p>
            <a:pPr algn="ctr" indent="0" marL="0">
              <a:buNone/>
            </a:pPr>
            <a:r>
              <a:rPr lang="en-US" sz="1000" dirty="0">
                <a:solidFill>
                  <a:schemeClr val="bg2"/>
                </a:solidFill>
              </a:rPr>
              <a:t>1 Lexical</a:t>
            </a:r>
            <a:endParaRPr lang="en-US" sz="1000" dirty="0"/>
          </a:p>
        </p:txBody>
      </p:sp>
      <p:sp>
        <p:nvSpPr>
          <p:cNvPr id="6" name="phase-257"/>
          <p:cNvSpPr/>
          <p:nvPr/>
        </p:nvSpPr>
        <p:spPr>
          <a:xfrm>
            <a:off x="1389888" y="4718304"/>
            <a:ext cx="868680" cy="256032"/>
          </a:xfrm>
          <a:prstGeom prst="roundRect">
            <a:avLst>
              <a:gd name="adj" fmla="val 17857"/>
            </a:avLst>
          </a:prstGeom>
          <a:solidFill>
            <a:schemeClr val="accent1"/>
          </a:solidFill>
          <a:ln w="9525">
            <a:solidFill>
              <a:schemeClr val="accent1"/>
            </a:solidFill>
            <a:prstDash val="solid"/>
          </a:ln>
        </p:spPr>
      </p:sp>
      <p:sp>
        <p:nvSpPr>
          <p:cNvPr id="7" name="text-258"/>
          <p:cNvSpPr txBox="1"/>
          <p:nvPr/>
        </p:nvSpPr>
        <p:spPr>
          <a:xfrm>
            <a:off x="1389888" y="4718304"/>
            <a:ext cx="868680" cy="256032"/>
          </a:xfrm>
          <a:prstGeom prst="rect">
            <a:avLst/>
          </a:prstGeom>
          <a:noFill/>
          <a:ln/>
        </p:spPr>
        <p:txBody>
          <a:bodyPr wrap="square" lIns="0" tIns="0" rIns="0" bIns="0" rtlCol="0" anchor="ctr"/>
          <a:lstStyle/>
          <a:p>
            <a:pPr algn="ctr" indent="0" marL="0">
              <a:buNone/>
            </a:pPr>
            <a:r>
              <a:rPr lang="en-US" sz="1000" b="1" dirty="0">
                <a:solidFill>
                  <a:schemeClr val="tx1"/>
                </a:solidFill>
              </a:rPr>
              <a:t>2 Syntax</a:t>
            </a:r>
            <a:endParaRPr lang="en-US" sz="1000" dirty="0"/>
          </a:p>
        </p:txBody>
      </p:sp>
      <p:sp>
        <p:nvSpPr>
          <p:cNvPr id="8" name="phase-259"/>
          <p:cNvSpPr/>
          <p:nvPr/>
        </p:nvSpPr>
        <p:spPr>
          <a:xfrm>
            <a:off x="2322576" y="4718304"/>
            <a:ext cx="868680" cy="256032"/>
          </a:xfrm>
          <a:prstGeom prst="roundRect">
            <a:avLst>
              <a:gd name="adj" fmla="val 17857"/>
            </a:avLst>
          </a:prstGeom>
          <a:solidFill>
            <a:schemeClr val="tx2"/>
          </a:solidFill>
          <a:ln w="9525">
            <a:solidFill>
              <a:schemeClr val="accent5"/>
            </a:solidFill>
            <a:prstDash val="solid"/>
          </a:ln>
        </p:spPr>
      </p:sp>
      <p:sp>
        <p:nvSpPr>
          <p:cNvPr id="9" name="text-260"/>
          <p:cNvSpPr txBox="1"/>
          <p:nvPr/>
        </p:nvSpPr>
        <p:spPr>
          <a:xfrm>
            <a:off x="2322576" y="4718304"/>
            <a:ext cx="868680" cy="256032"/>
          </a:xfrm>
          <a:prstGeom prst="rect">
            <a:avLst/>
          </a:prstGeom>
          <a:noFill/>
          <a:ln/>
        </p:spPr>
        <p:txBody>
          <a:bodyPr wrap="square" lIns="0" tIns="0" rIns="0" bIns="0" rtlCol="0" anchor="ctr"/>
          <a:lstStyle/>
          <a:p>
            <a:pPr algn="ctr" indent="0" marL="0">
              <a:buNone/>
            </a:pPr>
            <a:r>
              <a:rPr lang="en-US" sz="1000" dirty="0">
                <a:solidFill>
                  <a:schemeClr val="bg2"/>
                </a:solidFill>
              </a:rPr>
              <a:t>3 Semantic</a:t>
            </a:r>
            <a:endParaRPr lang="en-US" sz="1000" dirty="0"/>
          </a:p>
        </p:txBody>
      </p:sp>
      <p:sp>
        <p:nvSpPr>
          <p:cNvPr id="10" name="phase-261"/>
          <p:cNvSpPr/>
          <p:nvPr/>
        </p:nvSpPr>
        <p:spPr>
          <a:xfrm>
            <a:off x="3255264" y="4718304"/>
            <a:ext cx="868680" cy="256032"/>
          </a:xfrm>
          <a:prstGeom prst="roundRect">
            <a:avLst>
              <a:gd name="adj" fmla="val 17857"/>
            </a:avLst>
          </a:prstGeom>
          <a:solidFill>
            <a:schemeClr val="tx2"/>
          </a:solidFill>
          <a:ln w="9525">
            <a:solidFill>
              <a:schemeClr val="accent5"/>
            </a:solidFill>
            <a:prstDash val="solid"/>
          </a:ln>
        </p:spPr>
      </p:sp>
      <p:sp>
        <p:nvSpPr>
          <p:cNvPr id="11" name="text-262"/>
          <p:cNvSpPr txBox="1"/>
          <p:nvPr/>
        </p:nvSpPr>
        <p:spPr>
          <a:xfrm>
            <a:off x="3255264" y="4718304"/>
            <a:ext cx="868680" cy="256032"/>
          </a:xfrm>
          <a:prstGeom prst="rect">
            <a:avLst/>
          </a:prstGeom>
          <a:noFill/>
          <a:ln/>
        </p:spPr>
        <p:txBody>
          <a:bodyPr wrap="square" lIns="0" tIns="0" rIns="0" bIns="0" rtlCol="0" anchor="ctr"/>
          <a:lstStyle/>
          <a:p>
            <a:pPr algn="ctr" indent="0" marL="0">
              <a:buNone/>
            </a:pPr>
            <a:r>
              <a:rPr lang="en-US" sz="1000" dirty="0">
                <a:solidFill>
                  <a:schemeClr val="bg2"/>
                </a:solidFill>
              </a:rPr>
              <a:t>4 TAC</a:t>
            </a:r>
            <a:endParaRPr lang="en-US" sz="1000" dirty="0"/>
          </a:p>
        </p:txBody>
      </p:sp>
      <p:sp>
        <p:nvSpPr>
          <p:cNvPr id="12" name="phase-263"/>
          <p:cNvSpPr/>
          <p:nvPr/>
        </p:nvSpPr>
        <p:spPr>
          <a:xfrm>
            <a:off x="4187952" y="4718304"/>
            <a:ext cx="868680" cy="256032"/>
          </a:xfrm>
          <a:prstGeom prst="roundRect">
            <a:avLst>
              <a:gd name="adj" fmla="val 17857"/>
            </a:avLst>
          </a:prstGeom>
          <a:solidFill>
            <a:schemeClr val="tx2"/>
          </a:solidFill>
          <a:ln w="9525">
            <a:solidFill>
              <a:schemeClr val="accent5"/>
            </a:solidFill>
            <a:prstDash val="solid"/>
          </a:ln>
        </p:spPr>
      </p:sp>
      <p:sp>
        <p:nvSpPr>
          <p:cNvPr id="13" name="text-264"/>
          <p:cNvSpPr txBox="1"/>
          <p:nvPr/>
        </p:nvSpPr>
        <p:spPr>
          <a:xfrm>
            <a:off x="4187952" y="4718304"/>
            <a:ext cx="868680" cy="256032"/>
          </a:xfrm>
          <a:prstGeom prst="rect">
            <a:avLst/>
          </a:prstGeom>
          <a:noFill/>
          <a:ln/>
        </p:spPr>
        <p:txBody>
          <a:bodyPr wrap="square" lIns="0" tIns="0" rIns="0" bIns="0" rtlCol="0" anchor="ctr"/>
          <a:lstStyle/>
          <a:p>
            <a:pPr algn="ctr" indent="0" marL="0">
              <a:buNone/>
            </a:pPr>
            <a:r>
              <a:rPr lang="en-US" sz="1000" dirty="0">
                <a:solidFill>
                  <a:schemeClr val="bg2"/>
                </a:solidFill>
              </a:rPr>
              <a:t>5 Errors</a:t>
            </a:r>
            <a:endParaRPr lang="en-US" sz="1000" dirty="0"/>
          </a:p>
        </p:txBody>
      </p:sp>
      <p:sp>
        <p:nvSpPr>
          <p:cNvPr id="14" name="text-265"/>
          <p:cNvSpPr txBox="1"/>
          <p:nvPr/>
        </p:nvSpPr>
        <p:spPr>
          <a:xfrm>
            <a:off x="457200" y="1051560"/>
            <a:ext cx="3657600" cy="228600"/>
          </a:xfrm>
          <a:prstGeom prst="rect">
            <a:avLst/>
          </a:prstGeom>
          <a:noFill/>
          <a:ln/>
        </p:spPr>
        <p:txBody>
          <a:bodyPr wrap="square" lIns="0" tIns="0" rIns="0" bIns="0" rtlCol="0" anchor="t"/>
          <a:lstStyle/>
          <a:p>
            <a:pPr indent="0" marL="0">
              <a:buNone/>
            </a:pPr>
            <a:r>
              <a:rPr lang="en-US" sz="1000" b="1" spc="150" kern="0" dirty="0">
                <a:solidFill>
                  <a:schemeClr val="bg2"/>
                </a:solidFill>
              </a:rPr>
              <a:t>C++ SHAPE OF THE RULES</a:t>
            </a:r>
            <a:endParaRPr lang="en-US" sz="1000" dirty="0"/>
          </a:p>
        </p:txBody>
      </p:sp>
      <p:sp>
        <p:nvSpPr>
          <p:cNvPr id="15" name="panel-266"/>
          <p:cNvSpPr/>
          <p:nvPr/>
        </p:nvSpPr>
        <p:spPr>
          <a:xfrm>
            <a:off x="457200" y="1325880"/>
            <a:ext cx="3931920" cy="2377440"/>
          </a:xfrm>
          <a:prstGeom prst="roundRect">
            <a:avLst>
              <a:gd name="adj" fmla="val 3077"/>
            </a:avLst>
          </a:prstGeom>
          <a:solidFill>
            <a:schemeClr val="tx1"/>
          </a:solidFill>
          <a:ln w="9525">
            <a:solidFill>
              <a:schemeClr val="accent5"/>
            </a:solidFill>
            <a:prstDash val="solid"/>
          </a:ln>
        </p:spPr>
      </p:sp>
      <p:sp>
        <p:nvSpPr>
          <p:cNvPr id="16" name="text-267"/>
          <p:cNvSpPr txBox="1"/>
          <p:nvPr/>
        </p:nvSpPr>
        <p:spPr>
          <a:xfrm>
            <a:off x="594360" y="1435608"/>
            <a:ext cx="3657600" cy="2157984"/>
          </a:xfrm>
          <a:prstGeom prst="rect">
            <a:avLst/>
          </a:prstGeom>
          <a:noFill/>
          <a:ln/>
        </p:spPr>
        <p:txBody>
          <a:bodyPr wrap="square" lIns="0" tIns="0" rIns="0" bIns="0" rtlCol="0" anchor="t"/>
          <a:lstStyle/>
          <a:p>
            <a:pPr indent="0" marL="0">
              <a:lnSpc>
                <a:spcPct val="100000"/>
              </a:lnSpc>
              <a:buNone/>
            </a:pPr>
            <a:r>
              <a:rPr lang="en-US" sz="1100" dirty="0">
                <a:solidFill>
                  <a:schemeClr val="bg1"/>
                </a:solidFill>
                <a:latin typeface="Courier New" pitchFamily="34" charset="0"/>
                <a:ea typeface="Courier New" pitchFamily="34" charset="-122"/>
                <a:cs typeface="Courier New" pitchFamily="34" charset="-120"/>
              </a:rPr>
              <a:t>Operand expression() {</a:t>
            </a:r>
            <a:endParaRPr lang="en-US" sz="1100" dirty="0"/>
          </a:p>
          <a:p>
            <a:pPr indent="0" marL="0">
              <a:lnSpc>
                <a:spcPct val="100000"/>
              </a:lnSpc>
              <a:buNone/>
            </a:pPr>
            <a:r>
              <a:rPr lang="en-US" sz="1100" dirty="0">
                <a:solidFill>
                  <a:schemeClr val="bg1"/>
                </a:solidFill>
                <a:latin typeface="Courier New" pitchFamily="34" charset="0"/>
                <a:ea typeface="Courier New" pitchFamily="34" charset="-122"/>
                <a:cs typeface="Courier New" pitchFamily="34" charset="-120"/>
              </a:rPr>
              <a:t>  Operand l = term();</a:t>
            </a:r>
            <a:endParaRPr lang="en-US" sz="1100" dirty="0"/>
          </a:p>
          <a:p>
            <a:pPr indent="0" marL="0">
              <a:lnSpc>
                <a:spcPct val="100000"/>
              </a:lnSpc>
              <a:buNone/>
            </a:pPr>
            <a:r>
              <a:rPr lang="en-US" sz="1100" dirty="0">
                <a:solidFill>
                  <a:schemeClr val="bg1"/>
                </a:solidFill>
                <a:latin typeface="Courier New" pitchFamily="34" charset="0"/>
                <a:ea typeface="Courier New" pitchFamily="34" charset="-122"/>
                <a:cs typeface="Courier New" pitchFamily="34" charset="-120"/>
              </a:rPr>
              <a:t>  while (check(PLUS) || check(MINUS))</a:t>
            </a:r>
            <a:endParaRPr lang="en-US" sz="1100" dirty="0"/>
          </a:p>
          <a:p>
            <a:pPr indent="0" marL="0">
              <a:lnSpc>
                <a:spcPct val="100000"/>
              </a:lnSpc>
              <a:buNone/>
            </a:pPr>
            <a:r>
              <a:rPr lang="en-US" sz="1100" dirty="0">
                <a:solidFill>
                  <a:schemeClr val="bg1"/>
                </a:solidFill>
                <a:latin typeface="Courier New" pitchFamily="34" charset="0"/>
                <a:ea typeface="Courier New" pitchFamily="34" charset="-122"/>
                <a:cs typeface="Courier New" pitchFamily="34" charset="-120"/>
              </a:rPr>
              <a:t>    l = binary(l, advance(), term());</a:t>
            </a:r>
            <a:endParaRPr lang="en-US" sz="1100" dirty="0"/>
          </a:p>
          <a:p>
            <a:pPr indent="0" marL="0">
              <a:lnSpc>
                <a:spcPct val="100000"/>
              </a:lnSpc>
              <a:buNone/>
            </a:pPr>
            <a:r>
              <a:rPr lang="en-US" sz="1100" dirty="0">
                <a:solidFill>
                  <a:schemeClr val="bg1"/>
                </a:solidFill>
                <a:latin typeface="Courier New" pitchFamily="34" charset="0"/>
                <a:ea typeface="Courier New" pitchFamily="34" charset="-122"/>
                <a:cs typeface="Courier New" pitchFamily="34" charset="-120"/>
              </a:rPr>
              <a:t>  return l;</a:t>
            </a:r>
            <a:endParaRPr lang="en-US" sz="1100" dirty="0"/>
          </a:p>
          <a:p>
            <a:pPr indent="0" marL="0">
              <a:lnSpc>
                <a:spcPct val="100000"/>
              </a:lnSpc>
              <a:buNone/>
            </a:pPr>
            <a:r>
              <a:rPr lang="en-US" sz="1100" dirty="0">
                <a:solidFill>
                  <a:schemeClr val="bg1"/>
                </a:solidFill>
                <a:latin typeface="Courier New" pitchFamily="34" charset="0"/>
                <a:ea typeface="Courier New" pitchFamily="34" charset="-122"/>
                <a:cs typeface="Courier New" pitchFamily="34" charset="-120"/>
              </a:rPr>
              <a:t>}</a:t>
            </a:r>
            <a:endParaRPr lang="en-US" sz="1100" dirty="0"/>
          </a:p>
          <a:p>
            <a:pPr indent="0" marL="0">
              <a:lnSpc>
                <a:spcPct val="100000"/>
              </a:lnSpc>
              <a:buNone/>
            </a:pPr>
            <a:r>
              <a:rPr lang="en-US" sz="1100" dirty="0">
                <a:solidFill>
                  <a:schemeClr val="bg1"/>
                </a:solidFill>
                <a:latin typeface="Courier New" pitchFamily="34" charset="0"/>
                <a:ea typeface="Courier New" pitchFamily="34" charset="-122"/>
                <a:cs typeface="Courier New" pitchFamily="34" charset="-120"/>
              </a:rPr>
              <a:t>Operand term() {    // same, * and /</a:t>
            </a:r>
            <a:endParaRPr lang="en-US" sz="1100" dirty="0"/>
          </a:p>
          <a:p>
            <a:pPr indent="0" marL="0">
              <a:lnSpc>
                <a:spcPct val="100000"/>
              </a:lnSpc>
              <a:buNone/>
            </a:pPr>
            <a:r>
              <a:rPr lang="en-US" sz="1100" dirty="0">
                <a:solidFill>
                  <a:schemeClr val="bg1"/>
                </a:solidFill>
                <a:latin typeface="Courier New" pitchFamily="34" charset="0"/>
                <a:ea typeface="Courier New" pitchFamily="34" charset="-122"/>
                <a:cs typeface="Courier New" pitchFamily="34" charset="-120"/>
              </a:rPr>
              <a:t>  ... factor() ...</a:t>
            </a:r>
            <a:endParaRPr lang="en-US" sz="1100" dirty="0"/>
          </a:p>
          <a:p>
            <a:pPr indent="0" marL="0">
              <a:lnSpc>
                <a:spcPct val="100000"/>
              </a:lnSpc>
              <a:buNone/>
            </a:pPr>
            <a:r>
              <a:rPr lang="en-US" sz="1100" dirty="0">
                <a:solidFill>
                  <a:schemeClr val="bg1"/>
                </a:solidFill>
                <a:latin typeface="Courier New" pitchFamily="34" charset="0"/>
                <a:ea typeface="Courier New" pitchFamily="34" charset="-122"/>
                <a:cs typeface="Courier New" pitchFamily="34" charset="-120"/>
              </a:rPr>
              <a:t>}</a:t>
            </a:r>
            <a:endParaRPr lang="en-US" sz="1100" dirty="0"/>
          </a:p>
        </p:txBody>
      </p:sp>
      <p:sp>
        <p:nvSpPr>
          <p:cNvPr id="17" name="text-268"/>
          <p:cNvSpPr txBox="1"/>
          <p:nvPr/>
        </p:nvSpPr>
        <p:spPr>
          <a:xfrm>
            <a:off x="4754880" y="1051560"/>
            <a:ext cx="3931920" cy="228600"/>
          </a:xfrm>
          <a:prstGeom prst="rect">
            <a:avLst/>
          </a:prstGeom>
          <a:noFill/>
          <a:ln/>
        </p:spPr>
        <p:txBody>
          <a:bodyPr wrap="square" lIns="0" tIns="0" rIns="0" bIns="0" rtlCol="0" anchor="t"/>
          <a:lstStyle/>
          <a:p>
            <a:pPr indent="0" marL="0">
              <a:buNone/>
            </a:pPr>
            <a:r>
              <a:rPr lang="en-US" sz="1000" b="1" spc="150" kern="0" dirty="0">
                <a:solidFill>
                  <a:schemeClr val="bg2"/>
                </a:solidFill>
              </a:rPr>
              <a:t>CALL TREE FOR  A + B * 2</a:t>
            </a:r>
            <a:endParaRPr lang="en-US" sz="1000" dirty="0"/>
          </a:p>
        </p:txBody>
      </p:sp>
      <p:sp>
        <p:nvSpPr>
          <p:cNvPr id="18" name="panel-269"/>
          <p:cNvSpPr/>
          <p:nvPr/>
        </p:nvSpPr>
        <p:spPr>
          <a:xfrm>
            <a:off x="5852160" y="1371600"/>
            <a:ext cx="1737360" cy="384048"/>
          </a:xfrm>
          <a:prstGeom prst="roundRect">
            <a:avLst>
              <a:gd name="adj" fmla="val 19048"/>
            </a:avLst>
          </a:prstGeom>
          <a:solidFill>
            <a:schemeClr val="tx2"/>
          </a:solidFill>
          <a:ln w="9525">
            <a:solidFill>
              <a:schemeClr val="accent5"/>
            </a:solidFill>
            <a:prstDash val="solid"/>
          </a:ln>
        </p:spPr>
      </p:sp>
      <p:sp>
        <p:nvSpPr>
          <p:cNvPr id="19" name="text-270"/>
          <p:cNvSpPr txBox="1"/>
          <p:nvPr/>
        </p:nvSpPr>
        <p:spPr>
          <a:xfrm>
            <a:off x="5852160" y="1371600"/>
            <a:ext cx="1737360" cy="384048"/>
          </a:xfrm>
          <a:prstGeom prst="rect">
            <a:avLst/>
          </a:prstGeom>
          <a:noFill/>
          <a:ln/>
        </p:spPr>
        <p:txBody>
          <a:bodyPr wrap="square" lIns="0" tIns="0" rIns="0" bIns="0" rtlCol="0" anchor="ctr"/>
          <a:lstStyle/>
          <a:p>
            <a:pPr algn="ctr" indent="0" marL="0">
              <a:buNone/>
            </a:pPr>
            <a:r>
              <a:rPr lang="en-US" sz="1100" dirty="0">
                <a:solidFill>
                  <a:schemeClr val="bg1"/>
                </a:solidFill>
                <a:latin typeface="Courier New" pitchFamily="34" charset="0"/>
                <a:ea typeface="Courier New" pitchFamily="34" charset="-122"/>
                <a:cs typeface="Courier New" pitchFamily="34" charset="-120"/>
              </a:rPr>
              <a:t>expression()</a:t>
            </a:r>
            <a:endParaRPr lang="en-US" sz="1100" dirty="0"/>
          </a:p>
        </p:txBody>
      </p:sp>
      <p:sp>
        <p:nvSpPr>
          <p:cNvPr id="20" name="panel-271"/>
          <p:cNvSpPr/>
          <p:nvPr/>
        </p:nvSpPr>
        <p:spPr>
          <a:xfrm>
            <a:off x="4754880" y="2057400"/>
            <a:ext cx="1097280" cy="384048"/>
          </a:xfrm>
          <a:prstGeom prst="roundRect">
            <a:avLst>
              <a:gd name="adj" fmla="val 19048"/>
            </a:avLst>
          </a:prstGeom>
          <a:solidFill>
            <a:schemeClr val="tx2"/>
          </a:solidFill>
          <a:ln w="9525">
            <a:solidFill>
              <a:schemeClr val="accent5"/>
            </a:solidFill>
            <a:prstDash val="solid"/>
          </a:ln>
        </p:spPr>
      </p:sp>
      <p:sp>
        <p:nvSpPr>
          <p:cNvPr id="21" name="text-272"/>
          <p:cNvSpPr txBox="1"/>
          <p:nvPr/>
        </p:nvSpPr>
        <p:spPr>
          <a:xfrm>
            <a:off x="4754880" y="2057400"/>
            <a:ext cx="1097280" cy="384048"/>
          </a:xfrm>
          <a:prstGeom prst="rect">
            <a:avLst/>
          </a:prstGeom>
          <a:noFill/>
          <a:ln/>
        </p:spPr>
        <p:txBody>
          <a:bodyPr wrap="square" lIns="0" tIns="0" rIns="0" bIns="0" rtlCol="0" anchor="ctr"/>
          <a:lstStyle/>
          <a:p>
            <a:pPr algn="ctr" indent="0" marL="0">
              <a:buNone/>
            </a:pPr>
            <a:r>
              <a:rPr lang="en-US" sz="1100" dirty="0">
                <a:solidFill>
                  <a:schemeClr val="bg1"/>
                </a:solidFill>
                <a:latin typeface="Courier New" pitchFamily="34" charset="0"/>
                <a:ea typeface="Courier New" pitchFamily="34" charset="-122"/>
                <a:cs typeface="Courier New" pitchFamily="34" charset="-120"/>
              </a:rPr>
              <a:t>term()</a:t>
            </a:r>
            <a:endParaRPr lang="en-US" sz="1100" dirty="0"/>
          </a:p>
        </p:txBody>
      </p:sp>
      <p:sp>
        <p:nvSpPr>
          <p:cNvPr id="22" name="panel-273"/>
          <p:cNvSpPr/>
          <p:nvPr/>
        </p:nvSpPr>
        <p:spPr>
          <a:xfrm>
            <a:off x="6172200" y="2057400"/>
            <a:ext cx="457200" cy="384048"/>
          </a:xfrm>
          <a:prstGeom prst="roundRect">
            <a:avLst>
              <a:gd name="adj" fmla="val 19048"/>
            </a:avLst>
          </a:prstGeom>
          <a:solidFill>
            <a:schemeClr val="tx2"/>
          </a:solidFill>
          <a:ln w="9525">
            <a:solidFill>
              <a:schemeClr val="accent5"/>
            </a:solidFill>
            <a:prstDash val="solid"/>
          </a:ln>
        </p:spPr>
      </p:sp>
      <p:sp>
        <p:nvSpPr>
          <p:cNvPr id="23" name="text-274"/>
          <p:cNvSpPr txBox="1"/>
          <p:nvPr/>
        </p:nvSpPr>
        <p:spPr>
          <a:xfrm>
            <a:off x="6172200" y="2057400"/>
            <a:ext cx="457200" cy="384048"/>
          </a:xfrm>
          <a:prstGeom prst="rect">
            <a:avLst/>
          </a:prstGeom>
          <a:noFill/>
          <a:ln/>
        </p:spPr>
        <p:txBody>
          <a:bodyPr wrap="square" lIns="0" tIns="0" rIns="0" bIns="0" rtlCol="0" anchor="ctr"/>
          <a:lstStyle/>
          <a:p>
            <a:pPr algn="ctr" indent="0" marL="0">
              <a:buNone/>
            </a:pPr>
            <a:r>
              <a:rPr lang="en-US" sz="1100" dirty="0">
                <a:solidFill>
                  <a:schemeClr val="accent1"/>
                </a:solidFill>
                <a:latin typeface="Courier New" pitchFamily="34" charset="0"/>
                <a:ea typeface="Courier New" pitchFamily="34" charset="-122"/>
                <a:cs typeface="Courier New" pitchFamily="34" charset="-120"/>
              </a:rPr>
              <a:t>+</a:t>
            </a:r>
            <a:endParaRPr lang="en-US" sz="1100" dirty="0"/>
          </a:p>
        </p:txBody>
      </p:sp>
      <p:sp>
        <p:nvSpPr>
          <p:cNvPr id="24" name="panel-275"/>
          <p:cNvSpPr/>
          <p:nvPr/>
        </p:nvSpPr>
        <p:spPr>
          <a:xfrm>
            <a:off x="7269480" y="2057400"/>
            <a:ext cx="1097280" cy="384048"/>
          </a:xfrm>
          <a:prstGeom prst="roundRect">
            <a:avLst>
              <a:gd name="adj" fmla="val 19048"/>
            </a:avLst>
          </a:prstGeom>
          <a:solidFill>
            <a:schemeClr val="tx2"/>
          </a:solidFill>
          <a:ln w="9525">
            <a:solidFill>
              <a:schemeClr val="accent5"/>
            </a:solidFill>
            <a:prstDash val="solid"/>
          </a:ln>
        </p:spPr>
      </p:sp>
      <p:sp>
        <p:nvSpPr>
          <p:cNvPr id="25" name="text-276"/>
          <p:cNvSpPr txBox="1"/>
          <p:nvPr/>
        </p:nvSpPr>
        <p:spPr>
          <a:xfrm>
            <a:off x="7269480" y="2057400"/>
            <a:ext cx="1097280" cy="384048"/>
          </a:xfrm>
          <a:prstGeom prst="rect">
            <a:avLst/>
          </a:prstGeom>
          <a:noFill/>
          <a:ln/>
        </p:spPr>
        <p:txBody>
          <a:bodyPr wrap="square" lIns="0" tIns="0" rIns="0" bIns="0" rtlCol="0" anchor="ctr"/>
          <a:lstStyle/>
          <a:p>
            <a:pPr algn="ctr" indent="0" marL="0">
              <a:buNone/>
            </a:pPr>
            <a:r>
              <a:rPr lang="en-US" sz="1100" dirty="0">
                <a:solidFill>
                  <a:schemeClr val="bg1"/>
                </a:solidFill>
                <a:latin typeface="Courier New" pitchFamily="34" charset="0"/>
                <a:ea typeface="Courier New" pitchFamily="34" charset="-122"/>
                <a:cs typeface="Courier New" pitchFamily="34" charset="-120"/>
              </a:rPr>
              <a:t>term()</a:t>
            </a:r>
            <a:endParaRPr lang="en-US" sz="1100" dirty="0"/>
          </a:p>
        </p:txBody>
      </p:sp>
      <p:sp>
        <p:nvSpPr>
          <p:cNvPr id="26" name="panel-277"/>
          <p:cNvSpPr/>
          <p:nvPr/>
        </p:nvSpPr>
        <p:spPr>
          <a:xfrm>
            <a:off x="4754880" y="2743200"/>
            <a:ext cx="1097280" cy="384048"/>
          </a:xfrm>
          <a:prstGeom prst="roundRect">
            <a:avLst>
              <a:gd name="adj" fmla="val 19048"/>
            </a:avLst>
          </a:prstGeom>
          <a:solidFill>
            <a:schemeClr val="tx2"/>
          </a:solidFill>
          <a:ln w="9525">
            <a:solidFill>
              <a:schemeClr val="accent5"/>
            </a:solidFill>
            <a:prstDash val="solid"/>
          </a:ln>
        </p:spPr>
      </p:sp>
      <p:sp>
        <p:nvSpPr>
          <p:cNvPr id="27" name="text-278"/>
          <p:cNvSpPr txBox="1"/>
          <p:nvPr/>
        </p:nvSpPr>
        <p:spPr>
          <a:xfrm>
            <a:off x="4754880" y="2743200"/>
            <a:ext cx="1097280" cy="384048"/>
          </a:xfrm>
          <a:prstGeom prst="rect">
            <a:avLst/>
          </a:prstGeom>
          <a:noFill/>
          <a:ln/>
        </p:spPr>
        <p:txBody>
          <a:bodyPr wrap="square" lIns="0" tIns="0" rIns="0" bIns="0" rtlCol="0" anchor="ctr"/>
          <a:lstStyle/>
          <a:p>
            <a:pPr algn="ctr" indent="0" marL="0">
              <a:buNone/>
            </a:pPr>
            <a:r>
              <a:rPr lang="en-US" sz="1100" dirty="0">
                <a:solidFill>
                  <a:schemeClr val="bg1"/>
                </a:solidFill>
                <a:latin typeface="Courier New" pitchFamily="34" charset="0"/>
                <a:ea typeface="Courier New" pitchFamily="34" charset="-122"/>
                <a:cs typeface="Courier New" pitchFamily="34" charset="-120"/>
              </a:rPr>
              <a:t>factor: a</a:t>
            </a:r>
            <a:endParaRPr lang="en-US" sz="1100" dirty="0"/>
          </a:p>
        </p:txBody>
      </p:sp>
      <p:sp>
        <p:nvSpPr>
          <p:cNvPr id="28" name="panel-279"/>
          <p:cNvSpPr/>
          <p:nvPr/>
        </p:nvSpPr>
        <p:spPr>
          <a:xfrm>
            <a:off x="6172200" y="2743200"/>
            <a:ext cx="1005840" cy="384048"/>
          </a:xfrm>
          <a:prstGeom prst="roundRect">
            <a:avLst>
              <a:gd name="adj" fmla="val 19048"/>
            </a:avLst>
          </a:prstGeom>
          <a:solidFill>
            <a:schemeClr val="tx2"/>
          </a:solidFill>
          <a:ln w="9525">
            <a:solidFill>
              <a:schemeClr val="accent5"/>
            </a:solidFill>
            <a:prstDash val="solid"/>
          </a:ln>
        </p:spPr>
      </p:sp>
      <p:sp>
        <p:nvSpPr>
          <p:cNvPr id="29" name="text-280"/>
          <p:cNvSpPr txBox="1"/>
          <p:nvPr/>
        </p:nvSpPr>
        <p:spPr>
          <a:xfrm>
            <a:off x="6172200" y="2743200"/>
            <a:ext cx="1005840" cy="384048"/>
          </a:xfrm>
          <a:prstGeom prst="rect">
            <a:avLst/>
          </a:prstGeom>
          <a:noFill/>
          <a:ln/>
        </p:spPr>
        <p:txBody>
          <a:bodyPr wrap="square" lIns="0" tIns="0" rIns="0" bIns="0" rtlCol="0" anchor="ctr"/>
          <a:lstStyle/>
          <a:p>
            <a:pPr algn="ctr" indent="0" marL="0">
              <a:buNone/>
            </a:pPr>
            <a:r>
              <a:rPr lang="en-US" sz="1100" dirty="0">
                <a:solidFill>
                  <a:schemeClr val="bg1"/>
                </a:solidFill>
                <a:latin typeface="Courier New" pitchFamily="34" charset="0"/>
                <a:ea typeface="Courier New" pitchFamily="34" charset="-122"/>
                <a:cs typeface="Courier New" pitchFamily="34" charset="-120"/>
              </a:rPr>
              <a:t>factor: b</a:t>
            </a:r>
            <a:endParaRPr lang="en-US" sz="1100" dirty="0"/>
          </a:p>
        </p:txBody>
      </p:sp>
      <p:sp>
        <p:nvSpPr>
          <p:cNvPr id="30" name="panel-281"/>
          <p:cNvSpPr/>
          <p:nvPr/>
        </p:nvSpPr>
        <p:spPr>
          <a:xfrm>
            <a:off x="7287768" y="2743200"/>
            <a:ext cx="320040" cy="384048"/>
          </a:xfrm>
          <a:prstGeom prst="roundRect">
            <a:avLst>
              <a:gd name="adj" fmla="val 22857"/>
            </a:avLst>
          </a:prstGeom>
          <a:solidFill>
            <a:schemeClr val="tx2"/>
          </a:solidFill>
          <a:ln w="9525">
            <a:solidFill>
              <a:schemeClr val="accent5"/>
            </a:solidFill>
            <a:prstDash val="solid"/>
          </a:ln>
        </p:spPr>
      </p:sp>
      <p:sp>
        <p:nvSpPr>
          <p:cNvPr id="31" name="text-282"/>
          <p:cNvSpPr txBox="1"/>
          <p:nvPr/>
        </p:nvSpPr>
        <p:spPr>
          <a:xfrm>
            <a:off x="7287768" y="2743200"/>
            <a:ext cx="320040" cy="384048"/>
          </a:xfrm>
          <a:prstGeom prst="rect">
            <a:avLst/>
          </a:prstGeom>
          <a:noFill/>
          <a:ln/>
        </p:spPr>
        <p:txBody>
          <a:bodyPr wrap="square" lIns="0" tIns="0" rIns="0" bIns="0" rtlCol="0" anchor="ctr"/>
          <a:lstStyle/>
          <a:p>
            <a:pPr algn="ctr" indent="0" marL="0">
              <a:buNone/>
            </a:pPr>
            <a:r>
              <a:rPr lang="en-US" sz="1100" dirty="0">
                <a:solidFill>
                  <a:schemeClr val="accent1"/>
                </a:solidFill>
                <a:latin typeface="Courier New" pitchFamily="34" charset="0"/>
                <a:ea typeface="Courier New" pitchFamily="34" charset="-122"/>
                <a:cs typeface="Courier New" pitchFamily="34" charset="-120"/>
              </a:rPr>
              <a:t>*</a:t>
            </a:r>
            <a:endParaRPr lang="en-US" sz="1100" dirty="0"/>
          </a:p>
        </p:txBody>
      </p:sp>
      <p:sp>
        <p:nvSpPr>
          <p:cNvPr id="32" name="panel-283"/>
          <p:cNvSpPr/>
          <p:nvPr/>
        </p:nvSpPr>
        <p:spPr>
          <a:xfrm>
            <a:off x="7699248" y="2743200"/>
            <a:ext cx="987552" cy="384048"/>
          </a:xfrm>
          <a:prstGeom prst="roundRect">
            <a:avLst>
              <a:gd name="adj" fmla="val 19048"/>
            </a:avLst>
          </a:prstGeom>
          <a:solidFill>
            <a:schemeClr val="tx2"/>
          </a:solidFill>
          <a:ln w="9525">
            <a:solidFill>
              <a:schemeClr val="accent5"/>
            </a:solidFill>
            <a:prstDash val="solid"/>
          </a:ln>
        </p:spPr>
      </p:sp>
      <p:sp>
        <p:nvSpPr>
          <p:cNvPr id="33" name="text-284"/>
          <p:cNvSpPr txBox="1"/>
          <p:nvPr/>
        </p:nvSpPr>
        <p:spPr>
          <a:xfrm>
            <a:off x="7699248" y="2743200"/>
            <a:ext cx="987552" cy="384048"/>
          </a:xfrm>
          <a:prstGeom prst="rect">
            <a:avLst/>
          </a:prstGeom>
          <a:noFill/>
          <a:ln/>
        </p:spPr>
        <p:txBody>
          <a:bodyPr wrap="square" lIns="0" tIns="0" rIns="0" bIns="0" rtlCol="0" anchor="ctr"/>
          <a:lstStyle/>
          <a:p>
            <a:pPr algn="ctr" indent="0" marL="0">
              <a:buNone/>
            </a:pPr>
            <a:r>
              <a:rPr lang="en-US" sz="1100" dirty="0">
                <a:solidFill>
                  <a:schemeClr val="bg1"/>
                </a:solidFill>
                <a:latin typeface="Courier New" pitchFamily="34" charset="0"/>
                <a:ea typeface="Courier New" pitchFamily="34" charset="-122"/>
                <a:cs typeface="Courier New" pitchFamily="34" charset="-120"/>
              </a:rPr>
              <a:t>factor: 2</a:t>
            </a:r>
            <a:endParaRPr lang="en-US" sz="1100" dirty="0"/>
          </a:p>
        </p:txBody>
      </p:sp>
      <p:sp>
        <p:nvSpPr>
          <p:cNvPr id="34" name="arrow-285"/>
          <p:cNvSpPr/>
          <p:nvPr/>
        </p:nvSpPr>
        <p:spPr>
          <a:xfrm flipH="1">
            <a:off x="5303520" y="1755648"/>
            <a:ext cx="1097280" cy="301752"/>
          </a:xfrm>
          <a:prstGeom prst="line">
            <a:avLst/>
          </a:prstGeom>
          <a:noFill/>
          <a:ln w="15875">
            <a:solidFill>
              <a:schemeClr val="bg2"/>
            </a:solidFill>
            <a:prstDash val="solid"/>
            <a:tailEnd type="triangle"/>
          </a:ln>
        </p:spPr>
      </p:sp>
      <p:sp>
        <p:nvSpPr>
          <p:cNvPr id="35" name="arrow-286"/>
          <p:cNvSpPr/>
          <p:nvPr/>
        </p:nvSpPr>
        <p:spPr>
          <a:xfrm>
            <a:off x="6400800" y="1755648"/>
            <a:ext cx="0" cy="301752"/>
          </a:xfrm>
          <a:prstGeom prst="line">
            <a:avLst/>
          </a:prstGeom>
          <a:noFill/>
          <a:ln w="15875">
            <a:solidFill>
              <a:schemeClr val="bg2"/>
            </a:solidFill>
            <a:prstDash val="solid"/>
            <a:tailEnd type="triangle"/>
          </a:ln>
        </p:spPr>
      </p:sp>
      <p:sp>
        <p:nvSpPr>
          <p:cNvPr id="36" name="arrow-287"/>
          <p:cNvSpPr/>
          <p:nvPr/>
        </p:nvSpPr>
        <p:spPr>
          <a:xfrm>
            <a:off x="6949440" y="1755648"/>
            <a:ext cx="868680" cy="301752"/>
          </a:xfrm>
          <a:prstGeom prst="line">
            <a:avLst/>
          </a:prstGeom>
          <a:noFill/>
          <a:ln w="15875">
            <a:solidFill>
              <a:schemeClr val="bg2"/>
            </a:solidFill>
            <a:prstDash val="solid"/>
            <a:tailEnd type="triangle"/>
          </a:ln>
        </p:spPr>
      </p:sp>
      <p:sp>
        <p:nvSpPr>
          <p:cNvPr id="37" name="arrow-288"/>
          <p:cNvSpPr/>
          <p:nvPr/>
        </p:nvSpPr>
        <p:spPr>
          <a:xfrm>
            <a:off x="5303520" y="2441448"/>
            <a:ext cx="0" cy="301752"/>
          </a:xfrm>
          <a:prstGeom prst="line">
            <a:avLst/>
          </a:prstGeom>
          <a:noFill/>
          <a:ln w="15875">
            <a:solidFill>
              <a:schemeClr val="bg2"/>
            </a:solidFill>
            <a:prstDash val="solid"/>
            <a:tailEnd type="triangle"/>
          </a:ln>
        </p:spPr>
      </p:sp>
      <p:sp>
        <p:nvSpPr>
          <p:cNvPr id="38" name="arrow-289"/>
          <p:cNvSpPr/>
          <p:nvPr/>
        </p:nvSpPr>
        <p:spPr>
          <a:xfrm flipH="1">
            <a:off x="6675120" y="2441448"/>
            <a:ext cx="960120" cy="301752"/>
          </a:xfrm>
          <a:prstGeom prst="line">
            <a:avLst/>
          </a:prstGeom>
          <a:noFill/>
          <a:ln w="15875">
            <a:solidFill>
              <a:schemeClr val="bg2"/>
            </a:solidFill>
            <a:prstDash val="solid"/>
            <a:tailEnd type="triangle"/>
          </a:ln>
        </p:spPr>
      </p:sp>
      <p:sp>
        <p:nvSpPr>
          <p:cNvPr id="39" name="arrow-290"/>
          <p:cNvSpPr/>
          <p:nvPr/>
        </p:nvSpPr>
        <p:spPr>
          <a:xfrm flipH="1">
            <a:off x="7452360" y="2441448"/>
            <a:ext cx="365760" cy="301752"/>
          </a:xfrm>
          <a:prstGeom prst="line">
            <a:avLst/>
          </a:prstGeom>
          <a:noFill/>
          <a:ln w="15875">
            <a:solidFill>
              <a:schemeClr val="bg2"/>
            </a:solidFill>
            <a:prstDash val="solid"/>
            <a:tailEnd type="triangle"/>
          </a:ln>
        </p:spPr>
      </p:sp>
      <p:sp>
        <p:nvSpPr>
          <p:cNvPr id="40" name="arrow-291"/>
          <p:cNvSpPr/>
          <p:nvPr/>
        </p:nvSpPr>
        <p:spPr>
          <a:xfrm>
            <a:off x="8046720" y="2441448"/>
            <a:ext cx="146304" cy="301752"/>
          </a:xfrm>
          <a:prstGeom prst="line">
            <a:avLst/>
          </a:prstGeom>
          <a:noFill/>
          <a:ln w="15875">
            <a:solidFill>
              <a:schemeClr val="bg2"/>
            </a:solidFill>
            <a:prstDash val="solid"/>
            <a:tailEnd type="triangle"/>
          </a:ln>
        </p:spPr>
      </p:sp>
      <p:sp>
        <p:nvSpPr>
          <p:cNvPr id="41" name="text-292"/>
          <p:cNvSpPr txBox="1"/>
          <p:nvPr/>
        </p:nvSpPr>
        <p:spPr>
          <a:xfrm>
            <a:off x="4754880" y="3291840"/>
            <a:ext cx="3931920" cy="457200"/>
          </a:xfrm>
          <a:prstGeom prst="rect">
            <a:avLst/>
          </a:prstGeom>
          <a:noFill/>
          <a:ln/>
        </p:spPr>
        <p:txBody>
          <a:bodyPr wrap="square" lIns="0" tIns="0" rIns="0" bIns="0" rtlCol="0" anchor="t"/>
          <a:lstStyle/>
          <a:p>
            <a:pPr indent="0" marL="0">
              <a:buNone/>
            </a:pPr>
            <a:r>
              <a:rPr lang="en-US" sz="1200" dirty="0">
                <a:solidFill>
                  <a:schemeClr val="bg2"/>
                </a:solidFill>
              </a:rPr>
              <a:t>b * 2 finishes inside the right-hand term() before + is applied, so the TAC computes it first.</a:t>
            </a:r>
            <a:endParaRPr lang="en-US" sz="1200" dirty="0"/>
          </a:p>
        </p:txBody>
      </p:sp>
      <p:sp>
        <p:nvSpPr>
          <p:cNvPr id="42" name="panel-293"/>
          <p:cNvSpPr/>
          <p:nvPr/>
        </p:nvSpPr>
        <p:spPr>
          <a:xfrm>
            <a:off x="457200" y="3931920"/>
            <a:ext cx="8229600" cy="594360"/>
          </a:xfrm>
          <a:prstGeom prst="roundRect">
            <a:avLst>
              <a:gd name="adj" fmla="val 12308"/>
            </a:avLst>
          </a:prstGeom>
          <a:solidFill>
            <a:schemeClr val="tx2"/>
          </a:solidFill>
          <a:ln w="9525">
            <a:solidFill>
              <a:schemeClr val="accent5"/>
            </a:solidFill>
            <a:prstDash val="solid"/>
          </a:ln>
        </p:spPr>
      </p:sp>
      <p:sp>
        <p:nvSpPr>
          <p:cNvPr id="43" name="text-294"/>
          <p:cNvSpPr txBox="1"/>
          <p:nvPr/>
        </p:nvSpPr>
        <p:spPr>
          <a:xfrm>
            <a:off x="640080" y="3931920"/>
            <a:ext cx="7863840" cy="594360"/>
          </a:xfrm>
          <a:prstGeom prst="rect">
            <a:avLst/>
          </a:prstGeom>
          <a:noFill/>
          <a:ln/>
        </p:spPr>
        <p:txBody>
          <a:bodyPr wrap="square" lIns="0" tIns="0" rIns="0" bIns="0" rtlCol="0" anchor="ctr"/>
          <a:lstStyle/>
          <a:p>
            <a:pPr indent="0" marL="0">
              <a:buNone/>
            </a:pPr>
            <a:r>
              <a:rPr lang="en-US" sz="1300" b="1" dirty="0">
                <a:solidFill>
                  <a:schemeClr val="bg1"/>
                </a:solidFill>
              </a:rPr>
              <a:t>Precedence comes from the grammar, not a table.  </a:t>
            </a:r>
            <a:pPr indent="0" marL="0">
              <a:buNone/>
            </a:pPr>
            <a:r>
              <a:rPr lang="en-US" sz="1300" dirty="0">
                <a:solidFill>
                  <a:schemeClr val="bg2"/>
                </a:solidFill>
              </a:rPr>
              <a:t>Loops make operators left-associative: 10 - 4 - 3 = (10 - 4) - 3.</a:t>
            </a:r>
            <a:endParaRPr lang="en-US" sz="1300" dirty="0"/>
          </a:p>
        </p:txBody>
      </p:sp>
      <p:sp>
        <p:nvSpPr>
          <p:cNvPr id="25" name="Slide Number Placeholder 0"/>
          <p:cNvSpPr>
            <a:spLocks noGrp="1"/>
          </p:cNvSpPr>
          <p:nvPr>
            <p:ph type="sldNum" sz="quarter" idx="4294967295"/>
          </p:nvPr>
        </p:nvSpPr>
        <p:spPr>
          <a:xfrm>
            <a:off x="8321040" y="473659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600" b="1" dirty="0">
                <a:solidFill>
                  <a:schemeClr val="bg1"/>
                </a:solidFill>
              </a:rPr>
              <a:t>Parse, check and emit in one pass</a:t>
            </a:r>
            <a:endParaRPr lang="en-US" sz="2600" dirty="0"/>
          </a:p>
        </p:txBody>
      </p:sp>
      <p:sp>
        <p:nvSpPr>
          <p:cNvPr id="4" name="phase-295"/>
          <p:cNvSpPr/>
          <p:nvPr/>
        </p:nvSpPr>
        <p:spPr>
          <a:xfrm>
            <a:off x="457200" y="4718304"/>
            <a:ext cx="868680" cy="256032"/>
          </a:xfrm>
          <a:prstGeom prst="roundRect">
            <a:avLst>
              <a:gd name="adj" fmla="val 17857"/>
            </a:avLst>
          </a:prstGeom>
          <a:solidFill>
            <a:schemeClr val="tx2"/>
          </a:solidFill>
          <a:ln w="9525">
            <a:solidFill>
              <a:schemeClr val="accent5"/>
            </a:solidFill>
            <a:prstDash val="solid"/>
          </a:ln>
        </p:spPr>
      </p:sp>
      <p:sp>
        <p:nvSpPr>
          <p:cNvPr id="5" name="text-296"/>
          <p:cNvSpPr txBox="1"/>
          <p:nvPr/>
        </p:nvSpPr>
        <p:spPr>
          <a:xfrm>
            <a:off x="457200" y="4718304"/>
            <a:ext cx="868680" cy="256032"/>
          </a:xfrm>
          <a:prstGeom prst="rect">
            <a:avLst/>
          </a:prstGeom>
          <a:noFill/>
          <a:ln/>
        </p:spPr>
        <p:txBody>
          <a:bodyPr wrap="square" lIns="0" tIns="0" rIns="0" bIns="0" rtlCol="0" anchor="ctr"/>
          <a:lstStyle/>
          <a:p>
            <a:pPr algn="ctr" indent="0" marL="0">
              <a:buNone/>
            </a:pPr>
            <a:r>
              <a:rPr lang="en-US" sz="1000" dirty="0">
                <a:solidFill>
                  <a:schemeClr val="bg2"/>
                </a:solidFill>
              </a:rPr>
              <a:t>1 Lexical</a:t>
            </a:r>
            <a:endParaRPr lang="en-US" sz="1000" dirty="0"/>
          </a:p>
        </p:txBody>
      </p:sp>
      <p:sp>
        <p:nvSpPr>
          <p:cNvPr id="6" name="phase-297"/>
          <p:cNvSpPr/>
          <p:nvPr/>
        </p:nvSpPr>
        <p:spPr>
          <a:xfrm>
            <a:off x="1389888" y="4718304"/>
            <a:ext cx="868680" cy="256032"/>
          </a:xfrm>
          <a:prstGeom prst="roundRect">
            <a:avLst>
              <a:gd name="adj" fmla="val 17857"/>
            </a:avLst>
          </a:prstGeom>
          <a:solidFill>
            <a:schemeClr val="accent1"/>
          </a:solidFill>
          <a:ln w="9525">
            <a:solidFill>
              <a:schemeClr val="accent1"/>
            </a:solidFill>
            <a:prstDash val="solid"/>
          </a:ln>
        </p:spPr>
      </p:sp>
      <p:sp>
        <p:nvSpPr>
          <p:cNvPr id="7" name="text-298"/>
          <p:cNvSpPr txBox="1"/>
          <p:nvPr/>
        </p:nvSpPr>
        <p:spPr>
          <a:xfrm>
            <a:off x="1389888" y="4718304"/>
            <a:ext cx="868680" cy="256032"/>
          </a:xfrm>
          <a:prstGeom prst="rect">
            <a:avLst/>
          </a:prstGeom>
          <a:noFill/>
          <a:ln/>
        </p:spPr>
        <p:txBody>
          <a:bodyPr wrap="square" lIns="0" tIns="0" rIns="0" bIns="0" rtlCol="0" anchor="ctr"/>
          <a:lstStyle/>
          <a:p>
            <a:pPr algn="ctr" indent="0" marL="0">
              <a:buNone/>
            </a:pPr>
            <a:r>
              <a:rPr lang="en-US" sz="1000" b="1" dirty="0">
                <a:solidFill>
                  <a:schemeClr val="tx1"/>
                </a:solidFill>
              </a:rPr>
              <a:t>2 Syntax</a:t>
            </a:r>
            <a:endParaRPr lang="en-US" sz="1000" dirty="0"/>
          </a:p>
        </p:txBody>
      </p:sp>
      <p:sp>
        <p:nvSpPr>
          <p:cNvPr id="8" name="phase-299"/>
          <p:cNvSpPr/>
          <p:nvPr/>
        </p:nvSpPr>
        <p:spPr>
          <a:xfrm>
            <a:off x="2322576" y="4718304"/>
            <a:ext cx="868680" cy="256032"/>
          </a:xfrm>
          <a:prstGeom prst="roundRect">
            <a:avLst>
              <a:gd name="adj" fmla="val 17857"/>
            </a:avLst>
          </a:prstGeom>
          <a:solidFill>
            <a:schemeClr val="tx2"/>
          </a:solidFill>
          <a:ln w="9525">
            <a:solidFill>
              <a:schemeClr val="accent5"/>
            </a:solidFill>
            <a:prstDash val="solid"/>
          </a:ln>
        </p:spPr>
      </p:sp>
      <p:sp>
        <p:nvSpPr>
          <p:cNvPr id="9" name="text-300"/>
          <p:cNvSpPr txBox="1"/>
          <p:nvPr/>
        </p:nvSpPr>
        <p:spPr>
          <a:xfrm>
            <a:off x="2322576" y="4718304"/>
            <a:ext cx="868680" cy="256032"/>
          </a:xfrm>
          <a:prstGeom prst="rect">
            <a:avLst/>
          </a:prstGeom>
          <a:noFill/>
          <a:ln/>
        </p:spPr>
        <p:txBody>
          <a:bodyPr wrap="square" lIns="0" tIns="0" rIns="0" bIns="0" rtlCol="0" anchor="ctr"/>
          <a:lstStyle/>
          <a:p>
            <a:pPr algn="ctr" indent="0" marL="0">
              <a:buNone/>
            </a:pPr>
            <a:r>
              <a:rPr lang="en-US" sz="1000" dirty="0">
                <a:solidFill>
                  <a:schemeClr val="bg2"/>
                </a:solidFill>
              </a:rPr>
              <a:t>3 Semantic</a:t>
            </a:r>
            <a:endParaRPr lang="en-US" sz="1000" dirty="0"/>
          </a:p>
        </p:txBody>
      </p:sp>
      <p:sp>
        <p:nvSpPr>
          <p:cNvPr id="10" name="phase-301"/>
          <p:cNvSpPr/>
          <p:nvPr/>
        </p:nvSpPr>
        <p:spPr>
          <a:xfrm>
            <a:off x="3255264" y="4718304"/>
            <a:ext cx="868680" cy="256032"/>
          </a:xfrm>
          <a:prstGeom prst="roundRect">
            <a:avLst>
              <a:gd name="adj" fmla="val 17857"/>
            </a:avLst>
          </a:prstGeom>
          <a:solidFill>
            <a:schemeClr val="tx2"/>
          </a:solidFill>
          <a:ln w="9525">
            <a:solidFill>
              <a:schemeClr val="accent5"/>
            </a:solidFill>
            <a:prstDash val="solid"/>
          </a:ln>
        </p:spPr>
      </p:sp>
      <p:sp>
        <p:nvSpPr>
          <p:cNvPr id="11" name="text-302"/>
          <p:cNvSpPr txBox="1"/>
          <p:nvPr/>
        </p:nvSpPr>
        <p:spPr>
          <a:xfrm>
            <a:off x="3255264" y="4718304"/>
            <a:ext cx="868680" cy="256032"/>
          </a:xfrm>
          <a:prstGeom prst="rect">
            <a:avLst/>
          </a:prstGeom>
          <a:noFill/>
          <a:ln/>
        </p:spPr>
        <p:txBody>
          <a:bodyPr wrap="square" lIns="0" tIns="0" rIns="0" bIns="0" rtlCol="0" anchor="ctr"/>
          <a:lstStyle/>
          <a:p>
            <a:pPr algn="ctr" indent="0" marL="0">
              <a:buNone/>
            </a:pPr>
            <a:r>
              <a:rPr lang="en-US" sz="1000" dirty="0">
                <a:solidFill>
                  <a:schemeClr val="bg2"/>
                </a:solidFill>
              </a:rPr>
              <a:t>4 TAC</a:t>
            </a:r>
            <a:endParaRPr lang="en-US" sz="1000" dirty="0"/>
          </a:p>
        </p:txBody>
      </p:sp>
      <p:sp>
        <p:nvSpPr>
          <p:cNvPr id="12" name="phase-303"/>
          <p:cNvSpPr/>
          <p:nvPr/>
        </p:nvSpPr>
        <p:spPr>
          <a:xfrm>
            <a:off x="4187952" y="4718304"/>
            <a:ext cx="868680" cy="256032"/>
          </a:xfrm>
          <a:prstGeom prst="roundRect">
            <a:avLst>
              <a:gd name="adj" fmla="val 17857"/>
            </a:avLst>
          </a:prstGeom>
          <a:solidFill>
            <a:schemeClr val="tx2"/>
          </a:solidFill>
          <a:ln w="9525">
            <a:solidFill>
              <a:schemeClr val="accent5"/>
            </a:solidFill>
            <a:prstDash val="solid"/>
          </a:ln>
        </p:spPr>
      </p:sp>
      <p:sp>
        <p:nvSpPr>
          <p:cNvPr id="13" name="text-304"/>
          <p:cNvSpPr txBox="1"/>
          <p:nvPr/>
        </p:nvSpPr>
        <p:spPr>
          <a:xfrm>
            <a:off x="4187952" y="4718304"/>
            <a:ext cx="868680" cy="256032"/>
          </a:xfrm>
          <a:prstGeom prst="rect">
            <a:avLst/>
          </a:prstGeom>
          <a:noFill/>
          <a:ln/>
        </p:spPr>
        <p:txBody>
          <a:bodyPr wrap="square" lIns="0" tIns="0" rIns="0" bIns="0" rtlCol="0" anchor="ctr"/>
          <a:lstStyle/>
          <a:p>
            <a:pPr algn="ctr" indent="0" marL="0">
              <a:buNone/>
            </a:pPr>
            <a:r>
              <a:rPr lang="en-US" sz="1000" dirty="0">
                <a:solidFill>
                  <a:schemeClr val="bg2"/>
                </a:solidFill>
              </a:rPr>
              <a:t>5 Errors</a:t>
            </a:r>
            <a:endParaRPr lang="en-US" sz="1000" dirty="0"/>
          </a:p>
        </p:txBody>
      </p:sp>
      <p:sp>
        <p:nvSpPr>
          <p:cNvPr id="14" name="chip-305"/>
          <p:cNvSpPr/>
          <p:nvPr/>
        </p:nvSpPr>
        <p:spPr>
          <a:xfrm>
            <a:off x="457200" y="1188720"/>
            <a:ext cx="384048" cy="384048"/>
          </a:xfrm>
          <a:prstGeom prst="roundRect">
            <a:avLst>
              <a:gd name="adj" fmla="val 14286"/>
            </a:avLst>
          </a:prstGeom>
          <a:solidFill>
            <a:schemeClr val="tx2"/>
          </a:solidFill>
          <a:ln w="12700">
            <a:solidFill>
              <a:schemeClr val="accent1"/>
            </a:solidFill>
            <a:prstDash val="solid"/>
          </a:ln>
        </p:spPr>
      </p:sp>
      <p:sp>
        <p:nvSpPr>
          <p:cNvPr id="15" name="text-306"/>
          <p:cNvSpPr txBox="1"/>
          <p:nvPr/>
        </p:nvSpPr>
        <p:spPr>
          <a:xfrm>
            <a:off x="457200" y="1188720"/>
            <a:ext cx="384048" cy="384048"/>
          </a:xfrm>
          <a:prstGeom prst="rect">
            <a:avLst/>
          </a:prstGeom>
          <a:noFill/>
          <a:ln/>
        </p:spPr>
        <p:txBody>
          <a:bodyPr wrap="square" lIns="0" tIns="0" rIns="0" bIns="0" rtlCol="0" anchor="ctr"/>
          <a:lstStyle/>
          <a:p>
            <a:pPr algn="ctr" indent="0" marL="0">
              <a:buNone/>
            </a:pPr>
            <a:r>
              <a:rPr lang="en-US" sz="1400" b="1" dirty="0">
                <a:solidFill>
                  <a:schemeClr val="accent1"/>
                </a:solidFill>
              </a:rPr>
              <a:t>1</a:t>
            </a:r>
            <a:endParaRPr lang="en-US" sz="1400" dirty="0"/>
          </a:p>
        </p:txBody>
      </p:sp>
      <p:sp>
        <p:nvSpPr>
          <p:cNvPr id="16" name="text-307"/>
          <p:cNvSpPr txBox="1"/>
          <p:nvPr/>
        </p:nvSpPr>
        <p:spPr>
          <a:xfrm>
            <a:off x="1005840" y="1097280"/>
            <a:ext cx="4114800" cy="594360"/>
          </a:xfrm>
          <a:prstGeom prst="rect">
            <a:avLst/>
          </a:prstGeom>
          <a:noFill/>
          <a:ln/>
        </p:spPr>
        <p:txBody>
          <a:bodyPr wrap="square" lIns="0" tIns="0" rIns="0" bIns="0" rtlCol="0" anchor="t"/>
          <a:lstStyle/>
          <a:p>
            <a:pPr indent="0" marL="0">
              <a:buNone/>
            </a:pPr>
            <a:r>
              <a:rPr lang="en-US" sz="1300" b="1" dirty="0">
                <a:solidFill>
                  <a:schemeClr val="bg1"/>
                </a:solidFill>
                <a:latin typeface="Courier New" pitchFamily="34" charset="0"/>
                <a:ea typeface="Courier New" pitchFamily="34" charset="-122"/>
                <a:cs typeface="Courier New" pitchFamily="34" charset="-120"/>
              </a:rPr>
              <a:t>declaration()</a:t>
            </a:r>
            <a:endParaRPr lang="en-US" sz="1300" dirty="0"/>
          </a:p>
          <a:p>
            <a:pPr indent="0" marL="0">
              <a:buNone/>
            </a:pPr>
            <a:r>
              <a:rPr lang="en-US" sz="1200" dirty="0">
                <a:solidFill>
                  <a:schemeClr val="bg2"/>
                </a:solidFill>
              </a:rPr>
              <a:t>sees int c =, calls expression()</a:t>
            </a:r>
            <a:endParaRPr lang="en-US" sz="1300" dirty="0"/>
          </a:p>
        </p:txBody>
      </p:sp>
      <p:sp>
        <p:nvSpPr>
          <p:cNvPr id="17" name="chip-308"/>
          <p:cNvSpPr/>
          <p:nvPr/>
        </p:nvSpPr>
        <p:spPr>
          <a:xfrm>
            <a:off x="457200" y="1874520"/>
            <a:ext cx="384048" cy="384048"/>
          </a:xfrm>
          <a:prstGeom prst="roundRect">
            <a:avLst>
              <a:gd name="adj" fmla="val 14286"/>
            </a:avLst>
          </a:prstGeom>
          <a:solidFill>
            <a:schemeClr val="tx2"/>
          </a:solidFill>
          <a:ln w="12700">
            <a:solidFill>
              <a:schemeClr val="accent1"/>
            </a:solidFill>
            <a:prstDash val="solid"/>
          </a:ln>
        </p:spPr>
      </p:sp>
      <p:sp>
        <p:nvSpPr>
          <p:cNvPr id="18" name="text-309"/>
          <p:cNvSpPr txBox="1"/>
          <p:nvPr/>
        </p:nvSpPr>
        <p:spPr>
          <a:xfrm>
            <a:off x="457200" y="1874520"/>
            <a:ext cx="384048" cy="384048"/>
          </a:xfrm>
          <a:prstGeom prst="rect">
            <a:avLst/>
          </a:prstGeom>
          <a:noFill/>
          <a:ln/>
        </p:spPr>
        <p:txBody>
          <a:bodyPr wrap="square" lIns="0" tIns="0" rIns="0" bIns="0" rtlCol="0" anchor="ctr"/>
          <a:lstStyle/>
          <a:p>
            <a:pPr algn="ctr" indent="0" marL="0">
              <a:buNone/>
            </a:pPr>
            <a:r>
              <a:rPr lang="en-US" sz="1400" b="1" dirty="0">
                <a:solidFill>
                  <a:schemeClr val="accent1"/>
                </a:solidFill>
              </a:rPr>
              <a:t>2</a:t>
            </a:r>
            <a:endParaRPr lang="en-US" sz="1400" dirty="0"/>
          </a:p>
        </p:txBody>
      </p:sp>
      <p:sp>
        <p:nvSpPr>
          <p:cNvPr id="19" name="text-310"/>
          <p:cNvSpPr txBox="1"/>
          <p:nvPr/>
        </p:nvSpPr>
        <p:spPr>
          <a:xfrm>
            <a:off x="1005840" y="1783080"/>
            <a:ext cx="4114800" cy="594360"/>
          </a:xfrm>
          <a:prstGeom prst="rect">
            <a:avLst/>
          </a:prstGeom>
          <a:noFill/>
          <a:ln/>
        </p:spPr>
        <p:txBody>
          <a:bodyPr wrap="square" lIns="0" tIns="0" rIns="0" bIns="0" rtlCol="0" anchor="t"/>
          <a:lstStyle/>
          <a:p>
            <a:pPr indent="0" marL="0">
              <a:buNone/>
            </a:pPr>
            <a:r>
              <a:rPr lang="en-US" sz="1300" b="1" dirty="0">
                <a:solidFill>
                  <a:schemeClr val="bg1"/>
                </a:solidFill>
                <a:latin typeface="Courier New" pitchFamily="34" charset="0"/>
                <a:ea typeface="Courier New" pitchFamily="34" charset="-122"/>
                <a:cs typeface="Courier New" pitchFamily="34" charset="-120"/>
              </a:rPr>
              <a:t>term() → a</a:t>
            </a:r>
            <a:endParaRPr lang="en-US" sz="1300" dirty="0"/>
          </a:p>
          <a:p>
            <a:pPr indent="0" marL="0">
              <a:buNone/>
            </a:pPr>
            <a:r>
              <a:rPr lang="en-US" sz="1200" dirty="0">
                <a:solidFill>
                  <a:schemeClr val="bg2"/>
                </a:solidFill>
              </a:rPr>
              <a:t>first operand, + is next</a:t>
            </a:r>
            <a:endParaRPr lang="en-US" sz="1300" dirty="0"/>
          </a:p>
        </p:txBody>
      </p:sp>
      <p:sp>
        <p:nvSpPr>
          <p:cNvPr id="20" name="chip-311"/>
          <p:cNvSpPr/>
          <p:nvPr/>
        </p:nvSpPr>
        <p:spPr>
          <a:xfrm>
            <a:off x="457200" y="2560320"/>
            <a:ext cx="384048" cy="384048"/>
          </a:xfrm>
          <a:prstGeom prst="roundRect">
            <a:avLst>
              <a:gd name="adj" fmla="val 14286"/>
            </a:avLst>
          </a:prstGeom>
          <a:solidFill>
            <a:schemeClr val="tx2"/>
          </a:solidFill>
          <a:ln w="12700">
            <a:solidFill>
              <a:schemeClr val="accent1"/>
            </a:solidFill>
            <a:prstDash val="solid"/>
          </a:ln>
        </p:spPr>
      </p:sp>
      <p:sp>
        <p:nvSpPr>
          <p:cNvPr id="21" name="text-312"/>
          <p:cNvSpPr txBox="1"/>
          <p:nvPr/>
        </p:nvSpPr>
        <p:spPr>
          <a:xfrm>
            <a:off x="457200" y="2560320"/>
            <a:ext cx="384048" cy="384048"/>
          </a:xfrm>
          <a:prstGeom prst="rect">
            <a:avLst/>
          </a:prstGeom>
          <a:noFill/>
          <a:ln/>
        </p:spPr>
        <p:txBody>
          <a:bodyPr wrap="square" lIns="0" tIns="0" rIns="0" bIns="0" rtlCol="0" anchor="ctr"/>
          <a:lstStyle/>
          <a:p>
            <a:pPr algn="ctr" indent="0" marL="0">
              <a:buNone/>
            </a:pPr>
            <a:r>
              <a:rPr lang="en-US" sz="1400" b="1" dirty="0">
                <a:solidFill>
                  <a:schemeClr val="accent1"/>
                </a:solidFill>
              </a:rPr>
              <a:t>3</a:t>
            </a:r>
            <a:endParaRPr lang="en-US" sz="1400" dirty="0"/>
          </a:p>
        </p:txBody>
      </p:sp>
      <p:sp>
        <p:nvSpPr>
          <p:cNvPr id="22" name="text-313"/>
          <p:cNvSpPr txBox="1"/>
          <p:nvPr/>
        </p:nvSpPr>
        <p:spPr>
          <a:xfrm>
            <a:off x="1005840" y="2468880"/>
            <a:ext cx="4114800" cy="594360"/>
          </a:xfrm>
          <a:prstGeom prst="rect">
            <a:avLst/>
          </a:prstGeom>
          <a:noFill/>
          <a:ln/>
        </p:spPr>
        <p:txBody>
          <a:bodyPr wrap="square" lIns="0" tIns="0" rIns="0" bIns="0" rtlCol="0" anchor="t"/>
          <a:lstStyle/>
          <a:p>
            <a:pPr indent="0" marL="0">
              <a:buNone/>
            </a:pPr>
            <a:r>
              <a:rPr lang="en-US" sz="1300" b="1" dirty="0">
                <a:solidFill>
                  <a:schemeClr val="bg1"/>
                </a:solidFill>
                <a:latin typeface="Courier New" pitchFamily="34" charset="0"/>
                <a:ea typeface="Courier New" pitchFamily="34" charset="-122"/>
                <a:cs typeface="Courier New" pitchFamily="34" charset="-120"/>
              </a:rPr>
              <a:t>term() → b * 2</a:t>
            </a:r>
            <a:endParaRPr lang="en-US" sz="1300" dirty="0"/>
          </a:p>
          <a:p>
            <a:pPr indent="0" marL="0">
              <a:buNone/>
            </a:pPr>
            <a:r>
              <a:rPr lang="en-US" sz="1200" dirty="0">
                <a:solidFill>
                  <a:schemeClr val="bg2"/>
                </a:solidFill>
              </a:rPr>
              <a:t>binary() emits  t1 = b * 2</a:t>
            </a:r>
            <a:endParaRPr lang="en-US" sz="1300" dirty="0"/>
          </a:p>
        </p:txBody>
      </p:sp>
      <p:sp>
        <p:nvSpPr>
          <p:cNvPr id="23" name="chip-314"/>
          <p:cNvSpPr/>
          <p:nvPr/>
        </p:nvSpPr>
        <p:spPr>
          <a:xfrm>
            <a:off x="457200" y="3246120"/>
            <a:ext cx="384048" cy="384048"/>
          </a:xfrm>
          <a:prstGeom prst="roundRect">
            <a:avLst>
              <a:gd name="adj" fmla="val 14286"/>
            </a:avLst>
          </a:prstGeom>
          <a:solidFill>
            <a:schemeClr val="tx2"/>
          </a:solidFill>
          <a:ln w="12700">
            <a:solidFill>
              <a:schemeClr val="accent1"/>
            </a:solidFill>
            <a:prstDash val="solid"/>
          </a:ln>
        </p:spPr>
      </p:sp>
      <p:sp>
        <p:nvSpPr>
          <p:cNvPr id="24" name="text-315"/>
          <p:cNvSpPr txBox="1"/>
          <p:nvPr/>
        </p:nvSpPr>
        <p:spPr>
          <a:xfrm>
            <a:off x="457200" y="3246120"/>
            <a:ext cx="384048" cy="384048"/>
          </a:xfrm>
          <a:prstGeom prst="rect">
            <a:avLst/>
          </a:prstGeom>
          <a:noFill/>
          <a:ln/>
        </p:spPr>
        <p:txBody>
          <a:bodyPr wrap="square" lIns="0" tIns="0" rIns="0" bIns="0" rtlCol="0" anchor="ctr"/>
          <a:lstStyle/>
          <a:p>
            <a:pPr algn="ctr" indent="0" marL="0">
              <a:buNone/>
            </a:pPr>
            <a:r>
              <a:rPr lang="en-US" sz="1400" b="1" dirty="0">
                <a:solidFill>
                  <a:schemeClr val="accent1"/>
                </a:solidFill>
              </a:rPr>
              <a:t>4</a:t>
            </a:r>
            <a:endParaRPr lang="en-US" sz="1400" dirty="0"/>
          </a:p>
        </p:txBody>
      </p:sp>
      <p:sp>
        <p:nvSpPr>
          <p:cNvPr id="25" name="text-316"/>
          <p:cNvSpPr txBox="1"/>
          <p:nvPr/>
        </p:nvSpPr>
        <p:spPr>
          <a:xfrm>
            <a:off x="1005840" y="3154680"/>
            <a:ext cx="4114800" cy="594360"/>
          </a:xfrm>
          <a:prstGeom prst="rect">
            <a:avLst/>
          </a:prstGeom>
          <a:noFill/>
          <a:ln/>
        </p:spPr>
        <p:txBody>
          <a:bodyPr wrap="square" lIns="0" tIns="0" rIns="0" bIns="0" rtlCol="0" anchor="t"/>
          <a:lstStyle/>
          <a:p>
            <a:pPr indent="0" marL="0">
              <a:buNone/>
            </a:pPr>
            <a:r>
              <a:rPr lang="en-US" sz="1300" b="1" dirty="0">
                <a:solidFill>
                  <a:schemeClr val="bg1"/>
                </a:solidFill>
                <a:latin typeface="Courier New" pitchFamily="34" charset="0"/>
                <a:ea typeface="Courier New" pitchFamily="34" charset="-122"/>
                <a:cs typeface="Courier New" pitchFamily="34" charset="-120"/>
              </a:rPr>
              <a:t>expression()</a:t>
            </a:r>
            <a:endParaRPr lang="en-US" sz="1300" dirty="0"/>
          </a:p>
          <a:p>
            <a:pPr indent="0" marL="0">
              <a:buNone/>
            </a:pPr>
            <a:r>
              <a:rPr lang="en-US" sz="1200" dirty="0">
                <a:solidFill>
                  <a:schemeClr val="bg2"/>
                </a:solidFill>
              </a:rPr>
              <a:t>binary() emits  t2 = a + t1</a:t>
            </a:r>
            <a:endParaRPr lang="en-US" sz="1300" dirty="0"/>
          </a:p>
        </p:txBody>
      </p:sp>
      <p:sp>
        <p:nvSpPr>
          <p:cNvPr id="26" name="chip-317"/>
          <p:cNvSpPr/>
          <p:nvPr/>
        </p:nvSpPr>
        <p:spPr>
          <a:xfrm>
            <a:off x="457200" y="3931920"/>
            <a:ext cx="384048" cy="384048"/>
          </a:xfrm>
          <a:prstGeom prst="roundRect">
            <a:avLst>
              <a:gd name="adj" fmla="val 14286"/>
            </a:avLst>
          </a:prstGeom>
          <a:solidFill>
            <a:schemeClr val="tx2"/>
          </a:solidFill>
          <a:ln w="12700">
            <a:solidFill>
              <a:schemeClr val="accent1"/>
            </a:solidFill>
            <a:prstDash val="solid"/>
          </a:ln>
        </p:spPr>
      </p:sp>
      <p:sp>
        <p:nvSpPr>
          <p:cNvPr id="27" name="text-318"/>
          <p:cNvSpPr txBox="1"/>
          <p:nvPr/>
        </p:nvSpPr>
        <p:spPr>
          <a:xfrm>
            <a:off x="457200" y="3931920"/>
            <a:ext cx="384048" cy="384048"/>
          </a:xfrm>
          <a:prstGeom prst="rect">
            <a:avLst/>
          </a:prstGeom>
          <a:noFill/>
          <a:ln/>
        </p:spPr>
        <p:txBody>
          <a:bodyPr wrap="square" lIns="0" tIns="0" rIns="0" bIns="0" rtlCol="0" anchor="ctr"/>
          <a:lstStyle/>
          <a:p>
            <a:pPr algn="ctr" indent="0" marL="0">
              <a:buNone/>
            </a:pPr>
            <a:r>
              <a:rPr lang="en-US" sz="1400" b="1" dirty="0">
                <a:solidFill>
                  <a:schemeClr val="accent1"/>
                </a:solidFill>
              </a:rPr>
              <a:t>5</a:t>
            </a:r>
            <a:endParaRPr lang="en-US" sz="1400" dirty="0"/>
          </a:p>
        </p:txBody>
      </p:sp>
      <p:sp>
        <p:nvSpPr>
          <p:cNvPr id="28" name="text-319"/>
          <p:cNvSpPr txBox="1"/>
          <p:nvPr/>
        </p:nvSpPr>
        <p:spPr>
          <a:xfrm>
            <a:off x="1005840" y="3840480"/>
            <a:ext cx="4114800" cy="594360"/>
          </a:xfrm>
          <a:prstGeom prst="rect">
            <a:avLst/>
          </a:prstGeom>
          <a:noFill/>
          <a:ln/>
        </p:spPr>
        <p:txBody>
          <a:bodyPr wrap="square" lIns="0" tIns="0" rIns="0" bIns="0" rtlCol="0" anchor="t"/>
          <a:lstStyle/>
          <a:p>
            <a:pPr indent="0" marL="0">
              <a:buNone/>
            </a:pPr>
            <a:r>
              <a:rPr lang="en-US" sz="1300" b="1" dirty="0">
                <a:solidFill>
                  <a:schemeClr val="bg1"/>
                </a:solidFill>
                <a:latin typeface="Courier New" pitchFamily="34" charset="0"/>
                <a:ea typeface="Courier New" pitchFamily="34" charset="-122"/>
                <a:cs typeface="Courier New" pitchFamily="34" charset="-120"/>
              </a:rPr>
              <a:t>expectSemicolon()</a:t>
            </a:r>
            <a:endParaRPr lang="en-US" sz="1300" dirty="0"/>
          </a:p>
          <a:p>
            <a:pPr indent="0" marL="0">
              <a:buNone/>
            </a:pPr>
            <a:r>
              <a:rPr lang="en-US" sz="1200" dirty="0">
                <a:solidFill>
                  <a:schemeClr val="bg2"/>
                </a:solidFill>
              </a:rPr>
              <a:t>; found, c enters the symbol table, emit  c = t2</a:t>
            </a:r>
            <a:endParaRPr lang="en-US" sz="1300" dirty="0"/>
          </a:p>
        </p:txBody>
      </p:sp>
      <p:sp>
        <p:nvSpPr>
          <p:cNvPr id="29" name="text-320"/>
          <p:cNvSpPr txBox="1"/>
          <p:nvPr/>
        </p:nvSpPr>
        <p:spPr>
          <a:xfrm>
            <a:off x="5486400" y="1051560"/>
            <a:ext cx="3200400" cy="228600"/>
          </a:xfrm>
          <a:prstGeom prst="rect">
            <a:avLst/>
          </a:prstGeom>
          <a:noFill/>
          <a:ln/>
        </p:spPr>
        <p:txBody>
          <a:bodyPr wrap="square" lIns="0" tIns="0" rIns="0" bIns="0" rtlCol="0" anchor="t"/>
          <a:lstStyle/>
          <a:p>
            <a:pPr indent="0" marL="0">
              <a:buNone/>
            </a:pPr>
            <a:r>
              <a:rPr lang="en-US" sz="1000" b="1" spc="150" kern="0" dirty="0">
                <a:solidFill>
                  <a:schemeClr val="bg2"/>
                </a:solidFill>
              </a:rPr>
              <a:t>TAC · PRECEDENCE.TXT</a:t>
            </a:r>
            <a:endParaRPr lang="en-US" sz="1000" dirty="0"/>
          </a:p>
        </p:txBody>
      </p:sp>
      <p:sp>
        <p:nvSpPr>
          <p:cNvPr id="30" name="panel-321"/>
          <p:cNvSpPr/>
          <p:nvPr/>
        </p:nvSpPr>
        <p:spPr>
          <a:xfrm>
            <a:off x="5486400" y="1325880"/>
            <a:ext cx="3200400" cy="2103120"/>
          </a:xfrm>
          <a:prstGeom prst="roundRect">
            <a:avLst>
              <a:gd name="adj" fmla="val 3478"/>
            </a:avLst>
          </a:prstGeom>
          <a:solidFill>
            <a:schemeClr val="tx1"/>
          </a:solidFill>
          <a:ln w="9525">
            <a:solidFill>
              <a:schemeClr val="accent5"/>
            </a:solidFill>
            <a:prstDash val="solid"/>
          </a:ln>
        </p:spPr>
      </p:sp>
      <p:sp>
        <p:nvSpPr>
          <p:cNvPr id="31" name="text-322"/>
          <p:cNvSpPr txBox="1"/>
          <p:nvPr/>
        </p:nvSpPr>
        <p:spPr>
          <a:xfrm>
            <a:off x="5623560" y="1435608"/>
            <a:ext cx="2926080" cy="1883664"/>
          </a:xfrm>
          <a:prstGeom prst="rect">
            <a:avLst/>
          </a:prstGeom>
          <a:noFill/>
          <a:ln/>
        </p:spPr>
        <p:txBody>
          <a:bodyPr wrap="square" lIns="0" tIns="0" rIns="0" bIns="0" rtlCol="0" anchor="t"/>
          <a:lstStyle/>
          <a:p>
            <a:pPr indent="0" marL="0">
              <a:lnSpc>
                <a:spcPct val="110000"/>
              </a:lnSpc>
              <a:buNone/>
            </a:pPr>
            <a:r>
              <a:rPr lang="en-US" sz="1400" dirty="0">
                <a:solidFill>
                  <a:schemeClr val="bg1"/>
                </a:solidFill>
                <a:latin typeface="Courier New" pitchFamily="34" charset="0"/>
                <a:ea typeface="Courier New" pitchFamily="34" charset="-122"/>
                <a:cs typeface="Courier New" pitchFamily="34" charset="-120"/>
              </a:rPr>
              <a:t>a = 5</a:t>
            </a:r>
            <a:endParaRPr lang="en-US" sz="1400" dirty="0"/>
          </a:p>
          <a:p>
            <a:pPr indent="0" marL="0">
              <a:lnSpc>
                <a:spcPct val="110000"/>
              </a:lnSpc>
              <a:buNone/>
            </a:pPr>
            <a:r>
              <a:rPr lang="en-US" sz="1400" dirty="0">
                <a:solidFill>
                  <a:schemeClr val="bg1"/>
                </a:solidFill>
                <a:latin typeface="Courier New" pitchFamily="34" charset="0"/>
                <a:ea typeface="Courier New" pitchFamily="34" charset="-122"/>
                <a:cs typeface="Courier New" pitchFamily="34" charset="-120"/>
              </a:rPr>
              <a:t>b = 10</a:t>
            </a:r>
            <a:endParaRPr lang="en-US" sz="1400" dirty="0"/>
          </a:p>
          <a:p>
            <a:pPr indent="0" marL="0">
              <a:lnSpc>
                <a:spcPct val="110000"/>
              </a:lnSpc>
              <a:buNone/>
            </a:pPr>
            <a:r>
              <a:rPr lang="en-US" sz="1400" dirty="0">
                <a:solidFill>
                  <a:srgbClr val="F2775F"/>
                </a:solidFill>
                <a:latin typeface="Courier New" pitchFamily="34" charset="0"/>
                <a:ea typeface="Courier New" pitchFamily="34" charset="-122"/>
                <a:cs typeface="Courier New" pitchFamily="34" charset="-120"/>
              </a:rPr>
              <a:t>t1 = b * 2</a:t>
            </a:r>
            <a:endParaRPr lang="en-US" sz="1400" dirty="0"/>
          </a:p>
          <a:p>
            <a:pPr indent="0" marL="0">
              <a:lnSpc>
                <a:spcPct val="110000"/>
              </a:lnSpc>
              <a:buNone/>
            </a:pPr>
            <a:r>
              <a:rPr lang="en-US" sz="1400" dirty="0">
                <a:solidFill>
                  <a:srgbClr val="F2775F"/>
                </a:solidFill>
                <a:latin typeface="Courier New" pitchFamily="34" charset="0"/>
                <a:ea typeface="Courier New" pitchFamily="34" charset="-122"/>
                <a:cs typeface="Courier New" pitchFamily="34" charset="-120"/>
              </a:rPr>
              <a:t>t2 = a + t1</a:t>
            </a:r>
            <a:endParaRPr lang="en-US" sz="1400" dirty="0"/>
          </a:p>
          <a:p>
            <a:pPr indent="0" marL="0">
              <a:lnSpc>
                <a:spcPct val="110000"/>
              </a:lnSpc>
              <a:buNone/>
            </a:pPr>
            <a:r>
              <a:rPr lang="en-US" sz="1400" dirty="0">
                <a:solidFill>
                  <a:srgbClr val="F2775F"/>
                </a:solidFill>
                <a:latin typeface="Courier New" pitchFamily="34" charset="0"/>
                <a:ea typeface="Courier New" pitchFamily="34" charset="-122"/>
                <a:cs typeface="Courier New" pitchFamily="34" charset="-120"/>
              </a:rPr>
              <a:t>c = t2</a:t>
            </a:r>
            <a:endParaRPr lang="en-US" sz="1400" dirty="0"/>
          </a:p>
          <a:p>
            <a:pPr indent="0" marL="0">
              <a:lnSpc>
                <a:spcPct val="110000"/>
              </a:lnSpc>
              <a:buNone/>
            </a:pPr>
            <a:r>
              <a:rPr lang="en-US" sz="1400" dirty="0">
                <a:solidFill>
                  <a:schemeClr val="bg1"/>
                </a:solidFill>
                <a:latin typeface="Courier New" pitchFamily="34" charset="0"/>
                <a:ea typeface="Courier New" pitchFamily="34" charset="-122"/>
                <a:cs typeface="Courier New" pitchFamily="34" charset="-120"/>
              </a:rPr>
              <a:t>print c</a:t>
            </a:r>
            <a:endParaRPr lang="en-US" sz="1400" dirty="0"/>
          </a:p>
        </p:txBody>
      </p:sp>
      <p:sp>
        <p:nvSpPr>
          <p:cNvPr id="32" name="text-323"/>
          <p:cNvSpPr txBox="1"/>
          <p:nvPr/>
        </p:nvSpPr>
        <p:spPr>
          <a:xfrm>
            <a:off x="5486400" y="3566160"/>
            <a:ext cx="3200400" cy="822960"/>
          </a:xfrm>
          <a:prstGeom prst="rect">
            <a:avLst/>
          </a:prstGeom>
          <a:noFill/>
          <a:ln/>
        </p:spPr>
        <p:txBody>
          <a:bodyPr wrap="square" lIns="0" tIns="0" rIns="0" bIns="0" rtlCol="0" anchor="t"/>
          <a:lstStyle/>
          <a:p>
            <a:pPr indent="0" marL="0">
              <a:buNone/>
            </a:pPr>
            <a:r>
              <a:rPr lang="en-US" sz="1200" i="1" dirty="0">
                <a:solidFill>
                  <a:schemeClr val="bg2"/>
                </a:solidFill>
              </a:rPr>
              <a:t>This is syntax-directed translation: syntax, semantics and code generation share one walk over the tokens.</a:t>
            </a:r>
            <a:endParaRPr lang="en-US" sz="1200" dirty="0"/>
          </a:p>
        </p:txBody>
      </p:sp>
      <p:sp>
        <p:nvSpPr>
          <p:cNvPr id="25" name="Slide Number Placeholder 0"/>
          <p:cNvSpPr>
            <a:spLocks noGrp="1"/>
          </p:cNvSpPr>
          <p:nvPr>
            <p:ph type="sldNum" sz="quarter" idx="4294967295"/>
          </p:nvPr>
        </p:nvSpPr>
        <p:spPr>
          <a:xfrm>
            <a:off x="8321040" y="473659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600" b="1" dirty="0">
                <a:solidFill>
                  <a:schemeClr val="bg1"/>
                </a:solidFill>
              </a:rPr>
              <a:t>Phase 3 · Symbol table checks</a:t>
            </a:r>
            <a:endParaRPr lang="en-US" sz="2600" dirty="0"/>
          </a:p>
        </p:txBody>
      </p:sp>
      <p:sp>
        <p:nvSpPr>
          <p:cNvPr id="4" name="phase-324"/>
          <p:cNvSpPr/>
          <p:nvPr/>
        </p:nvSpPr>
        <p:spPr>
          <a:xfrm>
            <a:off x="457200" y="4718304"/>
            <a:ext cx="868680" cy="256032"/>
          </a:xfrm>
          <a:prstGeom prst="roundRect">
            <a:avLst>
              <a:gd name="adj" fmla="val 17857"/>
            </a:avLst>
          </a:prstGeom>
          <a:solidFill>
            <a:schemeClr val="tx2"/>
          </a:solidFill>
          <a:ln w="9525">
            <a:solidFill>
              <a:schemeClr val="accent5"/>
            </a:solidFill>
            <a:prstDash val="solid"/>
          </a:ln>
        </p:spPr>
      </p:sp>
      <p:sp>
        <p:nvSpPr>
          <p:cNvPr id="5" name="text-325"/>
          <p:cNvSpPr txBox="1"/>
          <p:nvPr/>
        </p:nvSpPr>
        <p:spPr>
          <a:xfrm>
            <a:off x="457200" y="4718304"/>
            <a:ext cx="868680" cy="256032"/>
          </a:xfrm>
          <a:prstGeom prst="rect">
            <a:avLst/>
          </a:prstGeom>
          <a:noFill/>
          <a:ln/>
        </p:spPr>
        <p:txBody>
          <a:bodyPr wrap="square" lIns="0" tIns="0" rIns="0" bIns="0" rtlCol="0" anchor="ctr"/>
          <a:lstStyle/>
          <a:p>
            <a:pPr algn="ctr" indent="0" marL="0">
              <a:buNone/>
            </a:pPr>
            <a:r>
              <a:rPr lang="en-US" sz="1000" dirty="0">
                <a:solidFill>
                  <a:schemeClr val="bg2"/>
                </a:solidFill>
              </a:rPr>
              <a:t>1 Lexical</a:t>
            </a:r>
            <a:endParaRPr lang="en-US" sz="1000" dirty="0"/>
          </a:p>
        </p:txBody>
      </p:sp>
      <p:sp>
        <p:nvSpPr>
          <p:cNvPr id="6" name="phase-326"/>
          <p:cNvSpPr/>
          <p:nvPr/>
        </p:nvSpPr>
        <p:spPr>
          <a:xfrm>
            <a:off x="1389888" y="4718304"/>
            <a:ext cx="868680" cy="256032"/>
          </a:xfrm>
          <a:prstGeom prst="roundRect">
            <a:avLst>
              <a:gd name="adj" fmla="val 17857"/>
            </a:avLst>
          </a:prstGeom>
          <a:solidFill>
            <a:schemeClr val="tx2"/>
          </a:solidFill>
          <a:ln w="9525">
            <a:solidFill>
              <a:schemeClr val="accent5"/>
            </a:solidFill>
            <a:prstDash val="solid"/>
          </a:ln>
        </p:spPr>
      </p:sp>
      <p:sp>
        <p:nvSpPr>
          <p:cNvPr id="7" name="text-327"/>
          <p:cNvSpPr txBox="1"/>
          <p:nvPr/>
        </p:nvSpPr>
        <p:spPr>
          <a:xfrm>
            <a:off x="1389888" y="4718304"/>
            <a:ext cx="868680" cy="256032"/>
          </a:xfrm>
          <a:prstGeom prst="rect">
            <a:avLst/>
          </a:prstGeom>
          <a:noFill/>
          <a:ln/>
        </p:spPr>
        <p:txBody>
          <a:bodyPr wrap="square" lIns="0" tIns="0" rIns="0" bIns="0" rtlCol="0" anchor="ctr"/>
          <a:lstStyle/>
          <a:p>
            <a:pPr algn="ctr" indent="0" marL="0">
              <a:buNone/>
            </a:pPr>
            <a:r>
              <a:rPr lang="en-US" sz="1000" dirty="0">
                <a:solidFill>
                  <a:schemeClr val="bg2"/>
                </a:solidFill>
              </a:rPr>
              <a:t>2 Syntax</a:t>
            </a:r>
            <a:endParaRPr lang="en-US" sz="1000" dirty="0"/>
          </a:p>
        </p:txBody>
      </p:sp>
      <p:sp>
        <p:nvSpPr>
          <p:cNvPr id="8" name="phase-328"/>
          <p:cNvSpPr/>
          <p:nvPr/>
        </p:nvSpPr>
        <p:spPr>
          <a:xfrm>
            <a:off x="2322576" y="4718304"/>
            <a:ext cx="868680" cy="256032"/>
          </a:xfrm>
          <a:prstGeom prst="roundRect">
            <a:avLst>
              <a:gd name="adj" fmla="val 17857"/>
            </a:avLst>
          </a:prstGeom>
          <a:solidFill>
            <a:schemeClr val="accent1"/>
          </a:solidFill>
          <a:ln w="9525">
            <a:solidFill>
              <a:schemeClr val="accent1"/>
            </a:solidFill>
            <a:prstDash val="solid"/>
          </a:ln>
        </p:spPr>
      </p:sp>
      <p:sp>
        <p:nvSpPr>
          <p:cNvPr id="9" name="text-329"/>
          <p:cNvSpPr txBox="1"/>
          <p:nvPr/>
        </p:nvSpPr>
        <p:spPr>
          <a:xfrm>
            <a:off x="2322576" y="4718304"/>
            <a:ext cx="868680" cy="256032"/>
          </a:xfrm>
          <a:prstGeom prst="rect">
            <a:avLst/>
          </a:prstGeom>
          <a:noFill/>
          <a:ln/>
        </p:spPr>
        <p:txBody>
          <a:bodyPr wrap="square" lIns="0" tIns="0" rIns="0" bIns="0" rtlCol="0" anchor="ctr"/>
          <a:lstStyle/>
          <a:p>
            <a:pPr algn="ctr" indent="0" marL="0">
              <a:buNone/>
            </a:pPr>
            <a:r>
              <a:rPr lang="en-US" sz="1000" b="1" dirty="0">
                <a:solidFill>
                  <a:schemeClr val="tx1"/>
                </a:solidFill>
              </a:rPr>
              <a:t>3 Semantic</a:t>
            </a:r>
            <a:endParaRPr lang="en-US" sz="1000" dirty="0"/>
          </a:p>
        </p:txBody>
      </p:sp>
      <p:sp>
        <p:nvSpPr>
          <p:cNvPr id="10" name="phase-330"/>
          <p:cNvSpPr/>
          <p:nvPr/>
        </p:nvSpPr>
        <p:spPr>
          <a:xfrm>
            <a:off x="3255264" y="4718304"/>
            <a:ext cx="868680" cy="256032"/>
          </a:xfrm>
          <a:prstGeom prst="roundRect">
            <a:avLst>
              <a:gd name="adj" fmla="val 17857"/>
            </a:avLst>
          </a:prstGeom>
          <a:solidFill>
            <a:schemeClr val="tx2"/>
          </a:solidFill>
          <a:ln w="9525">
            <a:solidFill>
              <a:schemeClr val="accent5"/>
            </a:solidFill>
            <a:prstDash val="solid"/>
          </a:ln>
        </p:spPr>
      </p:sp>
      <p:sp>
        <p:nvSpPr>
          <p:cNvPr id="11" name="text-331"/>
          <p:cNvSpPr txBox="1"/>
          <p:nvPr/>
        </p:nvSpPr>
        <p:spPr>
          <a:xfrm>
            <a:off x="3255264" y="4718304"/>
            <a:ext cx="868680" cy="256032"/>
          </a:xfrm>
          <a:prstGeom prst="rect">
            <a:avLst/>
          </a:prstGeom>
          <a:noFill/>
          <a:ln/>
        </p:spPr>
        <p:txBody>
          <a:bodyPr wrap="square" lIns="0" tIns="0" rIns="0" bIns="0" rtlCol="0" anchor="ctr"/>
          <a:lstStyle/>
          <a:p>
            <a:pPr algn="ctr" indent="0" marL="0">
              <a:buNone/>
            </a:pPr>
            <a:r>
              <a:rPr lang="en-US" sz="1000" dirty="0">
                <a:solidFill>
                  <a:schemeClr val="bg2"/>
                </a:solidFill>
              </a:rPr>
              <a:t>4 TAC</a:t>
            </a:r>
            <a:endParaRPr lang="en-US" sz="1000" dirty="0"/>
          </a:p>
        </p:txBody>
      </p:sp>
      <p:sp>
        <p:nvSpPr>
          <p:cNvPr id="12" name="phase-332"/>
          <p:cNvSpPr/>
          <p:nvPr/>
        </p:nvSpPr>
        <p:spPr>
          <a:xfrm>
            <a:off x="4187952" y="4718304"/>
            <a:ext cx="868680" cy="256032"/>
          </a:xfrm>
          <a:prstGeom prst="roundRect">
            <a:avLst>
              <a:gd name="adj" fmla="val 17857"/>
            </a:avLst>
          </a:prstGeom>
          <a:solidFill>
            <a:schemeClr val="tx2"/>
          </a:solidFill>
          <a:ln w="9525">
            <a:solidFill>
              <a:schemeClr val="accent5"/>
            </a:solidFill>
            <a:prstDash val="solid"/>
          </a:ln>
        </p:spPr>
      </p:sp>
      <p:sp>
        <p:nvSpPr>
          <p:cNvPr id="13" name="text-333"/>
          <p:cNvSpPr txBox="1"/>
          <p:nvPr/>
        </p:nvSpPr>
        <p:spPr>
          <a:xfrm>
            <a:off x="4187952" y="4718304"/>
            <a:ext cx="868680" cy="256032"/>
          </a:xfrm>
          <a:prstGeom prst="rect">
            <a:avLst/>
          </a:prstGeom>
          <a:noFill/>
          <a:ln/>
        </p:spPr>
        <p:txBody>
          <a:bodyPr wrap="square" lIns="0" tIns="0" rIns="0" bIns="0" rtlCol="0" anchor="ctr"/>
          <a:lstStyle/>
          <a:p>
            <a:pPr algn="ctr" indent="0" marL="0">
              <a:buNone/>
            </a:pPr>
            <a:r>
              <a:rPr lang="en-US" sz="1000" dirty="0">
                <a:solidFill>
                  <a:schemeClr val="bg2"/>
                </a:solidFill>
              </a:rPr>
              <a:t>5 Errors</a:t>
            </a:r>
            <a:endParaRPr lang="en-US" sz="1000" dirty="0"/>
          </a:p>
        </p:txBody>
      </p:sp>
      <p:sp>
        <p:nvSpPr>
          <p:cNvPr id="14" name="text-334"/>
          <p:cNvSpPr txBox="1"/>
          <p:nvPr/>
        </p:nvSpPr>
        <p:spPr>
          <a:xfrm>
            <a:off x="457200" y="1051560"/>
            <a:ext cx="3657600" cy="228600"/>
          </a:xfrm>
          <a:prstGeom prst="rect">
            <a:avLst/>
          </a:prstGeom>
          <a:noFill/>
          <a:ln/>
        </p:spPr>
        <p:txBody>
          <a:bodyPr wrap="square" lIns="0" tIns="0" rIns="0" bIns="0" rtlCol="0" anchor="t"/>
          <a:lstStyle/>
          <a:p>
            <a:pPr indent="0" marL="0">
              <a:buNone/>
            </a:pPr>
            <a:r>
              <a:rPr lang="en-US" sz="1000" b="1" spc="150" kern="0" dirty="0">
                <a:solidFill>
                  <a:schemeClr val="bg2"/>
                </a:solidFill>
              </a:rPr>
              <a:t>SYMBOL TABLE AFTER VALID.TXT</a:t>
            </a:r>
            <a:endParaRPr lang="en-US" sz="1000" dirty="0"/>
          </a:p>
        </p:txBody>
      </p:sp>
      <p:graphicFrame>
        <p:nvGraphicFramePr>
          <p:cNvPr id="19" name="table-335"/>
          <p:cNvGraphicFramePr>
            <a:graphicFrameLocks noGrp="1"/>
          </p:cNvGraphicFramePr>
          <p:nvPr>
            <p:extLst>
              <p:ext uri="{D42A27DB-BD31-4B8C-83A1-F6EECF244321}">
                <p14:modId xmlns:p14="http://schemas.microsoft.com/office/powerpoint/2010/main" val="1579011935"/>
              </p:ext>
            </p:extLst>
          </p:nvPr>
        </p:nvGraphicFramePr>
        <p:xfrm>
          <a:off x="457200" y="1325880"/>
          <a:ext cx="3566160" cy="914400"/>
        </p:xfrm>
        <a:graphic>
          <a:graphicData uri="http://schemas.openxmlformats.org/drawingml/2006/table">
            <a:tbl>
              <a:tblPr/>
              <a:tblGrid>
                <a:gridCol w="1280160"/>
                <a:gridCol w="1280160"/>
                <a:gridCol w="1005840"/>
              </a:tblGrid>
              <a:tr h="384048">
                <a:tc>
                  <a:txBody>
                    <a:bodyPr/>
                    <a:lstStyle/>
                    <a:p>
                      <a:pPr indent="0" marL="0">
                        <a:buNone/>
                      </a:pPr>
                      <a:r>
                        <a:rPr lang="en-US" sz="1100" b="1" dirty="0">
                          <a:solidFill>
                            <a:srgbClr val="9AA2AD"/>
                          </a:solidFill>
                        </a:rPr>
                        <a:t>NAME</a:t>
                      </a:r>
                      <a:endParaRPr lang="en-US" sz="1100" dirty="0"/>
                    </a:p>
                  </a:txBody>
                  <a:tcPr marL="91440" marR="91440" marT="36576" marB="36576" anchor="ctr">
                    <a:lnL w="6350" cap="flat" cmpd="sng" algn="ctr">
                      <a:solidFill>
                        <a:srgbClr val="2D333D"/>
                      </a:solidFill>
                      <a:prstDash val="solid"/>
                      <a:round/>
                      <a:headEnd type="none" w="med" len="med"/>
                      <a:tailEnd type="none" w="med" len="med"/>
                    </a:lnL>
                    <a:lnR w="6350" cap="flat" cmpd="sng" algn="ctr">
                      <a:solidFill>
                        <a:srgbClr val="2D333D"/>
                      </a:solidFill>
                      <a:prstDash val="solid"/>
                      <a:round/>
                      <a:headEnd type="none" w="med" len="med"/>
                      <a:tailEnd type="none" w="med" len="med"/>
                    </a:lnR>
                    <a:lnT w="6350" cap="flat" cmpd="sng" algn="ctr">
                      <a:solidFill>
                        <a:srgbClr val="2D333D"/>
                      </a:solidFill>
                      <a:prstDash val="solid"/>
                      <a:round/>
                      <a:headEnd type="none" w="med" len="med"/>
                      <a:tailEnd type="none" w="med" len="med"/>
                    </a:lnT>
                    <a:lnB w="6350" cap="flat" cmpd="sng" algn="ctr">
                      <a:solidFill>
                        <a:srgbClr val="2D333D"/>
                      </a:solidFill>
                      <a:prstDash val="solid"/>
                      <a:round/>
                      <a:headEnd type="none" w="med" len="med"/>
                      <a:tailEnd type="none" w="med" len="med"/>
                    </a:lnB>
                    <a:solidFill>
                      <a:srgbClr val="1A1E25"/>
                    </a:solidFill>
                  </a:tcPr>
                </a:tc>
                <a:tc>
                  <a:txBody>
                    <a:bodyPr/>
                    <a:lstStyle/>
                    <a:p>
                      <a:pPr indent="0" marL="0">
                        <a:buNone/>
                      </a:pPr>
                      <a:r>
                        <a:rPr lang="en-US" sz="1100" b="1" dirty="0">
                          <a:solidFill>
                            <a:srgbClr val="9AA2AD"/>
                          </a:solidFill>
                        </a:rPr>
                        <a:t>DECLARED</a:t>
                      </a:r>
                      <a:endParaRPr lang="en-US" sz="1100" dirty="0"/>
                    </a:p>
                  </a:txBody>
                  <a:tcPr marL="91440" marR="91440" marT="36576" marB="36576" anchor="ctr">
                    <a:lnL w="6350" cap="flat" cmpd="sng" algn="ctr">
                      <a:solidFill>
                        <a:srgbClr val="2D333D"/>
                      </a:solidFill>
                      <a:prstDash val="solid"/>
                      <a:round/>
                      <a:headEnd type="none" w="med" len="med"/>
                      <a:tailEnd type="none" w="med" len="med"/>
                    </a:lnL>
                    <a:lnR w="6350" cap="flat" cmpd="sng" algn="ctr">
                      <a:solidFill>
                        <a:srgbClr val="2D333D"/>
                      </a:solidFill>
                      <a:prstDash val="solid"/>
                      <a:round/>
                      <a:headEnd type="none" w="med" len="med"/>
                      <a:tailEnd type="none" w="med" len="med"/>
                    </a:lnR>
                    <a:lnT w="6350" cap="flat" cmpd="sng" algn="ctr">
                      <a:solidFill>
                        <a:srgbClr val="2D333D"/>
                      </a:solidFill>
                      <a:prstDash val="solid"/>
                      <a:round/>
                      <a:headEnd type="none" w="med" len="med"/>
                      <a:tailEnd type="none" w="med" len="med"/>
                    </a:lnT>
                    <a:lnB w="6350" cap="flat" cmpd="sng" algn="ctr">
                      <a:solidFill>
                        <a:srgbClr val="2D333D"/>
                      </a:solidFill>
                      <a:prstDash val="solid"/>
                      <a:round/>
                      <a:headEnd type="none" w="med" len="med"/>
                      <a:tailEnd type="none" w="med" len="med"/>
                    </a:lnB>
                    <a:solidFill>
                      <a:srgbClr val="1A1E25"/>
                    </a:solidFill>
                  </a:tcPr>
                </a:tc>
                <a:tc>
                  <a:txBody>
                    <a:bodyPr/>
                    <a:lstStyle/>
                    <a:p>
                      <a:pPr indent="0" marL="0">
                        <a:buNone/>
                      </a:pPr>
                      <a:r>
                        <a:rPr lang="en-US" sz="1100" b="1" dirty="0">
                          <a:solidFill>
                            <a:srgbClr val="9AA2AD"/>
                          </a:solidFill>
                        </a:rPr>
                        <a:t>VALUE</a:t>
                      </a:r>
                      <a:endParaRPr lang="en-US" sz="1100" dirty="0"/>
                    </a:p>
                  </a:txBody>
                  <a:tcPr marL="91440" marR="91440" marT="36576" marB="36576" anchor="ctr">
                    <a:lnL w="6350" cap="flat" cmpd="sng" algn="ctr">
                      <a:solidFill>
                        <a:srgbClr val="2D333D"/>
                      </a:solidFill>
                      <a:prstDash val="solid"/>
                      <a:round/>
                      <a:headEnd type="none" w="med" len="med"/>
                      <a:tailEnd type="none" w="med" len="med"/>
                    </a:lnL>
                    <a:lnR w="6350" cap="flat" cmpd="sng" algn="ctr">
                      <a:solidFill>
                        <a:srgbClr val="2D333D"/>
                      </a:solidFill>
                      <a:prstDash val="solid"/>
                      <a:round/>
                      <a:headEnd type="none" w="med" len="med"/>
                      <a:tailEnd type="none" w="med" len="med"/>
                    </a:lnR>
                    <a:lnT w="6350" cap="flat" cmpd="sng" algn="ctr">
                      <a:solidFill>
                        <a:srgbClr val="2D333D"/>
                      </a:solidFill>
                      <a:prstDash val="solid"/>
                      <a:round/>
                      <a:headEnd type="none" w="med" len="med"/>
                      <a:tailEnd type="none" w="med" len="med"/>
                    </a:lnT>
                    <a:lnB w="6350" cap="flat" cmpd="sng" algn="ctr">
                      <a:solidFill>
                        <a:srgbClr val="2D333D"/>
                      </a:solidFill>
                      <a:prstDash val="solid"/>
                      <a:round/>
                      <a:headEnd type="none" w="med" len="med"/>
                      <a:tailEnd type="none" w="med" len="med"/>
                    </a:lnB>
                    <a:solidFill>
                      <a:srgbClr val="1A1E25"/>
                    </a:solidFill>
                  </a:tcPr>
                </a:tc>
              </a:tr>
              <a:tr h="384048">
                <a:tc>
                  <a:txBody>
                    <a:bodyPr/>
                    <a:lstStyle/>
                    <a:p>
                      <a:pPr indent="0" marL="0">
                        <a:buNone/>
                      </a:pPr>
                      <a:r>
                        <a:rPr lang="en-US" sz="1300" dirty="0">
                          <a:solidFill>
                            <a:srgbClr val="F2775F"/>
                          </a:solidFill>
                          <a:latin typeface="Courier New" pitchFamily="34" charset="0"/>
                          <a:ea typeface="Courier New" pitchFamily="34" charset="-122"/>
                          <a:cs typeface="Courier New" pitchFamily="34" charset="-120"/>
                        </a:rPr>
                        <a:t>age</a:t>
                      </a:r>
                      <a:endParaRPr lang="en-US" sz="1300" dirty="0">
                        <a:latin typeface="Courier New" charset="0"/>
                        <a:ea typeface="Courier New" charset="0"/>
                        <a:cs typeface="Courier New" charset="0"/>
                      </a:endParaRPr>
                    </a:p>
                  </a:txBody>
                  <a:tcPr marL="91440" marR="91440" marT="36576" marB="36576" anchor="ctr">
                    <a:lnL w="6350" cap="flat" cmpd="sng" algn="ctr">
                      <a:solidFill>
                        <a:srgbClr val="2D333D"/>
                      </a:solidFill>
                      <a:prstDash val="solid"/>
                      <a:round/>
                      <a:headEnd type="none" w="med" len="med"/>
                      <a:tailEnd type="none" w="med" len="med"/>
                    </a:lnL>
                    <a:lnR w="6350" cap="flat" cmpd="sng" algn="ctr">
                      <a:solidFill>
                        <a:srgbClr val="2D333D"/>
                      </a:solidFill>
                      <a:prstDash val="solid"/>
                      <a:round/>
                      <a:headEnd type="none" w="med" len="med"/>
                      <a:tailEnd type="none" w="med" len="med"/>
                    </a:lnR>
                    <a:lnT w="6350" cap="flat" cmpd="sng" algn="ctr">
                      <a:solidFill>
                        <a:srgbClr val="2D333D"/>
                      </a:solidFill>
                      <a:prstDash val="solid"/>
                      <a:round/>
                      <a:headEnd type="none" w="med" len="med"/>
                      <a:tailEnd type="none" w="med" len="med"/>
                    </a:lnT>
                    <a:lnB w="6350" cap="flat" cmpd="sng" algn="ctr">
                      <a:solidFill>
                        <a:srgbClr val="2D333D"/>
                      </a:solidFill>
                      <a:prstDash val="solid"/>
                      <a:round/>
                      <a:headEnd type="none" w="med" len="med"/>
                      <a:tailEnd type="none" w="med" len="med"/>
                    </a:lnB>
                    <a:solidFill>
                      <a:srgbClr val="101318"/>
                    </a:solidFill>
                  </a:tcPr>
                </a:tc>
                <a:tc>
                  <a:txBody>
                    <a:bodyPr/>
                    <a:lstStyle/>
                    <a:p>
                      <a:pPr indent="0" marL="0">
                        <a:buNone/>
                      </a:pPr>
                      <a:r>
                        <a:rPr lang="en-US" sz="1300" dirty="0">
                          <a:solidFill>
                            <a:srgbClr val="ECE8E1"/>
                          </a:solidFill>
                          <a:latin typeface="Courier New" pitchFamily="34" charset="0"/>
                          <a:ea typeface="Courier New" pitchFamily="34" charset="-122"/>
                          <a:cs typeface="Courier New" pitchFamily="34" charset="-120"/>
                        </a:rPr>
                        <a:t>line 2</a:t>
                      </a:r>
                      <a:endParaRPr lang="en-US" sz="1300" dirty="0">
                        <a:latin typeface="Courier New" charset="0"/>
                        <a:ea typeface="Courier New" charset="0"/>
                        <a:cs typeface="Courier New" charset="0"/>
                      </a:endParaRPr>
                    </a:p>
                  </a:txBody>
                  <a:tcPr marL="91440" marR="91440" marT="36576" marB="36576" anchor="ctr">
                    <a:lnL w="6350" cap="flat" cmpd="sng" algn="ctr">
                      <a:solidFill>
                        <a:srgbClr val="2D333D"/>
                      </a:solidFill>
                      <a:prstDash val="solid"/>
                      <a:round/>
                      <a:headEnd type="none" w="med" len="med"/>
                      <a:tailEnd type="none" w="med" len="med"/>
                    </a:lnL>
                    <a:lnR w="6350" cap="flat" cmpd="sng" algn="ctr">
                      <a:solidFill>
                        <a:srgbClr val="2D333D"/>
                      </a:solidFill>
                      <a:prstDash val="solid"/>
                      <a:round/>
                      <a:headEnd type="none" w="med" len="med"/>
                      <a:tailEnd type="none" w="med" len="med"/>
                    </a:lnR>
                    <a:lnT w="6350" cap="flat" cmpd="sng" algn="ctr">
                      <a:solidFill>
                        <a:srgbClr val="2D333D"/>
                      </a:solidFill>
                      <a:prstDash val="solid"/>
                      <a:round/>
                      <a:headEnd type="none" w="med" len="med"/>
                      <a:tailEnd type="none" w="med" len="med"/>
                    </a:lnT>
                    <a:lnB w="6350" cap="flat" cmpd="sng" algn="ctr">
                      <a:solidFill>
                        <a:srgbClr val="2D333D"/>
                      </a:solidFill>
                      <a:prstDash val="solid"/>
                      <a:round/>
                      <a:headEnd type="none" w="med" len="med"/>
                      <a:tailEnd type="none" w="med" len="med"/>
                    </a:lnB>
                    <a:solidFill>
                      <a:srgbClr val="101318"/>
                    </a:solidFill>
                  </a:tcPr>
                </a:tc>
                <a:tc>
                  <a:txBody>
                    <a:bodyPr/>
                    <a:lstStyle/>
                    <a:p>
                      <a:pPr indent="0" marL="0">
                        <a:buNone/>
                      </a:pPr>
                      <a:r>
                        <a:rPr lang="en-US" sz="1300" dirty="0">
                          <a:solidFill>
                            <a:srgbClr val="ECE8E1"/>
                          </a:solidFill>
                          <a:latin typeface="Courier New" pitchFamily="34" charset="0"/>
                          <a:ea typeface="Courier New" pitchFamily="34" charset="-122"/>
                          <a:cs typeface="Courier New" pitchFamily="34" charset="-120"/>
                        </a:rPr>
                        <a:t>20</a:t>
                      </a:r>
                      <a:endParaRPr lang="en-US" sz="1300" dirty="0">
                        <a:latin typeface="Courier New" charset="0"/>
                        <a:ea typeface="Courier New" charset="0"/>
                        <a:cs typeface="Courier New" charset="0"/>
                      </a:endParaRPr>
                    </a:p>
                  </a:txBody>
                  <a:tcPr marL="91440" marR="91440" marT="36576" marB="36576" anchor="ctr">
                    <a:lnL w="6350" cap="flat" cmpd="sng" algn="ctr">
                      <a:solidFill>
                        <a:srgbClr val="2D333D"/>
                      </a:solidFill>
                      <a:prstDash val="solid"/>
                      <a:round/>
                      <a:headEnd type="none" w="med" len="med"/>
                      <a:tailEnd type="none" w="med" len="med"/>
                    </a:lnL>
                    <a:lnR w="6350" cap="flat" cmpd="sng" algn="ctr">
                      <a:solidFill>
                        <a:srgbClr val="2D333D"/>
                      </a:solidFill>
                      <a:prstDash val="solid"/>
                      <a:round/>
                      <a:headEnd type="none" w="med" len="med"/>
                      <a:tailEnd type="none" w="med" len="med"/>
                    </a:lnR>
                    <a:lnT w="6350" cap="flat" cmpd="sng" algn="ctr">
                      <a:solidFill>
                        <a:srgbClr val="2D333D"/>
                      </a:solidFill>
                      <a:prstDash val="solid"/>
                      <a:round/>
                      <a:headEnd type="none" w="med" len="med"/>
                      <a:tailEnd type="none" w="med" len="med"/>
                    </a:lnT>
                    <a:lnB w="6350" cap="flat" cmpd="sng" algn="ctr">
                      <a:solidFill>
                        <a:srgbClr val="2D333D"/>
                      </a:solidFill>
                      <a:prstDash val="solid"/>
                      <a:round/>
                      <a:headEnd type="none" w="med" len="med"/>
                      <a:tailEnd type="none" w="med" len="med"/>
                    </a:lnB>
                    <a:solidFill>
                      <a:srgbClr val="101318"/>
                    </a:solidFill>
                  </a:tcPr>
                </a:tc>
              </a:tr>
              <a:tr h="384048">
                <a:tc>
                  <a:txBody>
                    <a:bodyPr/>
                    <a:lstStyle/>
                    <a:p>
                      <a:pPr indent="0" marL="0">
                        <a:buNone/>
                      </a:pPr>
                      <a:r>
                        <a:rPr lang="en-US" sz="1300" dirty="0">
                          <a:solidFill>
                            <a:srgbClr val="F2775F"/>
                          </a:solidFill>
                          <a:latin typeface="Courier New" pitchFamily="34" charset="0"/>
                          <a:ea typeface="Courier New" pitchFamily="34" charset="-122"/>
                          <a:cs typeface="Courier New" pitchFamily="34" charset="-120"/>
                        </a:rPr>
                        <a:t>score</a:t>
                      </a:r>
                      <a:endParaRPr lang="en-US" sz="1300" dirty="0">
                        <a:latin typeface="Courier New" charset="0"/>
                        <a:ea typeface="Courier New" charset="0"/>
                        <a:cs typeface="Courier New" charset="0"/>
                      </a:endParaRPr>
                    </a:p>
                  </a:txBody>
                  <a:tcPr marL="91440" marR="91440" marT="36576" marB="36576" anchor="ctr">
                    <a:lnL w="6350" cap="flat" cmpd="sng" algn="ctr">
                      <a:solidFill>
                        <a:srgbClr val="2D333D"/>
                      </a:solidFill>
                      <a:prstDash val="solid"/>
                      <a:round/>
                      <a:headEnd type="none" w="med" len="med"/>
                      <a:tailEnd type="none" w="med" len="med"/>
                    </a:lnL>
                    <a:lnR w="6350" cap="flat" cmpd="sng" algn="ctr">
                      <a:solidFill>
                        <a:srgbClr val="2D333D"/>
                      </a:solidFill>
                      <a:prstDash val="solid"/>
                      <a:round/>
                      <a:headEnd type="none" w="med" len="med"/>
                      <a:tailEnd type="none" w="med" len="med"/>
                    </a:lnR>
                    <a:lnT w="6350" cap="flat" cmpd="sng" algn="ctr">
                      <a:solidFill>
                        <a:srgbClr val="2D333D"/>
                      </a:solidFill>
                      <a:prstDash val="solid"/>
                      <a:round/>
                      <a:headEnd type="none" w="med" len="med"/>
                      <a:tailEnd type="none" w="med" len="med"/>
                    </a:lnT>
                    <a:lnB w="6350" cap="flat" cmpd="sng" algn="ctr">
                      <a:solidFill>
                        <a:srgbClr val="2D333D"/>
                      </a:solidFill>
                      <a:prstDash val="solid"/>
                      <a:round/>
                      <a:headEnd type="none" w="med" len="med"/>
                      <a:tailEnd type="none" w="med" len="med"/>
                    </a:lnB>
                    <a:solidFill>
                      <a:srgbClr val="101318"/>
                    </a:solidFill>
                  </a:tcPr>
                </a:tc>
                <a:tc>
                  <a:txBody>
                    <a:bodyPr/>
                    <a:lstStyle/>
                    <a:p>
                      <a:pPr indent="0" marL="0">
                        <a:buNone/>
                      </a:pPr>
                      <a:r>
                        <a:rPr lang="en-US" sz="1300" dirty="0">
                          <a:solidFill>
                            <a:srgbClr val="ECE8E1"/>
                          </a:solidFill>
                          <a:latin typeface="Courier New" pitchFamily="34" charset="0"/>
                          <a:ea typeface="Courier New" pitchFamily="34" charset="-122"/>
                          <a:cs typeface="Courier New" pitchFamily="34" charset="-120"/>
                        </a:rPr>
                        <a:t>line 3</a:t>
                      </a:r>
                      <a:endParaRPr lang="en-US" sz="1300" dirty="0">
                        <a:latin typeface="Courier New" charset="0"/>
                        <a:ea typeface="Courier New" charset="0"/>
                        <a:cs typeface="Courier New" charset="0"/>
                      </a:endParaRPr>
                    </a:p>
                  </a:txBody>
                  <a:tcPr marL="91440" marR="91440" marT="36576" marB="36576" anchor="ctr">
                    <a:lnL w="6350" cap="flat" cmpd="sng" algn="ctr">
                      <a:solidFill>
                        <a:srgbClr val="2D333D"/>
                      </a:solidFill>
                      <a:prstDash val="solid"/>
                      <a:round/>
                      <a:headEnd type="none" w="med" len="med"/>
                      <a:tailEnd type="none" w="med" len="med"/>
                    </a:lnL>
                    <a:lnR w="6350" cap="flat" cmpd="sng" algn="ctr">
                      <a:solidFill>
                        <a:srgbClr val="2D333D"/>
                      </a:solidFill>
                      <a:prstDash val="solid"/>
                      <a:round/>
                      <a:headEnd type="none" w="med" len="med"/>
                      <a:tailEnd type="none" w="med" len="med"/>
                    </a:lnR>
                    <a:lnT w="6350" cap="flat" cmpd="sng" algn="ctr">
                      <a:solidFill>
                        <a:srgbClr val="2D333D"/>
                      </a:solidFill>
                      <a:prstDash val="solid"/>
                      <a:round/>
                      <a:headEnd type="none" w="med" len="med"/>
                      <a:tailEnd type="none" w="med" len="med"/>
                    </a:lnT>
                    <a:lnB w="6350" cap="flat" cmpd="sng" algn="ctr">
                      <a:solidFill>
                        <a:srgbClr val="2D333D"/>
                      </a:solidFill>
                      <a:prstDash val="solid"/>
                      <a:round/>
                      <a:headEnd type="none" w="med" len="med"/>
                      <a:tailEnd type="none" w="med" len="med"/>
                    </a:lnB>
                    <a:solidFill>
                      <a:srgbClr val="101318"/>
                    </a:solidFill>
                  </a:tcPr>
                </a:tc>
                <a:tc>
                  <a:txBody>
                    <a:bodyPr/>
                    <a:lstStyle/>
                    <a:p>
                      <a:pPr indent="0" marL="0">
                        <a:buNone/>
                      </a:pPr>
                      <a:r>
                        <a:rPr lang="en-US" sz="1300" dirty="0">
                          <a:solidFill>
                            <a:srgbClr val="ECE8E1"/>
                          </a:solidFill>
                          <a:latin typeface="Courier New" pitchFamily="34" charset="0"/>
                          <a:ea typeface="Courier New" pitchFamily="34" charset="-122"/>
                          <a:cs typeface="Courier New" pitchFamily="34" charset="-120"/>
                        </a:rPr>
                        <a:t>50</a:t>
                      </a:r>
                      <a:endParaRPr lang="en-US" sz="1300" dirty="0">
                        <a:latin typeface="Courier New" charset="0"/>
                        <a:ea typeface="Courier New" charset="0"/>
                        <a:cs typeface="Courier New" charset="0"/>
                      </a:endParaRPr>
                    </a:p>
                  </a:txBody>
                  <a:tcPr marL="91440" marR="91440" marT="36576" marB="36576" anchor="ctr">
                    <a:lnL w="6350" cap="flat" cmpd="sng" algn="ctr">
                      <a:solidFill>
                        <a:srgbClr val="2D333D"/>
                      </a:solidFill>
                      <a:prstDash val="solid"/>
                      <a:round/>
                      <a:headEnd type="none" w="med" len="med"/>
                      <a:tailEnd type="none" w="med" len="med"/>
                    </a:lnL>
                    <a:lnR w="6350" cap="flat" cmpd="sng" algn="ctr">
                      <a:solidFill>
                        <a:srgbClr val="2D333D"/>
                      </a:solidFill>
                      <a:prstDash val="solid"/>
                      <a:round/>
                      <a:headEnd type="none" w="med" len="med"/>
                      <a:tailEnd type="none" w="med" len="med"/>
                    </a:lnR>
                    <a:lnT w="6350" cap="flat" cmpd="sng" algn="ctr">
                      <a:solidFill>
                        <a:srgbClr val="2D333D"/>
                      </a:solidFill>
                      <a:prstDash val="solid"/>
                      <a:round/>
                      <a:headEnd type="none" w="med" len="med"/>
                      <a:tailEnd type="none" w="med" len="med"/>
                    </a:lnT>
                    <a:lnB w="6350" cap="flat" cmpd="sng" algn="ctr">
                      <a:solidFill>
                        <a:srgbClr val="2D333D"/>
                      </a:solidFill>
                      <a:prstDash val="solid"/>
                      <a:round/>
                      <a:headEnd type="none" w="med" len="med"/>
                      <a:tailEnd type="none" w="med" len="med"/>
                    </a:lnB>
                    <a:solidFill>
                      <a:srgbClr val="101318"/>
                    </a:solidFill>
                  </a:tcPr>
                </a:tc>
              </a:tr>
              <a:tr h="384048">
                <a:tc>
                  <a:txBody>
                    <a:bodyPr/>
                    <a:lstStyle/>
                    <a:p>
                      <a:pPr indent="0" marL="0">
                        <a:buNone/>
                      </a:pPr>
                      <a:r>
                        <a:rPr lang="en-US" sz="1300" dirty="0">
                          <a:solidFill>
                            <a:srgbClr val="F2775F"/>
                          </a:solidFill>
                          <a:latin typeface="Courier New" pitchFamily="34" charset="0"/>
                          <a:ea typeface="Courier New" pitchFamily="34" charset="-122"/>
                          <a:cs typeface="Courier New" pitchFamily="34" charset="-120"/>
                        </a:rPr>
                        <a:t>bonus</a:t>
                      </a:r>
                      <a:endParaRPr lang="en-US" sz="1300" dirty="0">
                        <a:latin typeface="Courier New" charset="0"/>
                        <a:ea typeface="Courier New" charset="0"/>
                        <a:cs typeface="Courier New" charset="0"/>
                      </a:endParaRPr>
                    </a:p>
                  </a:txBody>
                  <a:tcPr marL="91440" marR="91440" marT="36576" marB="36576" anchor="ctr">
                    <a:lnL w="6350" cap="flat" cmpd="sng" algn="ctr">
                      <a:solidFill>
                        <a:srgbClr val="2D333D"/>
                      </a:solidFill>
                      <a:prstDash val="solid"/>
                      <a:round/>
                      <a:headEnd type="none" w="med" len="med"/>
                      <a:tailEnd type="none" w="med" len="med"/>
                    </a:lnL>
                    <a:lnR w="6350" cap="flat" cmpd="sng" algn="ctr">
                      <a:solidFill>
                        <a:srgbClr val="2D333D"/>
                      </a:solidFill>
                      <a:prstDash val="solid"/>
                      <a:round/>
                      <a:headEnd type="none" w="med" len="med"/>
                      <a:tailEnd type="none" w="med" len="med"/>
                    </a:lnR>
                    <a:lnT w="6350" cap="flat" cmpd="sng" algn="ctr">
                      <a:solidFill>
                        <a:srgbClr val="2D333D"/>
                      </a:solidFill>
                      <a:prstDash val="solid"/>
                      <a:round/>
                      <a:headEnd type="none" w="med" len="med"/>
                      <a:tailEnd type="none" w="med" len="med"/>
                    </a:lnT>
                    <a:lnB w="6350" cap="flat" cmpd="sng" algn="ctr">
                      <a:solidFill>
                        <a:srgbClr val="2D333D"/>
                      </a:solidFill>
                      <a:prstDash val="solid"/>
                      <a:round/>
                      <a:headEnd type="none" w="med" len="med"/>
                      <a:tailEnd type="none" w="med" len="med"/>
                    </a:lnB>
                    <a:solidFill>
                      <a:srgbClr val="101318"/>
                    </a:solidFill>
                  </a:tcPr>
                </a:tc>
                <a:tc>
                  <a:txBody>
                    <a:bodyPr/>
                    <a:lstStyle/>
                    <a:p>
                      <a:pPr indent="0" marL="0">
                        <a:buNone/>
                      </a:pPr>
                      <a:r>
                        <a:rPr lang="en-US" sz="1300" dirty="0">
                          <a:solidFill>
                            <a:srgbClr val="ECE8E1"/>
                          </a:solidFill>
                          <a:latin typeface="Courier New" pitchFamily="34" charset="0"/>
                          <a:ea typeface="Courier New" pitchFamily="34" charset="-122"/>
                          <a:cs typeface="Courier New" pitchFamily="34" charset="-120"/>
                        </a:rPr>
                        <a:t>line 5</a:t>
                      </a:r>
                      <a:endParaRPr lang="en-US" sz="1300" dirty="0">
                        <a:latin typeface="Courier New" charset="0"/>
                        <a:ea typeface="Courier New" charset="0"/>
                        <a:cs typeface="Courier New" charset="0"/>
                      </a:endParaRPr>
                    </a:p>
                  </a:txBody>
                  <a:tcPr marL="91440" marR="91440" marT="36576" marB="36576" anchor="ctr">
                    <a:lnL w="6350" cap="flat" cmpd="sng" algn="ctr">
                      <a:solidFill>
                        <a:srgbClr val="2D333D"/>
                      </a:solidFill>
                      <a:prstDash val="solid"/>
                      <a:round/>
                      <a:headEnd type="none" w="med" len="med"/>
                      <a:tailEnd type="none" w="med" len="med"/>
                    </a:lnL>
                    <a:lnR w="6350" cap="flat" cmpd="sng" algn="ctr">
                      <a:solidFill>
                        <a:srgbClr val="2D333D"/>
                      </a:solidFill>
                      <a:prstDash val="solid"/>
                      <a:round/>
                      <a:headEnd type="none" w="med" len="med"/>
                      <a:tailEnd type="none" w="med" len="med"/>
                    </a:lnR>
                    <a:lnT w="6350" cap="flat" cmpd="sng" algn="ctr">
                      <a:solidFill>
                        <a:srgbClr val="2D333D"/>
                      </a:solidFill>
                      <a:prstDash val="solid"/>
                      <a:round/>
                      <a:headEnd type="none" w="med" len="med"/>
                      <a:tailEnd type="none" w="med" len="med"/>
                    </a:lnT>
                    <a:lnB w="6350" cap="flat" cmpd="sng" algn="ctr">
                      <a:solidFill>
                        <a:srgbClr val="2D333D"/>
                      </a:solidFill>
                      <a:prstDash val="solid"/>
                      <a:round/>
                      <a:headEnd type="none" w="med" len="med"/>
                      <a:tailEnd type="none" w="med" len="med"/>
                    </a:lnB>
                    <a:solidFill>
                      <a:srgbClr val="101318"/>
                    </a:solidFill>
                  </a:tcPr>
                </a:tc>
                <a:tc>
                  <a:txBody>
                    <a:bodyPr/>
                    <a:lstStyle/>
                    <a:p>
                      <a:pPr indent="0" marL="0">
                        <a:buNone/>
                      </a:pPr>
                      <a:r>
                        <a:rPr lang="en-US" sz="1300" dirty="0">
                          <a:solidFill>
                            <a:srgbClr val="ECE8E1"/>
                          </a:solidFill>
                          <a:latin typeface="Courier New" pitchFamily="34" charset="0"/>
                          <a:ea typeface="Courier New" pitchFamily="34" charset="-122"/>
                          <a:cs typeface="Courier New" pitchFamily="34" charset="-120"/>
                        </a:rPr>
                        <a:t>9</a:t>
                      </a:r>
                      <a:endParaRPr lang="en-US" sz="1300" dirty="0">
                        <a:latin typeface="Courier New" charset="0"/>
                        <a:ea typeface="Courier New" charset="0"/>
                        <a:cs typeface="Courier New" charset="0"/>
                      </a:endParaRPr>
                    </a:p>
                  </a:txBody>
                  <a:tcPr marL="91440" marR="91440" marT="36576" marB="36576" anchor="ctr">
                    <a:lnL w="6350" cap="flat" cmpd="sng" algn="ctr">
                      <a:solidFill>
                        <a:srgbClr val="2D333D"/>
                      </a:solidFill>
                      <a:prstDash val="solid"/>
                      <a:round/>
                      <a:headEnd type="none" w="med" len="med"/>
                      <a:tailEnd type="none" w="med" len="med"/>
                    </a:lnL>
                    <a:lnR w="6350" cap="flat" cmpd="sng" algn="ctr">
                      <a:solidFill>
                        <a:srgbClr val="2D333D"/>
                      </a:solidFill>
                      <a:prstDash val="solid"/>
                      <a:round/>
                      <a:headEnd type="none" w="med" len="med"/>
                      <a:tailEnd type="none" w="med" len="med"/>
                    </a:lnR>
                    <a:lnT w="6350" cap="flat" cmpd="sng" algn="ctr">
                      <a:solidFill>
                        <a:srgbClr val="2D333D"/>
                      </a:solidFill>
                      <a:prstDash val="solid"/>
                      <a:round/>
                      <a:headEnd type="none" w="med" len="med"/>
                      <a:tailEnd type="none" w="med" len="med"/>
                    </a:lnT>
                    <a:lnB w="6350" cap="flat" cmpd="sng" algn="ctr">
                      <a:solidFill>
                        <a:srgbClr val="2D333D"/>
                      </a:solidFill>
                      <a:prstDash val="solid"/>
                      <a:round/>
                      <a:headEnd type="none" w="med" len="med"/>
                      <a:tailEnd type="none" w="med" len="med"/>
                    </a:lnB>
                    <a:solidFill>
                      <a:srgbClr val="101318"/>
                    </a:solidFill>
                  </a:tcPr>
                </a:tc>
              </a:tr>
            </a:tbl>
          </a:graphicData>
        </a:graphic>
      </p:graphicFrame>
      <p:sp>
        <p:nvSpPr>
          <p:cNvPr id="16" name="panel-336"/>
          <p:cNvSpPr/>
          <p:nvPr/>
        </p:nvSpPr>
        <p:spPr>
          <a:xfrm>
            <a:off x="457200" y="3063240"/>
            <a:ext cx="3566160" cy="1463040"/>
          </a:xfrm>
          <a:prstGeom prst="roundRect">
            <a:avLst>
              <a:gd name="adj" fmla="val 5000"/>
            </a:avLst>
          </a:prstGeom>
          <a:solidFill>
            <a:schemeClr val="tx2"/>
          </a:solidFill>
          <a:ln w="9525">
            <a:solidFill>
              <a:schemeClr val="accent5"/>
            </a:solidFill>
            <a:prstDash val="solid"/>
          </a:ln>
        </p:spPr>
      </p:sp>
      <p:sp>
        <p:nvSpPr>
          <p:cNvPr id="17" name="text-337"/>
          <p:cNvSpPr txBox="1"/>
          <p:nvPr/>
        </p:nvSpPr>
        <p:spPr>
          <a:xfrm>
            <a:off x="640080" y="3154680"/>
            <a:ext cx="3200400" cy="1280160"/>
          </a:xfrm>
          <a:prstGeom prst="rect">
            <a:avLst/>
          </a:prstGeom>
          <a:noFill/>
          <a:ln/>
        </p:spPr>
        <p:txBody>
          <a:bodyPr wrap="square" lIns="0" tIns="0" rIns="0" bIns="0" rtlCol="0" anchor="t"/>
          <a:lstStyle/>
          <a:p>
            <a:pPr indent="0" marL="0">
              <a:buNone/>
            </a:pPr>
            <a:r>
              <a:rPr lang="en-US" sz="1400" b="1" dirty="0">
                <a:solidFill>
                  <a:schemeClr val="bg1"/>
                </a:solidFill>
              </a:rPr>
              <a:t>Why values are tracked</a:t>
            </a:r>
            <a:endParaRPr lang="en-US" sz="1400" dirty="0"/>
          </a:p>
          <a:p>
            <a:pPr indent="0" marL="0">
              <a:buNone/>
            </a:pPr>
            <a:r>
              <a:rPr lang="en-US" sz="1200" dirty="0">
                <a:solidFill>
                  <a:schemeClr val="bg2"/>
                </a:solidFill>
              </a:rPr>
              <a:t>No input and no loops means every value is known while compiling, so division by a variable that is 0 is caught before the program runs.</a:t>
            </a:r>
            <a:endParaRPr lang="en-US" sz="1400" dirty="0"/>
          </a:p>
        </p:txBody>
      </p:sp>
      <p:sp>
        <p:nvSpPr>
          <p:cNvPr id="18" name="panel-338"/>
          <p:cNvSpPr/>
          <p:nvPr/>
        </p:nvSpPr>
        <p:spPr>
          <a:xfrm>
            <a:off x="4343400" y="1051560"/>
            <a:ext cx="4343400" cy="603504"/>
          </a:xfrm>
          <a:prstGeom prst="roundRect">
            <a:avLst>
              <a:gd name="adj" fmla="val 12121"/>
            </a:avLst>
          </a:prstGeom>
          <a:solidFill>
            <a:schemeClr val="tx2"/>
          </a:solidFill>
          <a:ln w="9525">
            <a:solidFill>
              <a:schemeClr val="accent5"/>
            </a:solidFill>
            <a:prstDash val="solid"/>
          </a:ln>
        </p:spPr>
      </p:sp>
      <p:sp>
        <p:nvSpPr>
          <p:cNvPr id="19" name="text-339"/>
          <p:cNvSpPr txBox="1"/>
          <p:nvPr/>
        </p:nvSpPr>
        <p:spPr>
          <a:xfrm>
            <a:off x="4526280" y="1051560"/>
            <a:ext cx="4069080" cy="603504"/>
          </a:xfrm>
          <a:prstGeom prst="rect">
            <a:avLst/>
          </a:prstGeom>
          <a:noFill/>
          <a:ln/>
        </p:spPr>
        <p:txBody>
          <a:bodyPr wrap="square" lIns="0" tIns="0" rIns="0" bIns="0" rtlCol="0" anchor="ctr"/>
          <a:lstStyle/>
          <a:p>
            <a:pPr indent="0" marL="0">
              <a:buNone/>
            </a:pPr>
            <a:r>
              <a:rPr lang="en-US" sz="1300" b="1" dirty="0">
                <a:solidFill>
                  <a:schemeClr val="bg1"/>
                </a:solidFill>
              </a:rPr>
              <a:t>Undeclared or misspelled</a:t>
            </a:r>
            <a:endParaRPr lang="en-US" sz="1300" dirty="0"/>
          </a:p>
          <a:p>
            <a:pPr indent="0" marL="0">
              <a:buNone/>
            </a:pPr>
            <a:r>
              <a:rPr lang="en-US" sz="1100" dirty="0">
                <a:solidFill>
                  <a:schemeClr val="bg2"/>
                </a:solidFill>
                <a:latin typeface="Courier New" pitchFamily="34" charset="0"/>
                <a:ea typeface="Courier New" pitchFamily="34" charset="-122"/>
                <a:cs typeface="Courier New" pitchFamily="34" charset="-120"/>
              </a:rPr>
              <a:t>scroe = 2;  →  Did you mean 'score'?</a:t>
            </a:r>
            <a:endParaRPr lang="en-US" sz="1300" dirty="0"/>
          </a:p>
        </p:txBody>
      </p:sp>
      <p:sp>
        <p:nvSpPr>
          <p:cNvPr id="20" name="panel-340"/>
          <p:cNvSpPr/>
          <p:nvPr/>
        </p:nvSpPr>
        <p:spPr>
          <a:xfrm>
            <a:off x="4343400" y="1755648"/>
            <a:ext cx="4343400" cy="603504"/>
          </a:xfrm>
          <a:prstGeom prst="roundRect">
            <a:avLst>
              <a:gd name="adj" fmla="val 12121"/>
            </a:avLst>
          </a:prstGeom>
          <a:solidFill>
            <a:schemeClr val="tx2"/>
          </a:solidFill>
          <a:ln w="9525">
            <a:solidFill>
              <a:schemeClr val="accent5"/>
            </a:solidFill>
            <a:prstDash val="solid"/>
          </a:ln>
        </p:spPr>
      </p:sp>
      <p:sp>
        <p:nvSpPr>
          <p:cNvPr id="21" name="text-341"/>
          <p:cNvSpPr txBox="1"/>
          <p:nvPr/>
        </p:nvSpPr>
        <p:spPr>
          <a:xfrm>
            <a:off x="4526280" y="1755648"/>
            <a:ext cx="4069080" cy="603504"/>
          </a:xfrm>
          <a:prstGeom prst="rect">
            <a:avLst/>
          </a:prstGeom>
          <a:noFill/>
          <a:ln/>
        </p:spPr>
        <p:txBody>
          <a:bodyPr wrap="square" lIns="0" tIns="0" rIns="0" bIns="0" rtlCol="0" anchor="ctr"/>
          <a:lstStyle/>
          <a:p>
            <a:pPr indent="0" marL="0">
              <a:buNone/>
            </a:pPr>
            <a:r>
              <a:rPr lang="en-US" sz="1300" b="1" dirty="0">
                <a:solidFill>
                  <a:schemeClr val="bg1"/>
                </a:solidFill>
              </a:rPr>
              <a:t>Declared twice</a:t>
            </a:r>
            <a:endParaRPr lang="en-US" sz="1300" dirty="0"/>
          </a:p>
          <a:p>
            <a:pPr indent="0" marL="0">
              <a:buNone/>
            </a:pPr>
            <a:r>
              <a:rPr lang="en-US" sz="1100" dirty="0">
                <a:solidFill>
                  <a:schemeClr val="bg2"/>
                </a:solidFill>
                <a:latin typeface="Courier New" pitchFamily="34" charset="0"/>
                <a:ea typeface="Courier New" pitchFamily="34" charset="-122"/>
                <a:cs typeface="Courier New" pitchFamily="34" charset="-120"/>
              </a:rPr>
              <a:t>'age' already declared on line 1</a:t>
            </a:r>
            <a:endParaRPr lang="en-US" sz="1300" dirty="0"/>
          </a:p>
        </p:txBody>
      </p:sp>
      <p:sp>
        <p:nvSpPr>
          <p:cNvPr id="22" name="panel-342"/>
          <p:cNvSpPr/>
          <p:nvPr/>
        </p:nvSpPr>
        <p:spPr>
          <a:xfrm>
            <a:off x="4343400" y="2459736"/>
            <a:ext cx="4343400" cy="603504"/>
          </a:xfrm>
          <a:prstGeom prst="roundRect">
            <a:avLst>
              <a:gd name="adj" fmla="val 12121"/>
            </a:avLst>
          </a:prstGeom>
          <a:solidFill>
            <a:schemeClr val="tx2"/>
          </a:solidFill>
          <a:ln w="9525">
            <a:solidFill>
              <a:schemeClr val="accent5"/>
            </a:solidFill>
            <a:prstDash val="solid"/>
          </a:ln>
        </p:spPr>
      </p:sp>
      <p:sp>
        <p:nvSpPr>
          <p:cNvPr id="23" name="text-343"/>
          <p:cNvSpPr txBox="1"/>
          <p:nvPr/>
        </p:nvSpPr>
        <p:spPr>
          <a:xfrm>
            <a:off x="4526280" y="2459736"/>
            <a:ext cx="4069080" cy="603504"/>
          </a:xfrm>
          <a:prstGeom prst="rect">
            <a:avLst/>
          </a:prstGeom>
          <a:noFill/>
          <a:ln/>
        </p:spPr>
        <p:txBody>
          <a:bodyPr wrap="square" lIns="0" tIns="0" rIns="0" bIns="0" rtlCol="0" anchor="ctr"/>
          <a:lstStyle/>
          <a:p>
            <a:pPr indent="0" marL="0">
              <a:buNone/>
            </a:pPr>
            <a:r>
              <a:rPr lang="en-US" sz="1300" b="1" dirty="0">
                <a:solidFill>
                  <a:schemeClr val="bg1"/>
                </a:solidFill>
              </a:rPr>
              <a:t>No starting value</a:t>
            </a:r>
            <a:endParaRPr lang="en-US" sz="1300" dirty="0"/>
          </a:p>
          <a:p>
            <a:pPr indent="0" marL="0">
              <a:buNone/>
            </a:pPr>
            <a:r>
              <a:rPr lang="en-US" sz="1100" dirty="0">
                <a:solidFill>
                  <a:schemeClr val="bg2"/>
                </a:solidFill>
                <a:latin typeface="Courier New" pitchFamily="34" charset="0"/>
                <a:ea typeface="Courier New" pitchFamily="34" charset="-122"/>
                <a:cs typeface="Courier New" pitchFamily="34" charset="-120"/>
              </a:rPr>
              <a:t>int a;  →  needs '= value'</a:t>
            </a:r>
            <a:endParaRPr lang="en-US" sz="1300" dirty="0"/>
          </a:p>
        </p:txBody>
      </p:sp>
      <p:sp>
        <p:nvSpPr>
          <p:cNvPr id="24" name="panel-344"/>
          <p:cNvSpPr/>
          <p:nvPr/>
        </p:nvSpPr>
        <p:spPr>
          <a:xfrm>
            <a:off x="4343400" y="3163824"/>
            <a:ext cx="4343400" cy="603504"/>
          </a:xfrm>
          <a:prstGeom prst="roundRect">
            <a:avLst>
              <a:gd name="adj" fmla="val 12121"/>
            </a:avLst>
          </a:prstGeom>
          <a:solidFill>
            <a:schemeClr val="tx2"/>
          </a:solidFill>
          <a:ln w="9525">
            <a:solidFill>
              <a:schemeClr val="accent5"/>
            </a:solidFill>
            <a:prstDash val="solid"/>
          </a:ln>
        </p:spPr>
      </p:sp>
      <p:sp>
        <p:nvSpPr>
          <p:cNvPr id="25" name="text-345"/>
          <p:cNvSpPr txBox="1"/>
          <p:nvPr/>
        </p:nvSpPr>
        <p:spPr>
          <a:xfrm>
            <a:off x="4526280" y="3163824"/>
            <a:ext cx="4069080" cy="603504"/>
          </a:xfrm>
          <a:prstGeom prst="rect">
            <a:avLst/>
          </a:prstGeom>
          <a:noFill/>
          <a:ln/>
        </p:spPr>
        <p:txBody>
          <a:bodyPr wrap="square" lIns="0" tIns="0" rIns="0" bIns="0" rtlCol="0" anchor="ctr"/>
          <a:lstStyle/>
          <a:p>
            <a:pPr indent="0" marL="0">
              <a:buNone/>
            </a:pPr>
            <a:r>
              <a:rPr lang="en-US" sz="1300" b="1" dirty="0">
                <a:solidFill>
                  <a:schemeClr val="bg1"/>
                </a:solidFill>
              </a:rPr>
              <a:t>Used in its own declaration</a:t>
            </a:r>
            <a:endParaRPr lang="en-US" sz="1300" dirty="0"/>
          </a:p>
          <a:p>
            <a:pPr indent="0" marL="0">
              <a:buNone/>
            </a:pPr>
            <a:r>
              <a:rPr lang="en-US" sz="1100" dirty="0">
                <a:solidFill>
                  <a:schemeClr val="bg2"/>
                </a:solidFill>
                <a:latin typeface="Courier New" pitchFamily="34" charset="0"/>
                <a:ea typeface="Courier New" pitchFamily="34" charset="-122"/>
                <a:cs typeface="Courier New" pitchFamily="34" charset="-120"/>
              </a:rPr>
              <a:t>int a = a + 1;</a:t>
            </a:r>
            <a:endParaRPr lang="en-US" sz="1300" dirty="0"/>
          </a:p>
        </p:txBody>
      </p:sp>
      <p:sp>
        <p:nvSpPr>
          <p:cNvPr id="26" name="panel-346"/>
          <p:cNvSpPr/>
          <p:nvPr/>
        </p:nvSpPr>
        <p:spPr>
          <a:xfrm>
            <a:off x="4343400" y="3867912"/>
            <a:ext cx="4343400" cy="603504"/>
          </a:xfrm>
          <a:prstGeom prst="roundRect">
            <a:avLst>
              <a:gd name="adj" fmla="val 12121"/>
            </a:avLst>
          </a:prstGeom>
          <a:solidFill>
            <a:schemeClr val="tx2"/>
          </a:solidFill>
          <a:ln w="9525">
            <a:solidFill>
              <a:schemeClr val="accent5"/>
            </a:solidFill>
            <a:prstDash val="solid"/>
          </a:ln>
        </p:spPr>
      </p:sp>
      <p:sp>
        <p:nvSpPr>
          <p:cNvPr id="27" name="text-347"/>
          <p:cNvSpPr txBox="1"/>
          <p:nvPr/>
        </p:nvSpPr>
        <p:spPr>
          <a:xfrm>
            <a:off x="4526280" y="3867912"/>
            <a:ext cx="4069080" cy="603504"/>
          </a:xfrm>
          <a:prstGeom prst="rect">
            <a:avLst/>
          </a:prstGeom>
          <a:noFill/>
          <a:ln/>
        </p:spPr>
        <p:txBody>
          <a:bodyPr wrap="square" lIns="0" tIns="0" rIns="0" bIns="0" rtlCol="0" anchor="ctr"/>
          <a:lstStyle/>
          <a:p>
            <a:pPr indent="0" marL="0">
              <a:buNone/>
            </a:pPr>
            <a:r>
              <a:rPr lang="en-US" sz="1300" b="1" dirty="0">
                <a:solidFill>
                  <a:schemeClr val="bg1"/>
                </a:solidFill>
              </a:rPr>
              <a:t>Division by zero · overflow</a:t>
            </a:r>
            <a:endParaRPr lang="en-US" sz="1300" dirty="0"/>
          </a:p>
          <a:p>
            <a:pPr indent="0" marL="0">
              <a:buNone/>
            </a:pPr>
            <a:r>
              <a:rPr lang="en-US" sz="1100" dirty="0">
                <a:solidFill>
                  <a:schemeClr val="bg2"/>
                </a:solidFill>
                <a:latin typeface="Courier New" pitchFamily="34" charset="0"/>
                <a:ea typeface="Courier New" pitchFamily="34" charset="-122"/>
                <a:cs typeface="Courier New" pitchFamily="34" charset="-120"/>
              </a:rPr>
              <a:t>a / zero,  8 / (4 - 4),  int range</a:t>
            </a:r>
            <a:endParaRPr lang="en-US" sz="1300" dirty="0"/>
          </a:p>
        </p:txBody>
      </p:sp>
      <p:sp>
        <p:nvSpPr>
          <p:cNvPr id="25" name="Slide Number Placeholder 0"/>
          <p:cNvSpPr>
            <a:spLocks noGrp="1"/>
          </p:cNvSpPr>
          <p:nvPr>
            <p:ph type="sldNum" sz="quarter" idx="4294967295"/>
          </p:nvPr>
        </p:nvSpPr>
        <p:spPr>
          <a:xfrm>
            <a:off x="8321040" y="473659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600" b="1" dirty="0">
                <a:solidFill>
                  <a:schemeClr val="bg1"/>
                </a:solidFill>
              </a:rPr>
              <a:t>Phase 4 · Three-address code</a:t>
            </a:r>
            <a:endParaRPr lang="en-US" sz="2600" dirty="0"/>
          </a:p>
        </p:txBody>
      </p:sp>
      <p:sp>
        <p:nvSpPr>
          <p:cNvPr id="4" name="phase-348"/>
          <p:cNvSpPr/>
          <p:nvPr/>
        </p:nvSpPr>
        <p:spPr>
          <a:xfrm>
            <a:off x="457200" y="4718304"/>
            <a:ext cx="868680" cy="256032"/>
          </a:xfrm>
          <a:prstGeom prst="roundRect">
            <a:avLst>
              <a:gd name="adj" fmla="val 17857"/>
            </a:avLst>
          </a:prstGeom>
          <a:solidFill>
            <a:schemeClr val="tx2"/>
          </a:solidFill>
          <a:ln w="9525">
            <a:solidFill>
              <a:schemeClr val="accent5"/>
            </a:solidFill>
            <a:prstDash val="solid"/>
          </a:ln>
        </p:spPr>
      </p:sp>
      <p:sp>
        <p:nvSpPr>
          <p:cNvPr id="5" name="text-349"/>
          <p:cNvSpPr txBox="1"/>
          <p:nvPr/>
        </p:nvSpPr>
        <p:spPr>
          <a:xfrm>
            <a:off x="457200" y="4718304"/>
            <a:ext cx="868680" cy="256032"/>
          </a:xfrm>
          <a:prstGeom prst="rect">
            <a:avLst/>
          </a:prstGeom>
          <a:noFill/>
          <a:ln/>
        </p:spPr>
        <p:txBody>
          <a:bodyPr wrap="square" lIns="0" tIns="0" rIns="0" bIns="0" rtlCol="0" anchor="ctr"/>
          <a:lstStyle/>
          <a:p>
            <a:pPr algn="ctr" indent="0" marL="0">
              <a:buNone/>
            </a:pPr>
            <a:r>
              <a:rPr lang="en-US" sz="1000" dirty="0">
                <a:solidFill>
                  <a:schemeClr val="bg2"/>
                </a:solidFill>
              </a:rPr>
              <a:t>1 Lexical</a:t>
            </a:r>
            <a:endParaRPr lang="en-US" sz="1000" dirty="0"/>
          </a:p>
        </p:txBody>
      </p:sp>
      <p:sp>
        <p:nvSpPr>
          <p:cNvPr id="6" name="phase-350"/>
          <p:cNvSpPr/>
          <p:nvPr/>
        </p:nvSpPr>
        <p:spPr>
          <a:xfrm>
            <a:off x="1389888" y="4718304"/>
            <a:ext cx="868680" cy="256032"/>
          </a:xfrm>
          <a:prstGeom prst="roundRect">
            <a:avLst>
              <a:gd name="adj" fmla="val 17857"/>
            </a:avLst>
          </a:prstGeom>
          <a:solidFill>
            <a:schemeClr val="tx2"/>
          </a:solidFill>
          <a:ln w="9525">
            <a:solidFill>
              <a:schemeClr val="accent5"/>
            </a:solidFill>
            <a:prstDash val="solid"/>
          </a:ln>
        </p:spPr>
      </p:sp>
      <p:sp>
        <p:nvSpPr>
          <p:cNvPr id="7" name="text-351"/>
          <p:cNvSpPr txBox="1"/>
          <p:nvPr/>
        </p:nvSpPr>
        <p:spPr>
          <a:xfrm>
            <a:off x="1389888" y="4718304"/>
            <a:ext cx="868680" cy="256032"/>
          </a:xfrm>
          <a:prstGeom prst="rect">
            <a:avLst/>
          </a:prstGeom>
          <a:noFill/>
          <a:ln/>
        </p:spPr>
        <p:txBody>
          <a:bodyPr wrap="square" lIns="0" tIns="0" rIns="0" bIns="0" rtlCol="0" anchor="ctr"/>
          <a:lstStyle/>
          <a:p>
            <a:pPr algn="ctr" indent="0" marL="0">
              <a:buNone/>
            </a:pPr>
            <a:r>
              <a:rPr lang="en-US" sz="1000" dirty="0">
                <a:solidFill>
                  <a:schemeClr val="bg2"/>
                </a:solidFill>
              </a:rPr>
              <a:t>2 Syntax</a:t>
            </a:r>
            <a:endParaRPr lang="en-US" sz="1000" dirty="0"/>
          </a:p>
        </p:txBody>
      </p:sp>
      <p:sp>
        <p:nvSpPr>
          <p:cNvPr id="8" name="phase-352"/>
          <p:cNvSpPr/>
          <p:nvPr/>
        </p:nvSpPr>
        <p:spPr>
          <a:xfrm>
            <a:off x="2322576" y="4718304"/>
            <a:ext cx="868680" cy="256032"/>
          </a:xfrm>
          <a:prstGeom prst="roundRect">
            <a:avLst>
              <a:gd name="adj" fmla="val 17857"/>
            </a:avLst>
          </a:prstGeom>
          <a:solidFill>
            <a:schemeClr val="tx2"/>
          </a:solidFill>
          <a:ln w="9525">
            <a:solidFill>
              <a:schemeClr val="accent5"/>
            </a:solidFill>
            <a:prstDash val="solid"/>
          </a:ln>
        </p:spPr>
      </p:sp>
      <p:sp>
        <p:nvSpPr>
          <p:cNvPr id="9" name="text-353"/>
          <p:cNvSpPr txBox="1"/>
          <p:nvPr/>
        </p:nvSpPr>
        <p:spPr>
          <a:xfrm>
            <a:off x="2322576" y="4718304"/>
            <a:ext cx="868680" cy="256032"/>
          </a:xfrm>
          <a:prstGeom prst="rect">
            <a:avLst/>
          </a:prstGeom>
          <a:noFill/>
          <a:ln/>
        </p:spPr>
        <p:txBody>
          <a:bodyPr wrap="square" lIns="0" tIns="0" rIns="0" bIns="0" rtlCol="0" anchor="ctr"/>
          <a:lstStyle/>
          <a:p>
            <a:pPr algn="ctr" indent="0" marL="0">
              <a:buNone/>
            </a:pPr>
            <a:r>
              <a:rPr lang="en-US" sz="1000" dirty="0">
                <a:solidFill>
                  <a:schemeClr val="bg2"/>
                </a:solidFill>
              </a:rPr>
              <a:t>3 Semantic</a:t>
            </a:r>
            <a:endParaRPr lang="en-US" sz="1000" dirty="0"/>
          </a:p>
        </p:txBody>
      </p:sp>
      <p:sp>
        <p:nvSpPr>
          <p:cNvPr id="10" name="phase-354"/>
          <p:cNvSpPr/>
          <p:nvPr/>
        </p:nvSpPr>
        <p:spPr>
          <a:xfrm>
            <a:off x="3255264" y="4718304"/>
            <a:ext cx="868680" cy="256032"/>
          </a:xfrm>
          <a:prstGeom prst="roundRect">
            <a:avLst>
              <a:gd name="adj" fmla="val 17857"/>
            </a:avLst>
          </a:prstGeom>
          <a:solidFill>
            <a:schemeClr val="accent1"/>
          </a:solidFill>
          <a:ln w="9525">
            <a:solidFill>
              <a:schemeClr val="accent1"/>
            </a:solidFill>
            <a:prstDash val="solid"/>
          </a:ln>
        </p:spPr>
      </p:sp>
      <p:sp>
        <p:nvSpPr>
          <p:cNvPr id="11" name="text-355"/>
          <p:cNvSpPr txBox="1"/>
          <p:nvPr/>
        </p:nvSpPr>
        <p:spPr>
          <a:xfrm>
            <a:off x="3255264" y="4718304"/>
            <a:ext cx="868680" cy="256032"/>
          </a:xfrm>
          <a:prstGeom prst="rect">
            <a:avLst/>
          </a:prstGeom>
          <a:noFill/>
          <a:ln/>
        </p:spPr>
        <p:txBody>
          <a:bodyPr wrap="square" lIns="0" tIns="0" rIns="0" bIns="0" rtlCol="0" anchor="ctr"/>
          <a:lstStyle/>
          <a:p>
            <a:pPr algn="ctr" indent="0" marL="0">
              <a:buNone/>
            </a:pPr>
            <a:r>
              <a:rPr lang="en-US" sz="1000" b="1" dirty="0">
                <a:solidFill>
                  <a:schemeClr val="tx1"/>
                </a:solidFill>
              </a:rPr>
              <a:t>4 TAC</a:t>
            </a:r>
            <a:endParaRPr lang="en-US" sz="1000" dirty="0"/>
          </a:p>
        </p:txBody>
      </p:sp>
      <p:sp>
        <p:nvSpPr>
          <p:cNvPr id="12" name="phase-356"/>
          <p:cNvSpPr/>
          <p:nvPr/>
        </p:nvSpPr>
        <p:spPr>
          <a:xfrm>
            <a:off x="4187952" y="4718304"/>
            <a:ext cx="868680" cy="256032"/>
          </a:xfrm>
          <a:prstGeom prst="roundRect">
            <a:avLst>
              <a:gd name="adj" fmla="val 17857"/>
            </a:avLst>
          </a:prstGeom>
          <a:solidFill>
            <a:schemeClr val="tx2"/>
          </a:solidFill>
          <a:ln w="9525">
            <a:solidFill>
              <a:schemeClr val="accent5"/>
            </a:solidFill>
            <a:prstDash val="solid"/>
          </a:ln>
        </p:spPr>
      </p:sp>
      <p:sp>
        <p:nvSpPr>
          <p:cNvPr id="13" name="text-357"/>
          <p:cNvSpPr txBox="1"/>
          <p:nvPr/>
        </p:nvSpPr>
        <p:spPr>
          <a:xfrm>
            <a:off x="4187952" y="4718304"/>
            <a:ext cx="868680" cy="256032"/>
          </a:xfrm>
          <a:prstGeom prst="rect">
            <a:avLst/>
          </a:prstGeom>
          <a:noFill/>
          <a:ln/>
        </p:spPr>
        <p:txBody>
          <a:bodyPr wrap="square" lIns="0" tIns="0" rIns="0" bIns="0" rtlCol="0" anchor="ctr"/>
          <a:lstStyle/>
          <a:p>
            <a:pPr algn="ctr" indent="0" marL="0">
              <a:buNone/>
            </a:pPr>
            <a:r>
              <a:rPr lang="en-US" sz="1000" dirty="0">
                <a:solidFill>
                  <a:schemeClr val="bg2"/>
                </a:solidFill>
              </a:rPr>
              <a:t>5 Errors</a:t>
            </a:r>
            <a:endParaRPr lang="en-US" sz="1000" dirty="0"/>
          </a:p>
        </p:txBody>
      </p:sp>
      <p:sp>
        <p:nvSpPr>
          <p:cNvPr id="14" name="text-358"/>
          <p:cNvSpPr txBox="1"/>
          <p:nvPr/>
        </p:nvSpPr>
        <p:spPr>
          <a:xfrm>
            <a:off x="457200" y="1051560"/>
            <a:ext cx="2743200" cy="228600"/>
          </a:xfrm>
          <a:prstGeom prst="rect">
            <a:avLst/>
          </a:prstGeom>
          <a:noFill/>
          <a:ln/>
        </p:spPr>
        <p:txBody>
          <a:bodyPr wrap="square" lIns="0" tIns="0" rIns="0" bIns="0" rtlCol="0" anchor="t"/>
          <a:lstStyle/>
          <a:p>
            <a:pPr indent="0" marL="0">
              <a:buNone/>
            </a:pPr>
            <a:r>
              <a:rPr lang="en-US" sz="1000" b="1" spc="150" kern="0" dirty="0">
                <a:solidFill>
                  <a:schemeClr val="bg2"/>
                </a:solidFill>
              </a:rPr>
              <a:t>SOURCE</a:t>
            </a:r>
            <a:endParaRPr lang="en-US" sz="1000" dirty="0"/>
          </a:p>
        </p:txBody>
      </p:sp>
      <p:sp>
        <p:nvSpPr>
          <p:cNvPr id="15" name="panel-359"/>
          <p:cNvSpPr/>
          <p:nvPr/>
        </p:nvSpPr>
        <p:spPr>
          <a:xfrm>
            <a:off x="457200" y="1325880"/>
            <a:ext cx="3291840" cy="2011680"/>
          </a:xfrm>
          <a:prstGeom prst="roundRect">
            <a:avLst>
              <a:gd name="adj" fmla="val 3636"/>
            </a:avLst>
          </a:prstGeom>
          <a:solidFill>
            <a:schemeClr val="tx1"/>
          </a:solidFill>
          <a:ln w="9525">
            <a:solidFill>
              <a:schemeClr val="accent5"/>
            </a:solidFill>
            <a:prstDash val="solid"/>
          </a:ln>
        </p:spPr>
      </p:sp>
      <p:sp>
        <p:nvSpPr>
          <p:cNvPr id="16" name="text-360"/>
          <p:cNvSpPr txBox="1"/>
          <p:nvPr/>
        </p:nvSpPr>
        <p:spPr>
          <a:xfrm>
            <a:off x="594360" y="1435608"/>
            <a:ext cx="3017520" cy="1792224"/>
          </a:xfrm>
          <a:prstGeom prst="rect">
            <a:avLst/>
          </a:prstGeom>
          <a:noFill/>
          <a:ln/>
        </p:spPr>
        <p:txBody>
          <a:bodyPr wrap="square" lIns="0" tIns="0" rIns="0" bIns="0" rtlCol="0" anchor="t"/>
          <a:lstStyle/>
          <a:p>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int age = 20;</a:t>
            </a:r>
            <a:endParaRPr lang="en-US" sz="1200" dirty="0"/>
          </a:p>
          <a:p>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int score = 10;</a:t>
            </a:r>
            <a:endParaRPr lang="en-US" sz="1200" dirty="0"/>
          </a:p>
          <a:p>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score = score + age * 2;</a:t>
            </a:r>
            <a:endParaRPr lang="en-US" sz="1200" dirty="0"/>
          </a:p>
          <a:p>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int bonus = (score - 5) / 5;</a:t>
            </a:r>
            <a:endParaRPr lang="en-US" sz="1200" dirty="0"/>
          </a:p>
          <a:p>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print score;</a:t>
            </a:r>
            <a:endParaRPr lang="en-US" sz="1200" dirty="0"/>
          </a:p>
          <a:p>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print bonus * (age + 1);</a:t>
            </a:r>
            <a:endParaRPr lang="en-US" sz="1200" dirty="0"/>
          </a:p>
        </p:txBody>
      </p:sp>
      <p:sp>
        <p:nvSpPr>
          <p:cNvPr id="17" name="text-361"/>
          <p:cNvSpPr txBox="1"/>
          <p:nvPr/>
        </p:nvSpPr>
        <p:spPr>
          <a:xfrm>
            <a:off x="4023360" y="1051560"/>
            <a:ext cx="2743200" cy="228600"/>
          </a:xfrm>
          <a:prstGeom prst="rect">
            <a:avLst/>
          </a:prstGeom>
          <a:noFill/>
          <a:ln/>
        </p:spPr>
        <p:txBody>
          <a:bodyPr wrap="square" lIns="0" tIns="0" rIns="0" bIns="0" rtlCol="0" anchor="t"/>
          <a:lstStyle/>
          <a:p>
            <a:pPr indent="0" marL="0">
              <a:buNone/>
            </a:pPr>
            <a:r>
              <a:rPr lang="en-US" sz="1000" b="1" spc="150" kern="0" dirty="0">
                <a:solidFill>
                  <a:schemeClr val="bg2"/>
                </a:solidFill>
              </a:rPr>
              <a:t>TAC (12 INSTRUCTIONS)</a:t>
            </a:r>
            <a:endParaRPr lang="en-US" sz="1000" dirty="0"/>
          </a:p>
        </p:txBody>
      </p:sp>
      <p:sp>
        <p:nvSpPr>
          <p:cNvPr id="18" name="panel-362"/>
          <p:cNvSpPr/>
          <p:nvPr/>
        </p:nvSpPr>
        <p:spPr>
          <a:xfrm>
            <a:off x="4023360" y="1325880"/>
            <a:ext cx="2240280" cy="2011680"/>
          </a:xfrm>
          <a:prstGeom prst="roundRect">
            <a:avLst>
              <a:gd name="adj" fmla="val 3636"/>
            </a:avLst>
          </a:prstGeom>
          <a:solidFill>
            <a:schemeClr val="tx1"/>
          </a:solidFill>
          <a:ln w="9525">
            <a:solidFill>
              <a:schemeClr val="accent5"/>
            </a:solidFill>
            <a:prstDash val="solid"/>
          </a:ln>
        </p:spPr>
      </p:sp>
      <p:sp>
        <p:nvSpPr>
          <p:cNvPr id="19" name="text-363"/>
          <p:cNvSpPr txBox="1"/>
          <p:nvPr/>
        </p:nvSpPr>
        <p:spPr>
          <a:xfrm>
            <a:off x="4160520" y="1435608"/>
            <a:ext cx="1965960" cy="1792224"/>
          </a:xfrm>
          <a:prstGeom prst="rect">
            <a:avLst/>
          </a:prstGeom>
          <a:noFill/>
          <a:ln/>
        </p:spPr>
        <p:txBody>
          <a:bodyPr wrap="square" lIns="0" tIns="0" rIns="0" bIns="0" rtlCol="0" anchor="t"/>
          <a:lstStyle/>
          <a:p>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age = 20</a:t>
            </a:r>
            <a:endParaRPr lang="en-US" sz="1200" dirty="0"/>
          </a:p>
          <a:p>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score = 10</a:t>
            </a:r>
            <a:endParaRPr lang="en-US" sz="1200" dirty="0"/>
          </a:p>
          <a:p>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t1 = age * 2</a:t>
            </a:r>
            <a:endParaRPr lang="en-US" sz="1200" dirty="0"/>
          </a:p>
          <a:p>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t2 = score + t1</a:t>
            </a:r>
            <a:endParaRPr lang="en-US" sz="1200" dirty="0"/>
          </a:p>
          <a:p>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score = t2</a:t>
            </a:r>
            <a:endParaRPr lang="en-US" sz="1200" dirty="0"/>
          </a:p>
          <a:p>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t3 = score - 5</a:t>
            </a:r>
            <a:endParaRPr lang="en-US" sz="1200" dirty="0"/>
          </a:p>
        </p:txBody>
      </p:sp>
      <p:sp>
        <p:nvSpPr>
          <p:cNvPr id="20" name="panel-364"/>
          <p:cNvSpPr/>
          <p:nvPr/>
        </p:nvSpPr>
        <p:spPr>
          <a:xfrm>
            <a:off x="6446520" y="1325880"/>
            <a:ext cx="2240280" cy="2011680"/>
          </a:xfrm>
          <a:prstGeom prst="roundRect">
            <a:avLst>
              <a:gd name="adj" fmla="val 3636"/>
            </a:avLst>
          </a:prstGeom>
          <a:solidFill>
            <a:schemeClr val="tx1"/>
          </a:solidFill>
          <a:ln w="9525">
            <a:solidFill>
              <a:schemeClr val="accent5"/>
            </a:solidFill>
            <a:prstDash val="solid"/>
          </a:ln>
        </p:spPr>
      </p:sp>
      <p:sp>
        <p:nvSpPr>
          <p:cNvPr id="21" name="text-365"/>
          <p:cNvSpPr txBox="1"/>
          <p:nvPr/>
        </p:nvSpPr>
        <p:spPr>
          <a:xfrm>
            <a:off x="6583680" y="1435608"/>
            <a:ext cx="1965960" cy="1792224"/>
          </a:xfrm>
          <a:prstGeom prst="rect">
            <a:avLst/>
          </a:prstGeom>
          <a:noFill/>
          <a:ln/>
        </p:spPr>
        <p:txBody>
          <a:bodyPr wrap="square" lIns="0" tIns="0" rIns="0" bIns="0" rtlCol="0" anchor="t"/>
          <a:lstStyle/>
          <a:p>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t4 = t3 / 5</a:t>
            </a:r>
            <a:endParaRPr lang="en-US" sz="1200" dirty="0"/>
          </a:p>
          <a:p>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bonus = t4</a:t>
            </a:r>
            <a:endParaRPr lang="en-US" sz="1200" dirty="0"/>
          </a:p>
          <a:p>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print score</a:t>
            </a:r>
            <a:endParaRPr lang="en-US" sz="1200" dirty="0"/>
          </a:p>
          <a:p>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t5 = age + 1</a:t>
            </a:r>
            <a:endParaRPr lang="en-US" sz="1200" dirty="0"/>
          </a:p>
          <a:p>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t6 = bonus * t5</a:t>
            </a:r>
            <a:endParaRPr lang="en-US" sz="1200" dirty="0"/>
          </a:p>
          <a:p>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print t6</a:t>
            </a:r>
            <a:endParaRPr lang="en-US" sz="1200" dirty="0"/>
          </a:p>
        </p:txBody>
      </p:sp>
      <p:sp>
        <p:nvSpPr>
          <p:cNvPr id="22" name="panel-366"/>
          <p:cNvSpPr/>
          <p:nvPr/>
        </p:nvSpPr>
        <p:spPr>
          <a:xfrm>
            <a:off x="457200" y="3566160"/>
            <a:ext cx="2651760" cy="960120"/>
          </a:xfrm>
          <a:prstGeom prst="roundRect">
            <a:avLst>
              <a:gd name="adj" fmla="val 7619"/>
            </a:avLst>
          </a:prstGeom>
          <a:solidFill>
            <a:schemeClr val="tx2"/>
          </a:solidFill>
          <a:ln w="9525">
            <a:solidFill>
              <a:schemeClr val="accent5"/>
            </a:solidFill>
            <a:prstDash val="solid"/>
          </a:ln>
        </p:spPr>
      </p:sp>
      <p:sp>
        <p:nvSpPr>
          <p:cNvPr id="23" name="text-367"/>
          <p:cNvSpPr txBox="1"/>
          <p:nvPr/>
        </p:nvSpPr>
        <p:spPr>
          <a:xfrm>
            <a:off x="640080" y="3566160"/>
            <a:ext cx="2331720" cy="960120"/>
          </a:xfrm>
          <a:prstGeom prst="rect">
            <a:avLst/>
          </a:prstGeom>
          <a:noFill/>
          <a:ln/>
        </p:spPr>
        <p:txBody>
          <a:bodyPr wrap="square" lIns="0" tIns="0" rIns="0" bIns="0" rtlCol="0" anchor="ctr"/>
          <a:lstStyle/>
          <a:p>
            <a:pPr indent="0" marL="0">
              <a:buNone/>
            </a:pPr>
            <a:r>
              <a:rPr lang="en-US" sz="1400" b="1" dirty="0">
                <a:solidFill>
                  <a:schemeClr val="accent2"/>
                </a:solidFill>
              </a:rPr>
              <a:t>One operator</a:t>
            </a:r>
            <a:endParaRPr lang="en-US" sz="1400" dirty="0"/>
          </a:p>
          <a:p>
            <a:pPr indent="0" marL="0">
              <a:buNone/>
            </a:pPr>
            <a:r>
              <a:rPr lang="en-US" sz="1200" dirty="0">
                <a:solidFill>
                  <a:schemeClr val="bg2"/>
                </a:solidFill>
              </a:rPr>
              <a:t>per instruction: t1 = a op b</a:t>
            </a:r>
            <a:endParaRPr lang="en-US" sz="1400" dirty="0"/>
          </a:p>
        </p:txBody>
      </p:sp>
      <p:sp>
        <p:nvSpPr>
          <p:cNvPr id="24" name="panel-368"/>
          <p:cNvSpPr/>
          <p:nvPr/>
        </p:nvSpPr>
        <p:spPr>
          <a:xfrm>
            <a:off x="3264408" y="3566160"/>
            <a:ext cx="2651760" cy="960120"/>
          </a:xfrm>
          <a:prstGeom prst="roundRect">
            <a:avLst>
              <a:gd name="adj" fmla="val 7619"/>
            </a:avLst>
          </a:prstGeom>
          <a:solidFill>
            <a:schemeClr val="tx2"/>
          </a:solidFill>
          <a:ln w="9525">
            <a:solidFill>
              <a:schemeClr val="accent5"/>
            </a:solidFill>
            <a:prstDash val="solid"/>
          </a:ln>
        </p:spPr>
      </p:sp>
      <p:sp>
        <p:nvSpPr>
          <p:cNvPr id="25" name="text-369"/>
          <p:cNvSpPr txBox="1"/>
          <p:nvPr/>
        </p:nvSpPr>
        <p:spPr>
          <a:xfrm>
            <a:off x="3447288" y="3566160"/>
            <a:ext cx="2331720" cy="960120"/>
          </a:xfrm>
          <a:prstGeom prst="rect">
            <a:avLst/>
          </a:prstGeom>
          <a:noFill/>
          <a:ln/>
        </p:spPr>
        <p:txBody>
          <a:bodyPr wrap="square" lIns="0" tIns="0" rIns="0" bIns="0" rtlCol="0" anchor="ctr"/>
          <a:lstStyle/>
          <a:p>
            <a:pPr indent="0" marL="0">
              <a:buNone/>
            </a:pPr>
            <a:r>
              <a:rPr lang="en-US" sz="1400" b="1" dirty="0">
                <a:solidFill>
                  <a:schemeClr val="accent2"/>
                </a:solidFill>
              </a:rPr>
              <a:t>Safe temps</a:t>
            </a:r>
            <a:endParaRPr lang="en-US" sz="1400" dirty="0"/>
          </a:p>
          <a:p>
            <a:pPr indent="0" marL="0">
              <a:buNone/>
            </a:pPr>
            <a:r>
              <a:rPr lang="en-US" sz="1200" dirty="0">
                <a:solidFill>
                  <a:schemeClr val="bg2"/>
                </a:solidFill>
              </a:rPr>
              <a:t>t1, t2… skip names already used</a:t>
            </a:r>
            <a:endParaRPr lang="en-US" sz="1400" dirty="0"/>
          </a:p>
        </p:txBody>
      </p:sp>
      <p:sp>
        <p:nvSpPr>
          <p:cNvPr id="26" name="panel-370"/>
          <p:cNvSpPr/>
          <p:nvPr/>
        </p:nvSpPr>
        <p:spPr>
          <a:xfrm>
            <a:off x="6071616" y="3566160"/>
            <a:ext cx="2651760" cy="960120"/>
          </a:xfrm>
          <a:prstGeom prst="roundRect">
            <a:avLst>
              <a:gd name="adj" fmla="val 7619"/>
            </a:avLst>
          </a:prstGeom>
          <a:solidFill>
            <a:schemeClr val="tx2"/>
          </a:solidFill>
          <a:ln w="9525">
            <a:solidFill>
              <a:schemeClr val="accent5"/>
            </a:solidFill>
            <a:prstDash val="solid"/>
          </a:ln>
        </p:spPr>
      </p:sp>
      <p:sp>
        <p:nvSpPr>
          <p:cNvPr id="27" name="text-371"/>
          <p:cNvSpPr txBox="1"/>
          <p:nvPr/>
        </p:nvSpPr>
        <p:spPr>
          <a:xfrm>
            <a:off x="6254496" y="3566160"/>
            <a:ext cx="2331720" cy="960120"/>
          </a:xfrm>
          <a:prstGeom prst="rect">
            <a:avLst/>
          </a:prstGeom>
          <a:noFill/>
          <a:ln/>
        </p:spPr>
        <p:txBody>
          <a:bodyPr wrap="square" lIns="0" tIns="0" rIns="0" bIns="0" rtlCol="0" anchor="ctr"/>
          <a:lstStyle/>
          <a:p>
            <a:pPr indent="0" marL="0">
              <a:buNone/>
            </a:pPr>
            <a:r>
              <a:rPr lang="en-US" sz="1400" b="1" dirty="0">
                <a:solidFill>
                  <a:schemeClr val="accent2"/>
                </a:solidFill>
              </a:rPr>
              <a:t>All or nothing</a:t>
            </a:r>
            <a:endParaRPr lang="en-US" sz="1400" dirty="0"/>
          </a:p>
          <a:p>
            <a:pPr indent="0" marL="0">
              <a:buNone/>
            </a:pPr>
            <a:r>
              <a:rPr lang="en-US" sz="1200" dirty="0">
                <a:solidFill>
                  <a:schemeClr val="bg2"/>
                </a:solidFill>
              </a:rPr>
              <a:t>printed only if every phase passes</a:t>
            </a:r>
            <a:endParaRPr lang="en-US" sz="1400" dirty="0"/>
          </a:p>
        </p:txBody>
      </p:sp>
      <p:sp>
        <p:nvSpPr>
          <p:cNvPr id="25" name="Slide Number Placeholder 0"/>
          <p:cNvSpPr>
            <a:spLocks noGrp="1"/>
          </p:cNvSpPr>
          <p:nvPr>
            <p:ph type="sldNum" sz="quarter" idx="4294967295"/>
          </p:nvPr>
        </p:nvSpPr>
        <p:spPr>
          <a:xfrm>
            <a:off x="8321040" y="473659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600" b="1" dirty="0">
                <a:solidFill>
                  <a:schemeClr val="bg1"/>
                </a:solidFill>
              </a:rPr>
              <a:t>Phase 5 · Errors that teach</a:t>
            </a:r>
            <a:endParaRPr lang="en-US" sz="2600" dirty="0"/>
          </a:p>
        </p:txBody>
      </p:sp>
      <p:sp>
        <p:nvSpPr>
          <p:cNvPr id="4" name="phase-372"/>
          <p:cNvSpPr/>
          <p:nvPr/>
        </p:nvSpPr>
        <p:spPr>
          <a:xfrm>
            <a:off x="457200" y="4718304"/>
            <a:ext cx="868680" cy="256032"/>
          </a:xfrm>
          <a:prstGeom prst="roundRect">
            <a:avLst>
              <a:gd name="adj" fmla="val 17857"/>
            </a:avLst>
          </a:prstGeom>
          <a:solidFill>
            <a:schemeClr val="tx2"/>
          </a:solidFill>
          <a:ln w="9525">
            <a:solidFill>
              <a:schemeClr val="accent5"/>
            </a:solidFill>
            <a:prstDash val="solid"/>
          </a:ln>
        </p:spPr>
      </p:sp>
      <p:sp>
        <p:nvSpPr>
          <p:cNvPr id="5" name="text-373"/>
          <p:cNvSpPr txBox="1"/>
          <p:nvPr/>
        </p:nvSpPr>
        <p:spPr>
          <a:xfrm>
            <a:off x="457200" y="4718304"/>
            <a:ext cx="868680" cy="256032"/>
          </a:xfrm>
          <a:prstGeom prst="rect">
            <a:avLst/>
          </a:prstGeom>
          <a:noFill/>
          <a:ln/>
        </p:spPr>
        <p:txBody>
          <a:bodyPr wrap="square" lIns="0" tIns="0" rIns="0" bIns="0" rtlCol="0" anchor="ctr"/>
          <a:lstStyle/>
          <a:p>
            <a:pPr algn="ctr" indent="0" marL="0">
              <a:buNone/>
            </a:pPr>
            <a:r>
              <a:rPr lang="en-US" sz="1000" dirty="0">
                <a:solidFill>
                  <a:schemeClr val="bg2"/>
                </a:solidFill>
              </a:rPr>
              <a:t>1 Lexical</a:t>
            </a:r>
            <a:endParaRPr lang="en-US" sz="1000" dirty="0"/>
          </a:p>
        </p:txBody>
      </p:sp>
      <p:sp>
        <p:nvSpPr>
          <p:cNvPr id="6" name="phase-374"/>
          <p:cNvSpPr/>
          <p:nvPr/>
        </p:nvSpPr>
        <p:spPr>
          <a:xfrm>
            <a:off x="1389888" y="4718304"/>
            <a:ext cx="868680" cy="256032"/>
          </a:xfrm>
          <a:prstGeom prst="roundRect">
            <a:avLst>
              <a:gd name="adj" fmla="val 17857"/>
            </a:avLst>
          </a:prstGeom>
          <a:solidFill>
            <a:schemeClr val="tx2"/>
          </a:solidFill>
          <a:ln w="9525">
            <a:solidFill>
              <a:schemeClr val="accent5"/>
            </a:solidFill>
            <a:prstDash val="solid"/>
          </a:ln>
        </p:spPr>
      </p:sp>
      <p:sp>
        <p:nvSpPr>
          <p:cNvPr id="7" name="text-375"/>
          <p:cNvSpPr txBox="1"/>
          <p:nvPr/>
        </p:nvSpPr>
        <p:spPr>
          <a:xfrm>
            <a:off x="1389888" y="4718304"/>
            <a:ext cx="868680" cy="256032"/>
          </a:xfrm>
          <a:prstGeom prst="rect">
            <a:avLst/>
          </a:prstGeom>
          <a:noFill/>
          <a:ln/>
        </p:spPr>
        <p:txBody>
          <a:bodyPr wrap="square" lIns="0" tIns="0" rIns="0" bIns="0" rtlCol="0" anchor="ctr"/>
          <a:lstStyle/>
          <a:p>
            <a:pPr algn="ctr" indent="0" marL="0">
              <a:buNone/>
            </a:pPr>
            <a:r>
              <a:rPr lang="en-US" sz="1000" dirty="0">
                <a:solidFill>
                  <a:schemeClr val="bg2"/>
                </a:solidFill>
              </a:rPr>
              <a:t>2 Syntax</a:t>
            </a:r>
            <a:endParaRPr lang="en-US" sz="1000" dirty="0"/>
          </a:p>
        </p:txBody>
      </p:sp>
      <p:sp>
        <p:nvSpPr>
          <p:cNvPr id="8" name="phase-376"/>
          <p:cNvSpPr/>
          <p:nvPr/>
        </p:nvSpPr>
        <p:spPr>
          <a:xfrm>
            <a:off x="2322576" y="4718304"/>
            <a:ext cx="868680" cy="256032"/>
          </a:xfrm>
          <a:prstGeom prst="roundRect">
            <a:avLst>
              <a:gd name="adj" fmla="val 17857"/>
            </a:avLst>
          </a:prstGeom>
          <a:solidFill>
            <a:schemeClr val="tx2"/>
          </a:solidFill>
          <a:ln w="9525">
            <a:solidFill>
              <a:schemeClr val="accent5"/>
            </a:solidFill>
            <a:prstDash val="solid"/>
          </a:ln>
        </p:spPr>
      </p:sp>
      <p:sp>
        <p:nvSpPr>
          <p:cNvPr id="9" name="text-377"/>
          <p:cNvSpPr txBox="1"/>
          <p:nvPr/>
        </p:nvSpPr>
        <p:spPr>
          <a:xfrm>
            <a:off x="2322576" y="4718304"/>
            <a:ext cx="868680" cy="256032"/>
          </a:xfrm>
          <a:prstGeom prst="rect">
            <a:avLst/>
          </a:prstGeom>
          <a:noFill/>
          <a:ln/>
        </p:spPr>
        <p:txBody>
          <a:bodyPr wrap="square" lIns="0" tIns="0" rIns="0" bIns="0" rtlCol="0" anchor="ctr"/>
          <a:lstStyle/>
          <a:p>
            <a:pPr algn="ctr" indent="0" marL="0">
              <a:buNone/>
            </a:pPr>
            <a:r>
              <a:rPr lang="en-US" sz="1000" dirty="0">
                <a:solidFill>
                  <a:schemeClr val="bg2"/>
                </a:solidFill>
              </a:rPr>
              <a:t>3 Semantic</a:t>
            </a:r>
            <a:endParaRPr lang="en-US" sz="1000" dirty="0"/>
          </a:p>
        </p:txBody>
      </p:sp>
      <p:sp>
        <p:nvSpPr>
          <p:cNvPr id="10" name="phase-378"/>
          <p:cNvSpPr/>
          <p:nvPr/>
        </p:nvSpPr>
        <p:spPr>
          <a:xfrm>
            <a:off x="3255264" y="4718304"/>
            <a:ext cx="868680" cy="256032"/>
          </a:xfrm>
          <a:prstGeom prst="roundRect">
            <a:avLst>
              <a:gd name="adj" fmla="val 17857"/>
            </a:avLst>
          </a:prstGeom>
          <a:solidFill>
            <a:schemeClr val="tx2"/>
          </a:solidFill>
          <a:ln w="9525">
            <a:solidFill>
              <a:schemeClr val="accent5"/>
            </a:solidFill>
            <a:prstDash val="solid"/>
          </a:ln>
        </p:spPr>
      </p:sp>
      <p:sp>
        <p:nvSpPr>
          <p:cNvPr id="11" name="text-379"/>
          <p:cNvSpPr txBox="1"/>
          <p:nvPr/>
        </p:nvSpPr>
        <p:spPr>
          <a:xfrm>
            <a:off x="3255264" y="4718304"/>
            <a:ext cx="868680" cy="256032"/>
          </a:xfrm>
          <a:prstGeom prst="rect">
            <a:avLst/>
          </a:prstGeom>
          <a:noFill/>
          <a:ln/>
        </p:spPr>
        <p:txBody>
          <a:bodyPr wrap="square" lIns="0" tIns="0" rIns="0" bIns="0" rtlCol="0" anchor="ctr"/>
          <a:lstStyle/>
          <a:p>
            <a:pPr algn="ctr" indent="0" marL="0">
              <a:buNone/>
            </a:pPr>
            <a:r>
              <a:rPr lang="en-US" sz="1000" dirty="0">
                <a:solidFill>
                  <a:schemeClr val="bg2"/>
                </a:solidFill>
              </a:rPr>
              <a:t>4 TAC</a:t>
            </a:r>
            <a:endParaRPr lang="en-US" sz="1000" dirty="0"/>
          </a:p>
        </p:txBody>
      </p:sp>
      <p:sp>
        <p:nvSpPr>
          <p:cNvPr id="12" name="phase-380"/>
          <p:cNvSpPr/>
          <p:nvPr/>
        </p:nvSpPr>
        <p:spPr>
          <a:xfrm>
            <a:off x="4187952" y="4718304"/>
            <a:ext cx="868680" cy="256032"/>
          </a:xfrm>
          <a:prstGeom prst="roundRect">
            <a:avLst>
              <a:gd name="adj" fmla="val 17857"/>
            </a:avLst>
          </a:prstGeom>
          <a:solidFill>
            <a:schemeClr val="accent1"/>
          </a:solidFill>
          <a:ln w="9525">
            <a:solidFill>
              <a:schemeClr val="accent1"/>
            </a:solidFill>
            <a:prstDash val="solid"/>
          </a:ln>
        </p:spPr>
      </p:sp>
      <p:sp>
        <p:nvSpPr>
          <p:cNvPr id="13" name="text-381"/>
          <p:cNvSpPr txBox="1"/>
          <p:nvPr/>
        </p:nvSpPr>
        <p:spPr>
          <a:xfrm>
            <a:off x="4187952" y="4718304"/>
            <a:ext cx="868680" cy="256032"/>
          </a:xfrm>
          <a:prstGeom prst="rect">
            <a:avLst/>
          </a:prstGeom>
          <a:noFill/>
          <a:ln/>
        </p:spPr>
        <p:txBody>
          <a:bodyPr wrap="square" lIns="0" tIns="0" rIns="0" bIns="0" rtlCol="0" anchor="ctr"/>
          <a:lstStyle/>
          <a:p>
            <a:pPr algn="ctr" indent="0" marL="0">
              <a:buNone/>
            </a:pPr>
            <a:r>
              <a:rPr lang="en-US" sz="1000" b="1" dirty="0">
                <a:solidFill>
                  <a:schemeClr val="tx1"/>
                </a:solidFill>
              </a:rPr>
              <a:t>5 Errors</a:t>
            </a:r>
            <a:endParaRPr lang="en-US" sz="1000" dirty="0"/>
          </a:p>
        </p:txBody>
      </p:sp>
      <p:graphicFrame>
        <p:nvGraphicFramePr>
          <p:cNvPr id="21" name="table-382"/>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2103120"/>
                <a:gridCol w="868680"/>
                <a:gridCol w="5257800"/>
              </a:tblGrid>
              <a:tr h="384048">
                <a:tc>
                  <a:txBody>
                    <a:bodyPr/>
                    <a:lstStyle/>
                    <a:p>
                      <a:pPr indent="0" marL="0">
                        <a:buNone/>
                      </a:pPr>
                      <a:r>
                        <a:rPr lang="en-US" sz="1100" b="1" dirty="0">
                          <a:solidFill>
                            <a:srgbClr val="9AA2AD"/>
                          </a:solidFill>
                        </a:rPr>
                        <a:t>MISTAKE</a:t>
                      </a:r>
                      <a:endParaRPr lang="en-US" sz="1100" dirty="0"/>
                    </a:p>
                  </a:txBody>
                  <a:tcPr marL="91440" marR="91440" marT="27432" marB="27432" anchor="ctr">
                    <a:lnL w="6350" cap="flat" cmpd="sng" algn="ctr">
                      <a:solidFill>
                        <a:srgbClr val="2D333D"/>
                      </a:solidFill>
                      <a:prstDash val="solid"/>
                      <a:round/>
                      <a:headEnd type="none" w="med" len="med"/>
                      <a:tailEnd type="none" w="med" len="med"/>
                    </a:lnL>
                    <a:lnR w="6350" cap="flat" cmpd="sng" algn="ctr">
                      <a:solidFill>
                        <a:srgbClr val="2D333D"/>
                      </a:solidFill>
                      <a:prstDash val="solid"/>
                      <a:round/>
                      <a:headEnd type="none" w="med" len="med"/>
                      <a:tailEnd type="none" w="med" len="med"/>
                    </a:lnR>
                    <a:lnT w="6350" cap="flat" cmpd="sng" algn="ctr">
                      <a:solidFill>
                        <a:srgbClr val="2D333D"/>
                      </a:solidFill>
                      <a:prstDash val="solid"/>
                      <a:round/>
                      <a:headEnd type="none" w="med" len="med"/>
                      <a:tailEnd type="none" w="med" len="med"/>
                    </a:lnT>
                    <a:lnB w="6350" cap="flat" cmpd="sng" algn="ctr">
                      <a:solidFill>
                        <a:srgbClr val="2D333D"/>
                      </a:solidFill>
                      <a:prstDash val="solid"/>
                      <a:round/>
                      <a:headEnd type="none" w="med" len="med"/>
                      <a:tailEnd type="none" w="med" len="med"/>
                    </a:lnB>
                    <a:solidFill>
                      <a:srgbClr val="1A1E25"/>
                    </a:solidFill>
                  </a:tcPr>
                </a:tc>
                <a:tc>
                  <a:txBody>
                    <a:bodyPr/>
                    <a:lstStyle/>
                    <a:p>
                      <a:pPr indent="0" marL="0">
                        <a:buNone/>
                      </a:pPr>
                      <a:r>
                        <a:rPr lang="en-US" sz="1100" b="1" dirty="0">
                          <a:solidFill>
                            <a:srgbClr val="9AA2AD"/>
                          </a:solidFill>
                        </a:rPr>
                        <a:t>PHASE</a:t>
                      </a:r>
                      <a:endParaRPr lang="en-US" sz="1100" dirty="0"/>
                    </a:p>
                  </a:txBody>
                  <a:tcPr marL="91440" marR="91440" marT="27432" marB="27432" anchor="ctr">
                    <a:lnL w="6350" cap="flat" cmpd="sng" algn="ctr">
                      <a:solidFill>
                        <a:srgbClr val="2D333D"/>
                      </a:solidFill>
                      <a:prstDash val="solid"/>
                      <a:round/>
                      <a:headEnd type="none" w="med" len="med"/>
                      <a:tailEnd type="none" w="med" len="med"/>
                    </a:lnL>
                    <a:lnR w="6350" cap="flat" cmpd="sng" algn="ctr">
                      <a:solidFill>
                        <a:srgbClr val="2D333D"/>
                      </a:solidFill>
                      <a:prstDash val="solid"/>
                      <a:round/>
                      <a:headEnd type="none" w="med" len="med"/>
                      <a:tailEnd type="none" w="med" len="med"/>
                    </a:lnR>
                    <a:lnT w="6350" cap="flat" cmpd="sng" algn="ctr">
                      <a:solidFill>
                        <a:srgbClr val="2D333D"/>
                      </a:solidFill>
                      <a:prstDash val="solid"/>
                      <a:round/>
                      <a:headEnd type="none" w="med" len="med"/>
                      <a:tailEnd type="none" w="med" len="med"/>
                    </a:lnT>
                    <a:lnB w="6350" cap="flat" cmpd="sng" algn="ctr">
                      <a:solidFill>
                        <a:srgbClr val="2D333D"/>
                      </a:solidFill>
                      <a:prstDash val="solid"/>
                      <a:round/>
                      <a:headEnd type="none" w="med" len="med"/>
                      <a:tailEnd type="none" w="med" len="med"/>
                    </a:lnB>
                    <a:solidFill>
                      <a:srgbClr val="1A1E25"/>
                    </a:solidFill>
                  </a:tcPr>
                </a:tc>
                <a:tc>
                  <a:txBody>
                    <a:bodyPr/>
                    <a:lstStyle/>
                    <a:p>
                      <a:pPr indent="0" marL="0">
                        <a:buNone/>
                      </a:pPr>
                      <a:r>
                        <a:rPr lang="en-US" sz="1100" b="1" dirty="0">
                          <a:solidFill>
                            <a:srgbClr val="9AA2AD"/>
                          </a:solidFill>
                        </a:rPr>
                        <a:t>ERRORBUDDY SAYS</a:t>
                      </a:r>
                      <a:endParaRPr lang="en-US" sz="1100" dirty="0"/>
                    </a:p>
                  </a:txBody>
                  <a:tcPr marL="91440" marR="91440" marT="27432" marB="27432" anchor="ctr">
                    <a:lnL w="6350" cap="flat" cmpd="sng" algn="ctr">
                      <a:solidFill>
                        <a:srgbClr val="2D333D"/>
                      </a:solidFill>
                      <a:prstDash val="solid"/>
                      <a:round/>
                      <a:headEnd type="none" w="med" len="med"/>
                      <a:tailEnd type="none" w="med" len="med"/>
                    </a:lnL>
                    <a:lnR w="6350" cap="flat" cmpd="sng" algn="ctr">
                      <a:solidFill>
                        <a:srgbClr val="2D333D"/>
                      </a:solidFill>
                      <a:prstDash val="solid"/>
                      <a:round/>
                      <a:headEnd type="none" w="med" len="med"/>
                      <a:tailEnd type="none" w="med" len="med"/>
                    </a:lnR>
                    <a:lnT w="6350" cap="flat" cmpd="sng" algn="ctr">
                      <a:solidFill>
                        <a:srgbClr val="2D333D"/>
                      </a:solidFill>
                      <a:prstDash val="solid"/>
                      <a:round/>
                      <a:headEnd type="none" w="med" len="med"/>
                      <a:tailEnd type="none" w="med" len="med"/>
                    </a:lnT>
                    <a:lnB w="6350" cap="flat" cmpd="sng" algn="ctr">
                      <a:solidFill>
                        <a:srgbClr val="2D333D"/>
                      </a:solidFill>
                      <a:prstDash val="solid"/>
                      <a:round/>
                      <a:headEnd type="none" w="med" len="med"/>
                      <a:tailEnd type="none" w="med" len="med"/>
                    </a:lnB>
                    <a:solidFill>
                      <a:srgbClr val="1A1E25"/>
                    </a:solidFill>
                  </a:tcPr>
                </a:tc>
              </a:tr>
              <a:tr h="384048">
                <a:tc>
                  <a:txBody>
                    <a:bodyPr/>
                    <a:lstStyle/>
                    <a:p>
                      <a:pPr indent="0" marL="0">
                        <a:buNone/>
                      </a:pPr>
                      <a:r>
                        <a:rPr lang="en-US" sz="1200" dirty="0">
                          <a:solidFill>
                            <a:srgbClr val="F2775F"/>
                          </a:solidFill>
                          <a:latin typeface="Courier New" pitchFamily="34" charset="0"/>
                          <a:ea typeface="Courier New" pitchFamily="34" charset="-122"/>
                          <a:cs typeface="Courier New" pitchFamily="34" charset="-120"/>
                        </a:rPr>
                        <a:t>int b = (a + 2)) * 3;</a:t>
                      </a:r>
                      <a:endParaRPr lang="en-US" sz="1200" dirty="0">
                        <a:latin typeface="Courier New" charset="0"/>
                        <a:ea typeface="Courier New" charset="0"/>
                        <a:cs typeface="Courier New" charset="0"/>
                      </a:endParaRPr>
                    </a:p>
                  </a:txBody>
                  <a:tcPr marL="91440" marR="91440" marT="27432" marB="27432" anchor="ctr">
                    <a:lnL w="6350" cap="flat" cmpd="sng" algn="ctr">
                      <a:solidFill>
                        <a:srgbClr val="2D333D"/>
                      </a:solidFill>
                      <a:prstDash val="solid"/>
                      <a:round/>
                      <a:headEnd type="none" w="med" len="med"/>
                      <a:tailEnd type="none" w="med" len="med"/>
                    </a:lnL>
                    <a:lnR w="6350" cap="flat" cmpd="sng" algn="ctr">
                      <a:solidFill>
                        <a:srgbClr val="2D333D"/>
                      </a:solidFill>
                      <a:prstDash val="solid"/>
                      <a:round/>
                      <a:headEnd type="none" w="med" len="med"/>
                      <a:tailEnd type="none" w="med" len="med"/>
                    </a:lnR>
                    <a:lnT w="6350" cap="flat" cmpd="sng" algn="ctr">
                      <a:solidFill>
                        <a:srgbClr val="2D333D"/>
                      </a:solidFill>
                      <a:prstDash val="solid"/>
                      <a:round/>
                      <a:headEnd type="none" w="med" len="med"/>
                      <a:tailEnd type="none" w="med" len="med"/>
                    </a:lnT>
                    <a:lnB w="6350" cap="flat" cmpd="sng" algn="ctr">
                      <a:solidFill>
                        <a:srgbClr val="2D333D"/>
                      </a:solidFill>
                      <a:prstDash val="solid"/>
                      <a:round/>
                      <a:headEnd type="none" w="med" len="med"/>
                      <a:tailEnd type="none" w="med" len="med"/>
                    </a:lnB>
                    <a:solidFill>
                      <a:srgbClr val="101318"/>
                    </a:solidFill>
                  </a:tcPr>
                </a:tc>
                <a:tc>
                  <a:txBody>
                    <a:bodyPr/>
                    <a:lstStyle/>
                    <a:p>
                      <a:pPr indent="0" marL="0">
                        <a:buNone/>
                      </a:pPr>
                      <a:r>
                        <a:rPr lang="en-US" sz="1100" dirty="0">
                          <a:solidFill>
                            <a:srgbClr val="9AA2AD"/>
                          </a:solidFill>
                        </a:rPr>
                        <a:t>Syntax</a:t>
                      </a:r>
                      <a:endParaRPr lang="en-US" sz="1100" dirty="0"/>
                    </a:p>
                  </a:txBody>
                  <a:tcPr marL="91440" marR="91440" marT="27432" marB="27432" anchor="ctr">
                    <a:lnL w="6350" cap="flat" cmpd="sng" algn="ctr">
                      <a:solidFill>
                        <a:srgbClr val="2D333D"/>
                      </a:solidFill>
                      <a:prstDash val="solid"/>
                      <a:round/>
                      <a:headEnd type="none" w="med" len="med"/>
                      <a:tailEnd type="none" w="med" len="med"/>
                    </a:lnL>
                    <a:lnR w="6350" cap="flat" cmpd="sng" algn="ctr">
                      <a:solidFill>
                        <a:srgbClr val="2D333D"/>
                      </a:solidFill>
                      <a:prstDash val="solid"/>
                      <a:round/>
                      <a:headEnd type="none" w="med" len="med"/>
                      <a:tailEnd type="none" w="med" len="med"/>
                    </a:lnR>
                    <a:lnT w="6350" cap="flat" cmpd="sng" algn="ctr">
                      <a:solidFill>
                        <a:srgbClr val="2D333D"/>
                      </a:solidFill>
                      <a:prstDash val="solid"/>
                      <a:round/>
                      <a:headEnd type="none" w="med" len="med"/>
                      <a:tailEnd type="none" w="med" len="med"/>
                    </a:lnT>
                    <a:lnB w="6350" cap="flat" cmpd="sng" algn="ctr">
                      <a:solidFill>
                        <a:srgbClr val="2D333D"/>
                      </a:solidFill>
                      <a:prstDash val="solid"/>
                      <a:round/>
                      <a:headEnd type="none" w="med" len="med"/>
                      <a:tailEnd type="none" w="med" len="med"/>
                    </a:lnB>
                    <a:solidFill>
                      <a:srgbClr val="101318"/>
                    </a:solidFill>
                  </a:tcPr>
                </a:tc>
                <a:tc>
                  <a:txBody>
                    <a:bodyPr/>
                    <a:lstStyle/>
                    <a:p>
                      <a:pPr indent="0" marL="0">
                        <a:buNone/>
                      </a:pPr>
                      <a:r>
                        <a:rPr lang="en-US" sz="1200" dirty="0">
                          <a:solidFill>
                            <a:srgbClr val="ECE8E1"/>
                          </a:solidFill>
                        </a:rPr>
                        <a:t>Found an extra ')' that has no matching '('.</a:t>
                      </a:r>
                      <a:endParaRPr lang="en-US" sz="1200" dirty="0"/>
                    </a:p>
                  </a:txBody>
                  <a:tcPr marL="91440" marR="91440" marT="27432" marB="27432" anchor="ctr">
                    <a:lnL w="6350" cap="flat" cmpd="sng" algn="ctr">
                      <a:solidFill>
                        <a:srgbClr val="2D333D"/>
                      </a:solidFill>
                      <a:prstDash val="solid"/>
                      <a:round/>
                      <a:headEnd type="none" w="med" len="med"/>
                      <a:tailEnd type="none" w="med" len="med"/>
                    </a:lnL>
                    <a:lnR w="6350" cap="flat" cmpd="sng" algn="ctr">
                      <a:solidFill>
                        <a:srgbClr val="2D333D"/>
                      </a:solidFill>
                      <a:prstDash val="solid"/>
                      <a:round/>
                      <a:headEnd type="none" w="med" len="med"/>
                      <a:tailEnd type="none" w="med" len="med"/>
                    </a:lnR>
                    <a:lnT w="6350" cap="flat" cmpd="sng" algn="ctr">
                      <a:solidFill>
                        <a:srgbClr val="2D333D"/>
                      </a:solidFill>
                      <a:prstDash val="solid"/>
                      <a:round/>
                      <a:headEnd type="none" w="med" len="med"/>
                      <a:tailEnd type="none" w="med" len="med"/>
                    </a:lnT>
                    <a:lnB w="6350" cap="flat" cmpd="sng" algn="ctr">
                      <a:solidFill>
                        <a:srgbClr val="2D333D"/>
                      </a:solidFill>
                      <a:prstDash val="solid"/>
                      <a:round/>
                      <a:headEnd type="none" w="med" len="med"/>
                      <a:tailEnd type="none" w="med" len="med"/>
                    </a:lnB>
                    <a:solidFill>
                      <a:srgbClr val="101318"/>
                    </a:solidFill>
                  </a:tcPr>
                </a:tc>
              </a:tr>
              <a:tr h="384048">
                <a:tc>
                  <a:txBody>
                    <a:bodyPr/>
                    <a:lstStyle/>
                    <a:p>
                      <a:pPr indent="0" marL="0">
                        <a:buNone/>
                      </a:pPr>
                      <a:r>
                        <a:rPr lang="en-US" sz="1200" dirty="0">
                          <a:solidFill>
                            <a:srgbClr val="F2775F"/>
                          </a:solidFill>
                          <a:latin typeface="Courier New" pitchFamily="34" charset="0"/>
                          <a:ea typeface="Courier New" pitchFamily="34" charset="-122"/>
                          <a:cs typeface="Courier New" pitchFamily="34" charset="-120"/>
                        </a:rPr>
                        <a:t>int y = (x + 3 * 4;</a:t>
                      </a:r>
                      <a:endParaRPr lang="en-US" sz="1200" dirty="0">
                        <a:latin typeface="Courier New" charset="0"/>
                        <a:ea typeface="Courier New" charset="0"/>
                        <a:cs typeface="Courier New" charset="0"/>
                      </a:endParaRPr>
                    </a:p>
                  </a:txBody>
                  <a:tcPr marL="91440" marR="91440" marT="27432" marB="27432" anchor="ctr">
                    <a:lnL w="6350" cap="flat" cmpd="sng" algn="ctr">
                      <a:solidFill>
                        <a:srgbClr val="2D333D"/>
                      </a:solidFill>
                      <a:prstDash val="solid"/>
                      <a:round/>
                      <a:headEnd type="none" w="med" len="med"/>
                      <a:tailEnd type="none" w="med" len="med"/>
                    </a:lnL>
                    <a:lnR w="6350" cap="flat" cmpd="sng" algn="ctr">
                      <a:solidFill>
                        <a:srgbClr val="2D333D"/>
                      </a:solidFill>
                      <a:prstDash val="solid"/>
                      <a:round/>
                      <a:headEnd type="none" w="med" len="med"/>
                      <a:tailEnd type="none" w="med" len="med"/>
                    </a:lnR>
                    <a:lnT w="6350" cap="flat" cmpd="sng" algn="ctr">
                      <a:solidFill>
                        <a:srgbClr val="2D333D"/>
                      </a:solidFill>
                      <a:prstDash val="solid"/>
                      <a:round/>
                      <a:headEnd type="none" w="med" len="med"/>
                      <a:tailEnd type="none" w="med" len="med"/>
                    </a:lnT>
                    <a:lnB w="6350" cap="flat" cmpd="sng" algn="ctr">
                      <a:solidFill>
                        <a:srgbClr val="2D333D"/>
                      </a:solidFill>
                      <a:prstDash val="solid"/>
                      <a:round/>
                      <a:headEnd type="none" w="med" len="med"/>
                      <a:tailEnd type="none" w="med" len="med"/>
                    </a:lnB>
                    <a:solidFill>
                      <a:srgbClr val="101318"/>
                    </a:solidFill>
                  </a:tcPr>
                </a:tc>
                <a:tc>
                  <a:txBody>
                    <a:bodyPr/>
                    <a:lstStyle/>
                    <a:p>
                      <a:pPr indent="0" marL="0">
                        <a:buNone/>
                      </a:pPr>
                      <a:r>
                        <a:rPr lang="en-US" sz="1100" dirty="0">
                          <a:solidFill>
                            <a:srgbClr val="9AA2AD"/>
                          </a:solidFill>
                        </a:rPr>
                        <a:t>Syntax</a:t>
                      </a:r>
                      <a:endParaRPr lang="en-US" sz="1100" dirty="0"/>
                    </a:p>
                  </a:txBody>
                  <a:tcPr marL="91440" marR="91440" marT="27432" marB="27432" anchor="ctr">
                    <a:lnL w="6350" cap="flat" cmpd="sng" algn="ctr">
                      <a:solidFill>
                        <a:srgbClr val="2D333D"/>
                      </a:solidFill>
                      <a:prstDash val="solid"/>
                      <a:round/>
                      <a:headEnd type="none" w="med" len="med"/>
                      <a:tailEnd type="none" w="med" len="med"/>
                    </a:lnL>
                    <a:lnR w="6350" cap="flat" cmpd="sng" algn="ctr">
                      <a:solidFill>
                        <a:srgbClr val="2D333D"/>
                      </a:solidFill>
                      <a:prstDash val="solid"/>
                      <a:round/>
                      <a:headEnd type="none" w="med" len="med"/>
                      <a:tailEnd type="none" w="med" len="med"/>
                    </a:lnR>
                    <a:lnT w="6350" cap="flat" cmpd="sng" algn="ctr">
                      <a:solidFill>
                        <a:srgbClr val="2D333D"/>
                      </a:solidFill>
                      <a:prstDash val="solid"/>
                      <a:round/>
                      <a:headEnd type="none" w="med" len="med"/>
                      <a:tailEnd type="none" w="med" len="med"/>
                    </a:lnT>
                    <a:lnB w="6350" cap="flat" cmpd="sng" algn="ctr">
                      <a:solidFill>
                        <a:srgbClr val="2D333D"/>
                      </a:solidFill>
                      <a:prstDash val="solid"/>
                      <a:round/>
                      <a:headEnd type="none" w="med" len="med"/>
                      <a:tailEnd type="none" w="med" len="med"/>
                    </a:lnB>
                    <a:solidFill>
                      <a:srgbClr val="101318"/>
                    </a:solidFill>
                  </a:tcPr>
                </a:tc>
                <a:tc>
                  <a:txBody>
                    <a:bodyPr/>
                    <a:lstStyle/>
                    <a:p>
                      <a:pPr indent="0" marL="0">
                        <a:buNone/>
                      </a:pPr>
                      <a:r>
                        <a:rPr lang="en-US" sz="1200" dirty="0">
                          <a:solidFill>
                            <a:srgbClr val="ECE8E1"/>
                          </a:solidFill>
                        </a:rPr>
                        <a:t>Missing ')' to close the '(' opened on line 2. Add ')' after '4'.</a:t>
                      </a:r>
                      <a:endParaRPr lang="en-US" sz="1200" dirty="0"/>
                    </a:p>
                  </a:txBody>
                  <a:tcPr marL="91440" marR="91440" marT="27432" marB="27432" anchor="ctr">
                    <a:lnL w="6350" cap="flat" cmpd="sng" algn="ctr">
                      <a:solidFill>
                        <a:srgbClr val="2D333D"/>
                      </a:solidFill>
                      <a:prstDash val="solid"/>
                      <a:round/>
                      <a:headEnd type="none" w="med" len="med"/>
                      <a:tailEnd type="none" w="med" len="med"/>
                    </a:lnL>
                    <a:lnR w="6350" cap="flat" cmpd="sng" algn="ctr">
                      <a:solidFill>
                        <a:srgbClr val="2D333D"/>
                      </a:solidFill>
                      <a:prstDash val="solid"/>
                      <a:round/>
                      <a:headEnd type="none" w="med" len="med"/>
                      <a:tailEnd type="none" w="med" len="med"/>
                    </a:lnR>
                    <a:lnT w="6350" cap="flat" cmpd="sng" algn="ctr">
                      <a:solidFill>
                        <a:srgbClr val="2D333D"/>
                      </a:solidFill>
                      <a:prstDash val="solid"/>
                      <a:round/>
                      <a:headEnd type="none" w="med" len="med"/>
                      <a:tailEnd type="none" w="med" len="med"/>
                    </a:lnT>
                    <a:lnB w="6350" cap="flat" cmpd="sng" algn="ctr">
                      <a:solidFill>
                        <a:srgbClr val="2D333D"/>
                      </a:solidFill>
                      <a:prstDash val="solid"/>
                      <a:round/>
                      <a:headEnd type="none" w="med" len="med"/>
                      <a:tailEnd type="none" w="med" len="med"/>
                    </a:lnB>
                    <a:solidFill>
                      <a:srgbClr val="101318"/>
                    </a:solidFill>
                  </a:tcPr>
                </a:tc>
              </a:tr>
              <a:tr h="384048">
                <a:tc>
                  <a:txBody>
                    <a:bodyPr/>
                    <a:lstStyle/>
                    <a:p>
                      <a:pPr indent="0" marL="0">
                        <a:buNone/>
                      </a:pPr>
                      <a:r>
                        <a:rPr lang="en-US" sz="1200" dirty="0">
                          <a:solidFill>
                            <a:srgbClr val="F2775F"/>
                          </a:solidFill>
                          <a:latin typeface="Courier New" pitchFamily="34" charset="0"/>
                          <a:ea typeface="Courier New" pitchFamily="34" charset="-122"/>
                          <a:cs typeface="Courier New" pitchFamily="34" charset="-120"/>
                        </a:rPr>
                        <a:t>int y = x + * 3;</a:t>
                      </a:r>
                      <a:endParaRPr lang="en-US" sz="1200" dirty="0">
                        <a:latin typeface="Courier New" charset="0"/>
                        <a:ea typeface="Courier New" charset="0"/>
                        <a:cs typeface="Courier New" charset="0"/>
                      </a:endParaRPr>
                    </a:p>
                  </a:txBody>
                  <a:tcPr marL="91440" marR="91440" marT="27432" marB="27432" anchor="ctr">
                    <a:lnL w="6350" cap="flat" cmpd="sng" algn="ctr">
                      <a:solidFill>
                        <a:srgbClr val="2D333D"/>
                      </a:solidFill>
                      <a:prstDash val="solid"/>
                      <a:round/>
                      <a:headEnd type="none" w="med" len="med"/>
                      <a:tailEnd type="none" w="med" len="med"/>
                    </a:lnL>
                    <a:lnR w="6350" cap="flat" cmpd="sng" algn="ctr">
                      <a:solidFill>
                        <a:srgbClr val="2D333D"/>
                      </a:solidFill>
                      <a:prstDash val="solid"/>
                      <a:round/>
                      <a:headEnd type="none" w="med" len="med"/>
                      <a:tailEnd type="none" w="med" len="med"/>
                    </a:lnR>
                    <a:lnT w="6350" cap="flat" cmpd="sng" algn="ctr">
                      <a:solidFill>
                        <a:srgbClr val="2D333D"/>
                      </a:solidFill>
                      <a:prstDash val="solid"/>
                      <a:round/>
                      <a:headEnd type="none" w="med" len="med"/>
                      <a:tailEnd type="none" w="med" len="med"/>
                    </a:lnT>
                    <a:lnB w="6350" cap="flat" cmpd="sng" algn="ctr">
                      <a:solidFill>
                        <a:srgbClr val="2D333D"/>
                      </a:solidFill>
                      <a:prstDash val="solid"/>
                      <a:round/>
                      <a:headEnd type="none" w="med" len="med"/>
                      <a:tailEnd type="none" w="med" len="med"/>
                    </a:lnB>
                    <a:solidFill>
                      <a:srgbClr val="101318"/>
                    </a:solidFill>
                  </a:tcPr>
                </a:tc>
                <a:tc>
                  <a:txBody>
                    <a:bodyPr/>
                    <a:lstStyle/>
                    <a:p>
                      <a:pPr indent="0" marL="0">
                        <a:buNone/>
                      </a:pPr>
                      <a:r>
                        <a:rPr lang="en-US" sz="1100" dirty="0">
                          <a:solidFill>
                            <a:srgbClr val="9AA2AD"/>
                          </a:solidFill>
                        </a:rPr>
                        <a:t>Syntax</a:t>
                      </a:r>
                      <a:endParaRPr lang="en-US" sz="1100" dirty="0"/>
                    </a:p>
                  </a:txBody>
                  <a:tcPr marL="91440" marR="91440" marT="27432" marB="27432" anchor="ctr">
                    <a:lnL w="6350" cap="flat" cmpd="sng" algn="ctr">
                      <a:solidFill>
                        <a:srgbClr val="2D333D"/>
                      </a:solidFill>
                      <a:prstDash val="solid"/>
                      <a:round/>
                      <a:headEnd type="none" w="med" len="med"/>
                      <a:tailEnd type="none" w="med" len="med"/>
                    </a:lnL>
                    <a:lnR w="6350" cap="flat" cmpd="sng" algn="ctr">
                      <a:solidFill>
                        <a:srgbClr val="2D333D"/>
                      </a:solidFill>
                      <a:prstDash val="solid"/>
                      <a:round/>
                      <a:headEnd type="none" w="med" len="med"/>
                      <a:tailEnd type="none" w="med" len="med"/>
                    </a:lnR>
                    <a:lnT w="6350" cap="flat" cmpd="sng" algn="ctr">
                      <a:solidFill>
                        <a:srgbClr val="2D333D"/>
                      </a:solidFill>
                      <a:prstDash val="solid"/>
                      <a:round/>
                      <a:headEnd type="none" w="med" len="med"/>
                      <a:tailEnd type="none" w="med" len="med"/>
                    </a:lnT>
                    <a:lnB w="6350" cap="flat" cmpd="sng" algn="ctr">
                      <a:solidFill>
                        <a:srgbClr val="2D333D"/>
                      </a:solidFill>
                      <a:prstDash val="solid"/>
                      <a:round/>
                      <a:headEnd type="none" w="med" len="med"/>
                      <a:tailEnd type="none" w="med" len="med"/>
                    </a:lnB>
                    <a:solidFill>
                      <a:srgbClr val="101318"/>
                    </a:solidFill>
                  </a:tcPr>
                </a:tc>
                <a:tc>
                  <a:txBody>
                    <a:bodyPr/>
                    <a:lstStyle/>
                    <a:p>
                      <a:pPr indent="0" marL="0">
                        <a:buNone/>
                      </a:pPr>
                      <a:r>
                        <a:rPr lang="en-US" sz="1200" dirty="0">
                          <a:solidFill>
                            <a:srgbClr val="ECE8E1"/>
                          </a:solidFill>
                        </a:rPr>
                        <a:t>Two operators in a row: '+' followed by '*'.</a:t>
                      </a:r>
                      <a:endParaRPr lang="en-US" sz="1200" dirty="0"/>
                    </a:p>
                  </a:txBody>
                  <a:tcPr marL="91440" marR="91440" marT="27432" marB="27432" anchor="ctr">
                    <a:lnL w="6350" cap="flat" cmpd="sng" algn="ctr">
                      <a:solidFill>
                        <a:srgbClr val="2D333D"/>
                      </a:solidFill>
                      <a:prstDash val="solid"/>
                      <a:round/>
                      <a:headEnd type="none" w="med" len="med"/>
                      <a:tailEnd type="none" w="med" len="med"/>
                    </a:lnL>
                    <a:lnR w="6350" cap="flat" cmpd="sng" algn="ctr">
                      <a:solidFill>
                        <a:srgbClr val="2D333D"/>
                      </a:solidFill>
                      <a:prstDash val="solid"/>
                      <a:round/>
                      <a:headEnd type="none" w="med" len="med"/>
                      <a:tailEnd type="none" w="med" len="med"/>
                    </a:lnR>
                    <a:lnT w="6350" cap="flat" cmpd="sng" algn="ctr">
                      <a:solidFill>
                        <a:srgbClr val="2D333D"/>
                      </a:solidFill>
                      <a:prstDash val="solid"/>
                      <a:round/>
                      <a:headEnd type="none" w="med" len="med"/>
                      <a:tailEnd type="none" w="med" len="med"/>
                    </a:lnT>
                    <a:lnB w="6350" cap="flat" cmpd="sng" algn="ctr">
                      <a:solidFill>
                        <a:srgbClr val="2D333D"/>
                      </a:solidFill>
                      <a:prstDash val="solid"/>
                      <a:round/>
                      <a:headEnd type="none" w="med" len="med"/>
                      <a:tailEnd type="none" w="med" len="med"/>
                    </a:lnB>
                    <a:solidFill>
                      <a:srgbClr val="101318"/>
                    </a:solidFill>
                  </a:tcPr>
                </a:tc>
              </a:tr>
              <a:tr h="384048">
                <a:tc>
                  <a:txBody>
                    <a:bodyPr/>
                    <a:lstStyle/>
                    <a:p>
                      <a:pPr indent="0" marL="0">
                        <a:buNone/>
                      </a:pPr>
                      <a:r>
                        <a:rPr lang="en-US" sz="1200" dirty="0">
                          <a:solidFill>
                            <a:srgbClr val="F2775F"/>
                          </a:solidFill>
                          <a:latin typeface="Courier New" pitchFamily="34" charset="0"/>
                          <a:ea typeface="Courier New" pitchFamily="34" charset="-122"/>
                          <a:cs typeface="Courier New" pitchFamily="34" charset="-120"/>
                        </a:rPr>
                        <a:t>int a = -5;</a:t>
                      </a:r>
                      <a:endParaRPr lang="en-US" sz="1200" dirty="0">
                        <a:latin typeface="Courier New" charset="0"/>
                        <a:ea typeface="Courier New" charset="0"/>
                        <a:cs typeface="Courier New" charset="0"/>
                      </a:endParaRPr>
                    </a:p>
                  </a:txBody>
                  <a:tcPr marL="91440" marR="91440" marT="27432" marB="27432" anchor="ctr">
                    <a:lnL w="6350" cap="flat" cmpd="sng" algn="ctr">
                      <a:solidFill>
                        <a:srgbClr val="2D333D"/>
                      </a:solidFill>
                      <a:prstDash val="solid"/>
                      <a:round/>
                      <a:headEnd type="none" w="med" len="med"/>
                      <a:tailEnd type="none" w="med" len="med"/>
                    </a:lnL>
                    <a:lnR w="6350" cap="flat" cmpd="sng" algn="ctr">
                      <a:solidFill>
                        <a:srgbClr val="2D333D"/>
                      </a:solidFill>
                      <a:prstDash val="solid"/>
                      <a:round/>
                      <a:headEnd type="none" w="med" len="med"/>
                      <a:tailEnd type="none" w="med" len="med"/>
                    </a:lnR>
                    <a:lnT w="6350" cap="flat" cmpd="sng" algn="ctr">
                      <a:solidFill>
                        <a:srgbClr val="2D333D"/>
                      </a:solidFill>
                      <a:prstDash val="solid"/>
                      <a:round/>
                      <a:headEnd type="none" w="med" len="med"/>
                      <a:tailEnd type="none" w="med" len="med"/>
                    </a:lnT>
                    <a:lnB w="6350" cap="flat" cmpd="sng" algn="ctr">
                      <a:solidFill>
                        <a:srgbClr val="2D333D"/>
                      </a:solidFill>
                      <a:prstDash val="solid"/>
                      <a:round/>
                      <a:headEnd type="none" w="med" len="med"/>
                      <a:tailEnd type="none" w="med" len="med"/>
                    </a:lnB>
                    <a:solidFill>
                      <a:srgbClr val="101318"/>
                    </a:solidFill>
                  </a:tcPr>
                </a:tc>
                <a:tc>
                  <a:txBody>
                    <a:bodyPr/>
                    <a:lstStyle/>
                    <a:p>
                      <a:pPr indent="0" marL="0">
                        <a:buNone/>
                      </a:pPr>
                      <a:r>
                        <a:rPr lang="en-US" sz="1100" dirty="0">
                          <a:solidFill>
                            <a:srgbClr val="9AA2AD"/>
                          </a:solidFill>
                        </a:rPr>
                        <a:t>Syntax</a:t>
                      </a:r>
                      <a:endParaRPr lang="en-US" sz="1100" dirty="0"/>
                    </a:p>
                  </a:txBody>
                  <a:tcPr marL="91440" marR="91440" marT="27432" marB="27432" anchor="ctr">
                    <a:lnL w="6350" cap="flat" cmpd="sng" algn="ctr">
                      <a:solidFill>
                        <a:srgbClr val="2D333D"/>
                      </a:solidFill>
                      <a:prstDash val="solid"/>
                      <a:round/>
                      <a:headEnd type="none" w="med" len="med"/>
                      <a:tailEnd type="none" w="med" len="med"/>
                    </a:lnL>
                    <a:lnR w="6350" cap="flat" cmpd="sng" algn="ctr">
                      <a:solidFill>
                        <a:srgbClr val="2D333D"/>
                      </a:solidFill>
                      <a:prstDash val="solid"/>
                      <a:round/>
                      <a:headEnd type="none" w="med" len="med"/>
                      <a:tailEnd type="none" w="med" len="med"/>
                    </a:lnR>
                    <a:lnT w="6350" cap="flat" cmpd="sng" algn="ctr">
                      <a:solidFill>
                        <a:srgbClr val="2D333D"/>
                      </a:solidFill>
                      <a:prstDash val="solid"/>
                      <a:round/>
                      <a:headEnd type="none" w="med" len="med"/>
                      <a:tailEnd type="none" w="med" len="med"/>
                    </a:lnT>
                    <a:lnB w="6350" cap="flat" cmpd="sng" algn="ctr">
                      <a:solidFill>
                        <a:srgbClr val="2D333D"/>
                      </a:solidFill>
                      <a:prstDash val="solid"/>
                      <a:round/>
                      <a:headEnd type="none" w="med" len="med"/>
                      <a:tailEnd type="none" w="med" len="med"/>
                    </a:lnB>
                    <a:solidFill>
                      <a:srgbClr val="101318"/>
                    </a:solidFill>
                  </a:tcPr>
                </a:tc>
                <a:tc>
                  <a:txBody>
                    <a:bodyPr/>
                    <a:lstStyle/>
                    <a:p>
                      <a:pPr indent="0" marL="0">
                        <a:buNone/>
                      </a:pPr>
                      <a:r>
                        <a:rPr lang="en-US" sz="1200" dirty="0">
                          <a:solidFill>
                            <a:srgbClr val="ECE8E1"/>
                          </a:solidFill>
                        </a:rPr>
                        <a:t>Negative numbers such as '-5' are not supported directly. Write 0 - 5.</a:t>
                      </a:r>
                      <a:endParaRPr lang="en-US" sz="1200" dirty="0"/>
                    </a:p>
                  </a:txBody>
                  <a:tcPr marL="91440" marR="91440" marT="27432" marB="27432" anchor="ctr">
                    <a:lnL w="6350" cap="flat" cmpd="sng" algn="ctr">
                      <a:solidFill>
                        <a:srgbClr val="2D333D"/>
                      </a:solidFill>
                      <a:prstDash val="solid"/>
                      <a:round/>
                      <a:headEnd type="none" w="med" len="med"/>
                      <a:tailEnd type="none" w="med" len="med"/>
                    </a:lnL>
                    <a:lnR w="6350" cap="flat" cmpd="sng" algn="ctr">
                      <a:solidFill>
                        <a:srgbClr val="2D333D"/>
                      </a:solidFill>
                      <a:prstDash val="solid"/>
                      <a:round/>
                      <a:headEnd type="none" w="med" len="med"/>
                      <a:tailEnd type="none" w="med" len="med"/>
                    </a:lnR>
                    <a:lnT w="6350" cap="flat" cmpd="sng" algn="ctr">
                      <a:solidFill>
                        <a:srgbClr val="2D333D"/>
                      </a:solidFill>
                      <a:prstDash val="solid"/>
                      <a:round/>
                      <a:headEnd type="none" w="med" len="med"/>
                      <a:tailEnd type="none" w="med" len="med"/>
                    </a:lnT>
                    <a:lnB w="6350" cap="flat" cmpd="sng" algn="ctr">
                      <a:solidFill>
                        <a:srgbClr val="2D333D"/>
                      </a:solidFill>
                      <a:prstDash val="solid"/>
                      <a:round/>
                      <a:headEnd type="none" w="med" len="med"/>
                      <a:tailEnd type="none" w="med" len="med"/>
                    </a:lnB>
                    <a:solidFill>
                      <a:srgbClr val="101318"/>
                    </a:solidFill>
                  </a:tcPr>
                </a:tc>
              </a:tr>
              <a:tr h="384048">
                <a:tc>
                  <a:txBody>
                    <a:bodyPr/>
                    <a:lstStyle/>
                    <a:p>
                      <a:pPr indent="0" marL="0">
                        <a:buNone/>
                      </a:pPr>
                      <a:r>
                        <a:rPr lang="en-US" sz="1200" dirty="0">
                          <a:solidFill>
                            <a:srgbClr val="F2775F"/>
                          </a:solidFill>
                          <a:latin typeface="Courier New" pitchFamily="34" charset="0"/>
                          <a:ea typeface="Courier New" pitchFamily="34" charset="-122"/>
                          <a:cs typeface="Courier New" pitchFamily="34" charset="-120"/>
                        </a:rPr>
                        <a:t>prnt x;</a:t>
                      </a:r>
                      <a:endParaRPr lang="en-US" sz="1200" dirty="0">
                        <a:latin typeface="Courier New" charset="0"/>
                        <a:ea typeface="Courier New" charset="0"/>
                        <a:cs typeface="Courier New" charset="0"/>
                      </a:endParaRPr>
                    </a:p>
                  </a:txBody>
                  <a:tcPr marL="91440" marR="91440" marT="27432" marB="27432" anchor="ctr">
                    <a:lnL w="6350" cap="flat" cmpd="sng" algn="ctr">
                      <a:solidFill>
                        <a:srgbClr val="2D333D"/>
                      </a:solidFill>
                      <a:prstDash val="solid"/>
                      <a:round/>
                      <a:headEnd type="none" w="med" len="med"/>
                      <a:tailEnd type="none" w="med" len="med"/>
                    </a:lnL>
                    <a:lnR w="6350" cap="flat" cmpd="sng" algn="ctr">
                      <a:solidFill>
                        <a:srgbClr val="2D333D"/>
                      </a:solidFill>
                      <a:prstDash val="solid"/>
                      <a:round/>
                      <a:headEnd type="none" w="med" len="med"/>
                      <a:tailEnd type="none" w="med" len="med"/>
                    </a:lnR>
                    <a:lnT w="6350" cap="flat" cmpd="sng" algn="ctr">
                      <a:solidFill>
                        <a:srgbClr val="2D333D"/>
                      </a:solidFill>
                      <a:prstDash val="solid"/>
                      <a:round/>
                      <a:headEnd type="none" w="med" len="med"/>
                      <a:tailEnd type="none" w="med" len="med"/>
                    </a:lnT>
                    <a:lnB w="6350" cap="flat" cmpd="sng" algn="ctr">
                      <a:solidFill>
                        <a:srgbClr val="2D333D"/>
                      </a:solidFill>
                      <a:prstDash val="solid"/>
                      <a:round/>
                      <a:headEnd type="none" w="med" len="med"/>
                      <a:tailEnd type="none" w="med" len="med"/>
                    </a:lnB>
                    <a:solidFill>
                      <a:srgbClr val="101318"/>
                    </a:solidFill>
                  </a:tcPr>
                </a:tc>
                <a:tc>
                  <a:txBody>
                    <a:bodyPr/>
                    <a:lstStyle/>
                    <a:p>
                      <a:pPr indent="0" marL="0">
                        <a:buNone/>
                      </a:pPr>
                      <a:r>
                        <a:rPr lang="en-US" sz="1100" dirty="0">
                          <a:solidFill>
                            <a:srgbClr val="9AA2AD"/>
                          </a:solidFill>
                        </a:rPr>
                        <a:t>Syntax</a:t>
                      </a:r>
                      <a:endParaRPr lang="en-US" sz="1100" dirty="0"/>
                    </a:p>
                  </a:txBody>
                  <a:tcPr marL="91440" marR="91440" marT="27432" marB="27432" anchor="ctr">
                    <a:lnL w="6350" cap="flat" cmpd="sng" algn="ctr">
                      <a:solidFill>
                        <a:srgbClr val="2D333D"/>
                      </a:solidFill>
                      <a:prstDash val="solid"/>
                      <a:round/>
                      <a:headEnd type="none" w="med" len="med"/>
                      <a:tailEnd type="none" w="med" len="med"/>
                    </a:lnL>
                    <a:lnR w="6350" cap="flat" cmpd="sng" algn="ctr">
                      <a:solidFill>
                        <a:srgbClr val="2D333D"/>
                      </a:solidFill>
                      <a:prstDash val="solid"/>
                      <a:round/>
                      <a:headEnd type="none" w="med" len="med"/>
                      <a:tailEnd type="none" w="med" len="med"/>
                    </a:lnR>
                    <a:lnT w="6350" cap="flat" cmpd="sng" algn="ctr">
                      <a:solidFill>
                        <a:srgbClr val="2D333D"/>
                      </a:solidFill>
                      <a:prstDash val="solid"/>
                      <a:round/>
                      <a:headEnd type="none" w="med" len="med"/>
                      <a:tailEnd type="none" w="med" len="med"/>
                    </a:lnT>
                    <a:lnB w="6350" cap="flat" cmpd="sng" algn="ctr">
                      <a:solidFill>
                        <a:srgbClr val="2D333D"/>
                      </a:solidFill>
                      <a:prstDash val="solid"/>
                      <a:round/>
                      <a:headEnd type="none" w="med" len="med"/>
                      <a:tailEnd type="none" w="med" len="med"/>
                    </a:lnB>
                    <a:solidFill>
                      <a:srgbClr val="101318"/>
                    </a:solidFill>
                  </a:tcPr>
                </a:tc>
                <a:tc>
                  <a:txBody>
                    <a:bodyPr/>
                    <a:lstStyle/>
                    <a:p>
                      <a:pPr indent="0" marL="0">
                        <a:buNone/>
                      </a:pPr>
                      <a:r>
                        <a:rPr lang="en-US" sz="1200" dirty="0">
                          <a:solidFill>
                            <a:srgbClr val="ECE8E1"/>
                          </a:solidFill>
                        </a:rPr>
                        <a:t>Unknown word 'prnt'. Did you mean the keyword 'print'?</a:t>
                      </a:r>
                      <a:endParaRPr lang="en-US" sz="1200" dirty="0"/>
                    </a:p>
                  </a:txBody>
                  <a:tcPr marL="91440" marR="91440" marT="27432" marB="27432" anchor="ctr">
                    <a:lnL w="6350" cap="flat" cmpd="sng" algn="ctr">
                      <a:solidFill>
                        <a:srgbClr val="2D333D"/>
                      </a:solidFill>
                      <a:prstDash val="solid"/>
                      <a:round/>
                      <a:headEnd type="none" w="med" len="med"/>
                      <a:tailEnd type="none" w="med" len="med"/>
                    </a:lnL>
                    <a:lnR w="6350" cap="flat" cmpd="sng" algn="ctr">
                      <a:solidFill>
                        <a:srgbClr val="2D333D"/>
                      </a:solidFill>
                      <a:prstDash val="solid"/>
                      <a:round/>
                      <a:headEnd type="none" w="med" len="med"/>
                      <a:tailEnd type="none" w="med" len="med"/>
                    </a:lnR>
                    <a:lnT w="6350" cap="flat" cmpd="sng" algn="ctr">
                      <a:solidFill>
                        <a:srgbClr val="2D333D"/>
                      </a:solidFill>
                      <a:prstDash val="solid"/>
                      <a:round/>
                      <a:headEnd type="none" w="med" len="med"/>
                      <a:tailEnd type="none" w="med" len="med"/>
                    </a:lnT>
                    <a:lnB w="6350" cap="flat" cmpd="sng" algn="ctr">
                      <a:solidFill>
                        <a:srgbClr val="2D333D"/>
                      </a:solidFill>
                      <a:prstDash val="solid"/>
                      <a:round/>
                      <a:headEnd type="none" w="med" len="med"/>
                      <a:tailEnd type="none" w="med" len="med"/>
                    </a:lnB>
                    <a:solidFill>
                      <a:srgbClr val="101318"/>
                    </a:solidFill>
                  </a:tcPr>
                </a:tc>
              </a:tr>
              <a:tr h="384048">
                <a:tc>
                  <a:txBody>
                    <a:bodyPr/>
                    <a:lstStyle/>
                    <a:p>
                      <a:pPr indent="0" marL="0">
                        <a:buNone/>
                      </a:pPr>
                      <a:r>
                        <a:rPr lang="en-US" sz="1200" dirty="0">
                          <a:solidFill>
                            <a:srgbClr val="F2775F"/>
                          </a:solidFill>
                          <a:latin typeface="Courier New" pitchFamily="34" charset="0"/>
                          <a:ea typeface="Courier New" pitchFamily="34" charset="-122"/>
                          <a:cs typeface="Courier New" pitchFamily="34" charset="-120"/>
                        </a:rPr>
                        <a:t>total + marks</a:t>
                      </a:r>
                      <a:endParaRPr lang="en-US" sz="1200" dirty="0">
                        <a:latin typeface="Courier New" charset="0"/>
                        <a:ea typeface="Courier New" charset="0"/>
                        <a:cs typeface="Courier New" charset="0"/>
                      </a:endParaRPr>
                    </a:p>
                  </a:txBody>
                  <a:tcPr marL="91440" marR="91440" marT="27432" marB="27432" anchor="ctr">
                    <a:lnL w="6350" cap="flat" cmpd="sng" algn="ctr">
                      <a:solidFill>
                        <a:srgbClr val="2D333D"/>
                      </a:solidFill>
                      <a:prstDash val="solid"/>
                      <a:round/>
                      <a:headEnd type="none" w="med" len="med"/>
                      <a:tailEnd type="none" w="med" len="med"/>
                    </a:lnL>
                    <a:lnR w="6350" cap="flat" cmpd="sng" algn="ctr">
                      <a:solidFill>
                        <a:srgbClr val="2D333D"/>
                      </a:solidFill>
                      <a:prstDash val="solid"/>
                      <a:round/>
                      <a:headEnd type="none" w="med" len="med"/>
                      <a:tailEnd type="none" w="med" len="med"/>
                    </a:lnR>
                    <a:lnT w="6350" cap="flat" cmpd="sng" algn="ctr">
                      <a:solidFill>
                        <a:srgbClr val="2D333D"/>
                      </a:solidFill>
                      <a:prstDash val="solid"/>
                      <a:round/>
                      <a:headEnd type="none" w="med" len="med"/>
                      <a:tailEnd type="none" w="med" len="med"/>
                    </a:lnT>
                    <a:lnB w="6350" cap="flat" cmpd="sng" algn="ctr">
                      <a:solidFill>
                        <a:srgbClr val="2D333D"/>
                      </a:solidFill>
                      <a:prstDash val="solid"/>
                      <a:round/>
                      <a:headEnd type="none" w="med" len="med"/>
                      <a:tailEnd type="none" w="med" len="med"/>
                    </a:lnB>
                    <a:solidFill>
                      <a:srgbClr val="101318"/>
                    </a:solidFill>
                  </a:tcPr>
                </a:tc>
                <a:tc>
                  <a:txBody>
                    <a:bodyPr/>
                    <a:lstStyle/>
                    <a:p>
                      <a:pPr indent="0" marL="0">
                        <a:buNone/>
                      </a:pPr>
                      <a:r>
                        <a:rPr lang="en-US" sz="1100" dirty="0">
                          <a:solidFill>
                            <a:srgbClr val="9AA2AD"/>
                          </a:solidFill>
                        </a:rPr>
                        <a:t>Semantic</a:t>
                      </a:r>
                      <a:endParaRPr lang="en-US" sz="1100" dirty="0"/>
                    </a:p>
                  </a:txBody>
                  <a:tcPr marL="91440" marR="91440" marT="27432" marB="27432" anchor="ctr">
                    <a:lnL w="6350" cap="flat" cmpd="sng" algn="ctr">
                      <a:solidFill>
                        <a:srgbClr val="2D333D"/>
                      </a:solidFill>
                      <a:prstDash val="solid"/>
                      <a:round/>
                      <a:headEnd type="none" w="med" len="med"/>
                      <a:tailEnd type="none" w="med" len="med"/>
                    </a:lnL>
                    <a:lnR w="6350" cap="flat" cmpd="sng" algn="ctr">
                      <a:solidFill>
                        <a:srgbClr val="2D333D"/>
                      </a:solidFill>
                      <a:prstDash val="solid"/>
                      <a:round/>
                      <a:headEnd type="none" w="med" len="med"/>
                      <a:tailEnd type="none" w="med" len="med"/>
                    </a:lnR>
                    <a:lnT w="6350" cap="flat" cmpd="sng" algn="ctr">
                      <a:solidFill>
                        <a:srgbClr val="2D333D"/>
                      </a:solidFill>
                      <a:prstDash val="solid"/>
                      <a:round/>
                      <a:headEnd type="none" w="med" len="med"/>
                      <a:tailEnd type="none" w="med" len="med"/>
                    </a:lnT>
                    <a:lnB w="6350" cap="flat" cmpd="sng" algn="ctr">
                      <a:solidFill>
                        <a:srgbClr val="2D333D"/>
                      </a:solidFill>
                      <a:prstDash val="solid"/>
                      <a:round/>
                      <a:headEnd type="none" w="med" len="med"/>
                      <a:tailEnd type="none" w="med" len="med"/>
                    </a:lnB>
                    <a:solidFill>
                      <a:srgbClr val="101318"/>
                    </a:solidFill>
                  </a:tcPr>
                </a:tc>
                <a:tc>
                  <a:txBody>
                    <a:bodyPr/>
                    <a:lstStyle/>
                    <a:p>
                      <a:pPr indent="0" marL="0">
                        <a:buNone/>
                      </a:pPr>
                      <a:r>
                        <a:rPr lang="en-US" sz="1200" dirty="0">
                          <a:solidFill>
                            <a:srgbClr val="ECE8E1"/>
                          </a:solidFill>
                        </a:rPr>
                        <a:t>Variable 'marks' has not been declared. Declare it: 'int marks = 0;'</a:t>
                      </a:r>
                      <a:endParaRPr lang="en-US" sz="1200" dirty="0"/>
                    </a:p>
                  </a:txBody>
                  <a:tcPr marL="91440" marR="91440" marT="27432" marB="27432" anchor="ctr">
                    <a:lnL w="6350" cap="flat" cmpd="sng" algn="ctr">
                      <a:solidFill>
                        <a:srgbClr val="2D333D"/>
                      </a:solidFill>
                      <a:prstDash val="solid"/>
                      <a:round/>
                      <a:headEnd type="none" w="med" len="med"/>
                      <a:tailEnd type="none" w="med" len="med"/>
                    </a:lnL>
                    <a:lnR w="6350" cap="flat" cmpd="sng" algn="ctr">
                      <a:solidFill>
                        <a:srgbClr val="2D333D"/>
                      </a:solidFill>
                      <a:prstDash val="solid"/>
                      <a:round/>
                      <a:headEnd type="none" w="med" len="med"/>
                      <a:tailEnd type="none" w="med" len="med"/>
                    </a:lnR>
                    <a:lnT w="6350" cap="flat" cmpd="sng" algn="ctr">
                      <a:solidFill>
                        <a:srgbClr val="2D333D"/>
                      </a:solidFill>
                      <a:prstDash val="solid"/>
                      <a:round/>
                      <a:headEnd type="none" w="med" len="med"/>
                      <a:tailEnd type="none" w="med" len="med"/>
                    </a:lnT>
                    <a:lnB w="6350" cap="flat" cmpd="sng" algn="ctr">
                      <a:solidFill>
                        <a:srgbClr val="2D333D"/>
                      </a:solidFill>
                      <a:prstDash val="solid"/>
                      <a:round/>
                      <a:headEnd type="none" w="med" len="med"/>
                      <a:tailEnd type="none" w="med" len="med"/>
                    </a:lnB>
                    <a:solidFill>
                      <a:srgbClr val="101318"/>
                    </a:solidFill>
                  </a:tcPr>
                </a:tc>
              </a:tr>
              <a:tr h="384048">
                <a:tc>
                  <a:txBody>
                    <a:bodyPr/>
                    <a:lstStyle/>
                    <a:p>
                      <a:pPr indent="0" marL="0">
                        <a:buNone/>
                      </a:pPr>
                      <a:r>
                        <a:rPr lang="en-US" sz="1200" dirty="0">
                          <a:solidFill>
                            <a:srgbClr val="F2775F"/>
                          </a:solidFill>
                          <a:latin typeface="Courier New" pitchFamily="34" charset="0"/>
                          <a:ea typeface="Courier New" pitchFamily="34" charset="-122"/>
                          <a:cs typeface="Courier New" pitchFamily="34" charset="-120"/>
                        </a:rPr>
                        <a:t>int age = 19;</a:t>
                      </a:r>
                      <a:endParaRPr lang="en-US" sz="1200" dirty="0">
                        <a:latin typeface="Courier New" charset="0"/>
                        <a:ea typeface="Courier New" charset="0"/>
                        <a:cs typeface="Courier New" charset="0"/>
                      </a:endParaRPr>
                    </a:p>
                  </a:txBody>
                  <a:tcPr marL="91440" marR="91440" marT="27432" marB="27432" anchor="ctr">
                    <a:lnL w="6350" cap="flat" cmpd="sng" algn="ctr">
                      <a:solidFill>
                        <a:srgbClr val="2D333D"/>
                      </a:solidFill>
                      <a:prstDash val="solid"/>
                      <a:round/>
                      <a:headEnd type="none" w="med" len="med"/>
                      <a:tailEnd type="none" w="med" len="med"/>
                    </a:lnL>
                    <a:lnR w="6350" cap="flat" cmpd="sng" algn="ctr">
                      <a:solidFill>
                        <a:srgbClr val="2D333D"/>
                      </a:solidFill>
                      <a:prstDash val="solid"/>
                      <a:round/>
                      <a:headEnd type="none" w="med" len="med"/>
                      <a:tailEnd type="none" w="med" len="med"/>
                    </a:lnR>
                    <a:lnT w="6350" cap="flat" cmpd="sng" algn="ctr">
                      <a:solidFill>
                        <a:srgbClr val="2D333D"/>
                      </a:solidFill>
                      <a:prstDash val="solid"/>
                      <a:round/>
                      <a:headEnd type="none" w="med" len="med"/>
                      <a:tailEnd type="none" w="med" len="med"/>
                    </a:lnT>
                    <a:lnB w="6350" cap="flat" cmpd="sng" algn="ctr">
                      <a:solidFill>
                        <a:srgbClr val="2D333D"/>
                      </a:solidFill>
                      <a:prstDash val="solid"/>
                      <a:round/>
                      <a:headEnd type="none" w="med" len="med"/>
                      <a:tailEnd type="none" w="med" len="med"/>
                    </a:lnB>
                    <a:solidFill>
                      <a:srgbClr val="101318"/>
                    </a:solidFill>
                  </a:tcPr>
                </a:tc>
                <a:tc>
                  <a:txBody>
                    <a:bodyPr/>
                    <a:lstStyle/>
                    <a:p>
                      <a:pPr indent="0" marL="0">
                        <a:buNone/>
                      </a:pPr>
                      <a:r>
                        <a:rPr lang="en-US" sz="1100" dirty="0">
                          <a:solidFill>
                            <a:srgbClr val="9AA2AD"/>
                          </a:solidFill>
                        </a:rPr>
                        <a:t>Semantic</a:t>
                      </a:r>
                      <a:endParaRPr lang="en-US" sz="1100" dirty="0"/>
                    </a:p>
                  </a:txBody>
                  <a:tcPr marL="91440" marR="91440" marT="27432" marB="27432" anchor="ctr">
                    <a:lnL w="6350" cap="flat" cmpd="sng" algn="ctr">
                      <a:solidFill>
                        <a:srgbClr val="2D333D"/>
                      </a:solidFill>
                      <a:prstDash val="solid"/>
                      <a:round/>
                      <a:headEnd type="none" w="med" len="med"/>
                      <a:tailEnd type="none" w="med" len="med"/>
                    </a:lnL>
                    <a:lnR w="6350" cap="flat" cmpd="sng" algn="ctr">
                      <a:solidFill>
                        <a:srgbClr val="2D333D"/>
                      </a:solidFill>
                      <a:prstDash val="solid"/>
                      <a:round/>
                      <a:headEnd type="none" w="med" len="med"/>
                      <a:tailEnd type="none" w="med" len="med"/>
                    </a:lnR>
                    <a:lnT w="6350" cap="flat" cmpd="sng" algn="ctr">
                      <a:solidFill>
                        <a:srgbClr val="2D333D"/>
                      </a:solidFill>
                      <a:prstDash val="solid"/>
                      <a:round/>
                      <a:headEnd type="none" w="med" len="med"/>
                      <a:tailEnd type="none" w="med" len="med"/>
                    </a:lnT>
                    <a:lnB w="6350" cap="flat" cmpd="sng" algn="ctr">
                      <a:solidFill>
                        <a:srgbClr val="2D333D"/>
                      </a:solidFill>
                      <a:prstDash val="solid"/>
                      <a:round/>
                      <a:headEnd type="none" w="med" len="med"/>
                      <a:tailEnd type="none" w="med" len="med"/>
                    </a:lnB>
                    <a:solidFill>
                      <a:srgbClr val="101318"/>
                    </a:solidFill>
                  </a:tcPr>
                </a:tc>
                <a:tc>
                  <a:txBody>
                    <a:bodyPr/>
                    <a:lstStyle/>
                    <a:p>
                      <a:pPr indent="0" marL="0">
                        <a:buNone/>
                      </a:pPr>
                      <a:r>
                        <a:rPr lang="en-US" sz="1200" dirty="0">
                          <a:solidFill>
                            <a:srgbClr val="ECE8E1"/>
                          </a:solidFill>
                        </a:rPr>
                        <a:t>Variable 'age' has already been declared (on line 1).</a:t>
                      </a:r>
                      <a:endParaRPr lang="en-US" sz="1200" dirty="0"/>
                    </a:p>
                  </a:txBody>
                  <a:tcPr marL="91440" marR="91440" marT="27432" marB="27432" anchor="ctr">
                    <a:lnL w="6350" cap="flat" cmpd="sng" algn="ctr">
                      <a:solidFill>
                        <a:srgbClr val="2D333D"/>
                      </a:solidFill>
                      <a:prstDash val="solid"/>
                      <a:round/>
                      <a:headEnd type="none" w="med" len="med"/>
                      <a:tailEnd type="none" w="med" len="med"/>
                    </a:lnL>
                    <a:lnR w="6350" cap="flat" cmpd="sng" algn="ctr">
                      <a:solidFill>
                        <a:srgbClr val="2D333D"/>
                      </a:solidFill>
                      <a:prstDash val="solid"/>
                      <a:round/>
                      <a:headEnd type="none" w="med" len="med"/>
                      <a:tailEnd type="none" w="med" len="med"/>
                    </a:lnR>
                    <a:lnT w="6350" cap="flat" cmpd="sng" algn="ctr">
                      <a:solidFill>
                        <a:srgbClr val="2D333D"/>
                      </a:solidFill>
                      <a:prstDash val="solid"/>
                      <a:round/>
                      <a:headEnd type="none" w="med" len="med"/>
                      <a:tailEnd type="none" w="med" len="med"/>
                    </a:lnT>
                    <a:lnB w="6350" cap="flat" cmpd="sng" algn="ctr">
                      <a:solidFill>
                        <a:srgbClr val="2D333D"/>
                      </a:solidFill>
                      <a:prstDash val="solid"/>
                      <a:round/>
                      <a:headEnd type="none" w="med" len="med"/>
                      <a:tailEnd type="none" w="med" len="med"/>
                    </a:lnB>
                    <a:solidFill>
                      <a:srgbClr val="101318"/>
                    </a:solidFill>
                  </a:tcPr>
                </a:tc>
              </a:tr>
              <a:tr h="384048">
                <a:tc>
                  <a:txBody>
                    <a:bodyPr/>
                    <a:lstStyle/>
                    <a:p>
                      <a:pPr indent="0" marL="0">
                        <a:buNone/>
                      </a:pPr>
                      <a:r>
                        <a:rPr lang="en-US" sz="1200" dirty="0">
                          <a:solidFill>
                            <a:srgbClr val="F2775F"/>
                          </a:solidFill>
                          <a:latin typeface="Courier New" pitchFamily="34" charset="0"/>
                          <a:ea typeface="Courier New" pitchFamily="34" charset="-122"/>
                          <a:cs typeface="Courier New" pitchFamily="34" charset="-120"/>
                        </a:rPr>
                        <a:t>int x = 2nd;</a:t>
                      </a:r>
                      <a:endParaRPr lang="en-US" sz="1200" dirty="0">
                        <a:latin typeface="Courier New" charset="0"/>
                        <a:ea typeface="Courier New" charset="0"/>
                        <a:cs typeface="Courier New" charset="0"/>
                      </a:endParaRPr>
                    </a:p>
                  </a:txBody>
                  <a:tcPr marL="91440" marR="91440" marT="27432" marB="27432" anchor="ctr">
                    <a:lnL w="6350" cap="flat" cmpd="sng" algn="ctr">
                      <a:solidFill>
                        <a:srgbClr val="2D333D"/>
                      </a:solidFill>
                      <a:prstDash val="solid"/>
                      <a:round/>
                      <a:headEnd type="none" w="med" len="med"/>
                      <a:tailEnd type="none" w="med" len="med"/>
                    </a:lnL>
                    <a:lnR w="6350" cap="flat" cmpd="sng" algn="ctr">
                      <a:solidFill>
                        <a:srgbClr val="2D333D"/>
                      </a:solidFill>
                      <a:prstDash val="solid"/>
                      <a:round/>
                      <a:headEnd type="none" w="med" len="med"/>
                      <a:tailEnd type="none" w="med" len="med"/>
                    </a:lnR>
                    <a:lnT w="6350" cap="flat" cmpd="sng" algn="ctr">
                      <a:solidFill>
                        <a:srgbClr val="2D333D"/>
                      </a:solidFill>
                      <a:prstDash val="solid"/>
                      <a:round/>
                      <a:headEnd type="none" w="med" len="med"/>
                      <a:tailEnd type="none" w="med" len="med"/>
                    </a:lnT>
                    <a:lnB w="6350" cap="flat" cmpd="sng" algn="ctr">
                      <a:solidFill>
                        <a:srgbClr val="2D333D"/>
                      </a:solidFill>
                      <a:prstDash val="solid"/>
                      <a:round/>
                      <a:headEnd type="none" w="med" len="med"/>
                      <a:tailEnd type="none" w="med" len="med"/>
                    </a:lnB>
                    <a:solidFill>
                      <a:srgbClr val="101318"/>
                    </a:solidFill>
                  </a:tcPr>
                </a:tc>
                <a:tc>
                  <a:txBody>
                    <a:bodyPr/>
                    <a:lstStyle/>
                    <a:p>
                      <a:pPr indent="0" marL="0">
                        <a:buNone/>
                      </a:pPr>
                      <a:r>
                        <a:rPr lang="en-US" sz="1100" dirty="0">
                          <a:solidFill>
                            <a:srgbClr val="9AA2AD"/>
                          </a:solidFill>
                        </a:rPr>
                        <a:t>Lexical</a:t>
                      </a:r>
                      <a:endParaRPr lang="en-US" sz="1100" dirty="0"/>
                    </a:p>
                  </a:txBody>
                  <a:tcPr marL="91440" marR="91440" marT="27432" marB="27432" anchor="ctr">
                    <a:lnL w="6350" cap="flat" cmpd="sng" algn="ctr">
                      <a:solidFill>
                        <a:srgbClr val="2D333D"/>
                      </a:solidFill>
                      <a:prstDash val="solid"/>
                      <a:round/>
                      <a:headEnd type="none" w="med" len="med"/>
                      <a:tailEnd type="none" w="med" len="med"/>
                    </a:lnL>
                    <a:lnR w="6350" cap="flat" cmpd="sng" algn="ctr">
                      <a:solidFill>
                        <a:srgbClr val="2D333D"/>
                      </a:solidFill>
                      <a:prstDash val="solid"/>
                      <a:round/>
                      <a:headEnd type="none" w="med" len="med"/>
                      <a:tailEnd type="none" w="med" len="med"/>
                    </a:lnR>
                    <a:lnT w="6350" cap="flat" cmpd="sng" algn="ctr">
                      <a:solidFill>
                        <a:srgbClr val="2D333D"/>
                      </a:solidFill>
                      <a:prstDash val="solid"/>
                      <a:round/>
                      <a:headEnd type="none" w="med" len="med"/>
                      <a:tailEnd type="none" w="med" len="med"/>
                    </a:lnT>
                    <a:lnB w="6350" cap="flat" cmpd="sng" algn="ctr">
                      <a:solidFill>
                        <a:srgbClr val="2D333D"/>
                      </a:solidFill>
                      <a:prstDash val="solid"/>
                      <a:round/>
                      <a:headEnd type="none" w="med" len="med"/>
                      <a:tailEnd type="none" w="med" len="med"/>
                    </a:lnB>
                    <a:solidFill>
                      <a:srgbClr val="101318"/>
                    </a:solidFill>
                  </a:tcPr>
                </a:tc>
                <a:tc>
                  <a:txBody>
                    <a:bodyPr/>
                    <a:lstStyle/>
                    <a:p>
                      <a:pPr indent="0" marL="0">
                        <a:buNone/>
                      </a:pPr>
                      <a:r>
                        <a:rPr lang="en-US" sz="1200" dirty="0">
                          <a:solidFill>
                            <a:srgbClr val="ECE8E1"/>
                          </a:solidFill>
                        </a:rPr>
                        <a:t>'2nd' is not a valid name. Variable names cannot start with a digit.</a:t>
                      </a:r>
                      <a:endParaRPr lang="en-US" sz="1200" dirty="0"/>
                    </a:p>
                  </a:txBody>
                  <a:tcPr marL="91440" marR="91440" marT="27432" marB="27432" anchor="ctr">
                    <a:lnL w="6350" cap="flat" cmpd="sng" algn="ctr">
                      <a:solidFill>
                        <a:srgbClr val="2D333D"/>
                      </a:solidFill>
                      <a:prstDash val="solid"/>
                      <a:round/>
                      <a:headEnd type="none" w="med" len="med"/>
                      <a:tailEnd type="none" w="med" len="med"/>
                    </a:lnL>
                    <a:lnR w="6350" cap="flat" cmpd="sng" algn="ctr">
                      <a:solidFill>
                        <a:srgbClr val="2D333D"/>
                      </a:solidFill>
                      <a:prstDash val="solid"/>
                      <a:round/>
                      <a:headEnd type="none" w="med" len="med"/>
                      <a:tailEnd type="none" w="med" len="med"/>
                    </a:lnR>
                    <a:lnT w="6350" cap="flat" cmpd="sng" algn="ctr">
                      <a:solidFill>
                        <a:srgbClr val="2D333D"/>
                      </a:solidFill>
                      <a:prstDash val="solid"/>
                      <a:round/>
                      <a:headEnd type="none" w="med" len="med"/>
                      <a:tailEnd type="none" w="med" len="med"/>
                    </a:lnT>
                    <a:lnB w="6350" cap="flat" cmpd="sng" algn="ctr">
                      <a:solidFill>
                        <a:srgbClr val="2D333D"/>
                      </a:solidFill>
                      <a:prstDash val="solid"/>
                      <a:round/>
                      <a:headEnd type="none" w="med" len="med"/>
                      <a:tailEnd type="none" w="med" len="med"/>
                    </a:lnB>
                    <a:solidFill>
                      <a:srgbClr val="101318"/>
                    </a:solidFill>
                  </a:tcPr>
                </a:tc>
              </a:tr>
            </a:tbl>
          </a:graphicData>
        </a:graphic>
      </p:graphicFrame>
      <p:sp>
        <p:nvSpPr>
          <p:cNvPr id="25" name="Slide Number Placeholder 0"/>
          <p:cNvSpPr>
            <a:spLocks noGrp="1"/>
          </p:cNvSpPr>
          <p:nvPr>
            <p:ph type="sldNum" sz="quarter" idx="4294967295"/>
          </p:nvPr>
        </p:nvSpPr>
        <p:spPr>
          <a:xfrm>
            <a:off x="8321040" y="473659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600" b="1" dirty="0">
                <a:solidFill>
                  <a:schemeClr val="bg1"/>
                </a:solidFill>
              </a:rPr>
              <a:t>Diagnosis reads nearby tokens</a:t>
            </a:r>
            <a:endParaRPr lang="en-US" sz="2600" dirty="0"/>
          </a:p>
        </p:txBody>
      </p:sp>
      <p:sp>
        <p:nvSpPr>
          <p:cNvPr id="4" name="phase-383"/>
          <p:cNvSpPr/>
          <p:nvPr/>
        </p:nvSpPr>
        <p:spPr>
          <a:xfrm>
            <a:off x="457200" y="4718304"/>
            <a:ext cx="868680" cy="256032"/>
          </a:xfrm>
          <a:prstGeom prst="roundRect">
            <a:avLst>
              <a:gd name="adj" fmla="val 17857"/>
            </a:avLst>
          </a:prstGeom>
          <a:solidFill>
            <a:schemeClr val="tx2"/>
          </a:solidFill>
          <a:ln w="9525">
            <a:solidFill>
              <a:schemeClr val="accent5"/>
            </a:solidFill>
            <a:prstDash val="solid"/>
          </a:ln>
        </p:spPr>
      </p:sp>
      <p:sp>
        <p:nvSpPr>
          <p:cNvPr id="5" name="text-384"/>
          <p:cNvSpPr txBox="1"/>
          <p:nvPr/>
        </p:nvSpPr>
        <p:spPr>
          <a:xfrm>
            <a:off x="457200" y="4718304"/>
            <a:ext cx="868680" cy="256032"/>
          </a:xfrm>
          <a:prstGeom prst="rect">
            <a:avLst/>
          </a:prstGeom>
          <a:noFill/>
          <a:ln/>
        </p:spPr>
        <p:txBody>
          <a:bodyPr wrap="square" lIns="0" tIns="0" rIns="0" bIns="0" rtlCol="0" anchor="ctr"/>
          <a:lstStyle/>
          <a:p>
            <a:pPr algn="ctr" indent="0" marL="0">
              <a:buNone/>
            </a:pPr>
            <a:r>
              <a:rPr lang="en-US" sz="1000" dirty="0">
                <a:solidFill>
                  <a:schemeClr val="bg2"/>
                </a:solidFill>
              </a:rPr>
              <a:t>1 Lexical</a:t>
            </a:r>
            <a:endParaRPr lang="en-US" sz="1000" dirty="0"/>
          </a:p>
        </p:txBody>
      </p:sp>
      <p:sp>
        <p:nvSpPr>
          <p:cNvPr id="6" name="phase-385"/>
          <p:cNvSpPr/>
          <p:nvPr/>
        </p:nvSpPr>
        <p:spPr>
          <a:xfrm>
            <a:off x="1389888" y="4718304"/>
            <a:ext cx="868680" cy="256032"/>
          </a:xfrm>
          <a:prstGeom prst="roundRect">
            <a:avLst>
              <a:gd name="adj" fmla="val 17857"/>
            </a:avLst>
          </a:prstGeom>
          <a:solidFill>
            <a:schemeClr val="tx2"/>
          </a:solidFill>
          <a:ln w="9525">
            <a:solidFill>
              <a:schemeClr val="accent5"/>
            </a:solidFill>
            <a:prstDash val="solid"/>
          </a:ln>
        </p:spPr>
      </p:sp>
      <p:sp>
        <p:nvSpPr>
          <p:cNvPr id="7" name="text-386"/>
          <p:cNvSpPr txBox="1"/>
          <p:nvPr/>
        </p:nvSpPr>
        <p:spPr>
          <a:xfrm>
            <a:off x="1389888" y="4718304"/>
            <a:ext cx="868680" cy="256032"/>
          </a:xfrm>
          <a:prstGeom prst="rect">
            <a:avLst/>
          </a:prstGeom>
          <a:noFill/>
          <a:ln/>
        </p:spPr>
        <p:txBody>
          <a:bodyPr wrap="square" lIns="0" tIns="0" rIns="0" bIns="0" rtlCol="0" anchor="ctr"/>
          <a:lstStyle/>
          <a:p>
            <a:pPr algn="ctr" indent="0" marL="0">
              <a:buNone/>
            </a:pPr>
            <a:r>
              <a:rPr lang="en-US" sz="1000" dirty="0">
                <a:solidFill>
                  <a:schemeClr val="bg2"/>
                </a:solidFill>
              </a:rPr>
              <a:t>2 Syntax</a:t>
            </a:r>
            <a:endParaRPr lang="en-US" sz="1000" dirty="0"/>
          </a:p>
        </p:txBody>
      </p:sp>
      <p:sp>
        <p:nvSpPr>
          <p:cNvPr id="8" name="phase-387"/>
          <p:cNvSpPr/>
          <p:nvPr/>
        </p:nvSpPr>
        <p:spPr>
          <a:xfrm>
            <a:off x="2322576" y="4718304"/>
            <a:ext cx="868680" cy="256032"/>
          </a:xfrm>
          <a:prstGeom prst="roundRect">
            <a:avLst>
              <a:gd name="adj" fmla="val 17857"/>
            </a:avLst>
          </a:prstGeom>
          <a:solidFill>
            <a:schemeClr val="tx2"/>
          </a:solidFill>
          <a:ln w="9525">
            <a:solidFill>
              <a:schemeClr val="accent5"/>
            </a:solidFill>
            <a:prstDash val="solid"/>
          </a:ln>
        </p:spPr>
      </p:sp>
      <p:sp>
        <p:nvSpPr>
          <p:cNvPr id="9" name="text-388"/>
          <p:cNvSpPr txBox="1"/>
          <p:nvPr/>
        </p:nvSpPr>
        <p:spPr>
          <a:xfrm>
            <a:off x="2322576" y="4718304"/>
            <a:ext cx="868680" cy="256032"/>
          </a:xfrm>
          <a:prstGeom prst="rect">
            <a:avLst/>
          </a:prstGeom>
          <a:noFill/>
          <a:ln/>
        </p:spPr>
        <p:txBody>
          <a:bodyPr wrap="square" lIns="0" tIns="0" rIns="0" bIns="0" rtlCol="0" anchor="ctr"/>
          <a:lstStyle/>
          <a:p>
            <a:pPr algn="ctr" indent="0" marL="0">
              <a:buNone/>
            </a:pPr>
            <a:r>
              <a:rPr lang="en-US" sz="1000" dirty="0">
                <a:solidFill>
                  <a:schemeClr val="bg2"/>
                </a:solidFill>
              </a:rPr>
              <a:t>3 Semantic</a:t>
            </a:r>
            <a:endParaRPr lang="en-US" sz="1000" dirty="0"/>
          </a:p>
        </p:txBody>
      </p:sp>
      <p:sp>
        <p:nvSpPr>
          <p:cNvPr id="10" name="phase-389"/>
          <p:cNvSpPr/>
          <p:nvPr/>
        </p:nvSpPr>
        <p:spPr>
          <a:xfrm>
            <a:off x="3255264" y="4718304"/>
            <a:ext cx="868680" cy="256032"/>
          </a:xfrm>
          <a:prstGeom prst="roundRect">
            <a:avLst>
              <a:gd name="adj" fmla="val 17857"/>
            </a:avLst>
          </a:prstGeom>
          <a:solidFill>
            <a:schemeClr val="tx2"/>
          </a:solidFill>
          <a:ln w="9525">
            <a:solidFill>
              <a:schemeClr val="accent5"/>
            </a:solidFill>
            <a:prstDash val="solid"/>
          </a:ln>
        </p:spPr>
      </p:sp>
      <p:sp>
        <p:nvSpPr>
          <p:cNvPr id="11" name="text-390"/>
          <p:cNvSpPr txBox="1"/>
          <p:nvPr/>
        </p:nvSpPr>
        <p:spPr>
          <a:xfrm>
            <a:off x="3255264" y="4718304"/>
            <a:ext cx="868680" cy="256032"/>
          </a:xfrm>
          <a:prstGeom prst="rect">
            <a:avLst/>
          </a:prstGeom>
          <a:noFill/>
          <a:ln/>
        </p:spPr>
        <p:txBody>
          <a:bodyPr wrap="square" lIns="0" tIns="0" rIns="0" bIns="0" rtlCol="0" anchor="ctr"/>
          <a:lstStyle/>
          <a:p>
            <a:pPr algn="ctr" indent="0" marL="0">
              <a:buNone/>
            </a:pPr>
            <a:r>
              <a:rPr lang="en-US" sz="1000" dirty="0">
                <a:solidFill>
                  <a:schemeClr val="bg2"/>
                </a:solidFill>
              </a:rPr>
              <a:t>4 TAC</a:t>
            </a:r>
            <a:endParaRPr lang="en-US" sz="1000" dirty="0"/>
          </a:p>
        </p:txBody>
      </p:sp>
      <p:sp>
        <p:nvSpPr>
          <p:cNvPr id="12" name="phase-391"/>
          <p:cNvSpPr/>
          <p:nvPr/>
        </p:nvSpPr>
        <p:spPr>
          <a:xfrm>
            <a:off x="4187952" y="4718304"/>
            <a:ext cx="868680" cy="256032"/>
          </a:xfrm>
          <a:prstGeom prst="roundRect">
            <a:avLst>
              <a:gd name="adj" fmla="val 17857"/>
            </a:avLst>
          </a:prstGeom>
          <a:solidFill>
            <a:schemeClr val="accent1"/>
          </a:solidFill>
          <a:ln w="9525">
            <a:solidFill>
              <a:schemeClr val="accent1"/>
            </a:solidFill>
            <a:prstDash val="solid"/>
          </a:ln>
        </p:spPr>
      </p:sp>
      <p:sp>
        <p:nvSpPr>
          <p:cNvPr id="13" name="text-392"/>
          <p:cNvSpPr txBox="1"/>
          <p:nvPr/>
        </p:nvSpPr>
        <p:spPr>
          <a:xfrm>
            <a:off x="4187952" y="4718304"/>
            <a:ext cx="868680" cy="256032"/>
          </a:xfrm>
          <a:prstGeom prst="rect">
            <a:avLst/>
          </a:prstGeom>
          <a:noFill/>
          <a:ln/>
        </p:spPr>
        <p:txBody>
          <a:bodyPr wrap="square" lIns="0" tIns="0" rIns="0" bIns="0" rtlCol="0" anchor="ctr"/>
          <a:lstStyle/>
          <a:p>
            <a:pPr algn="ctr" indent="0" marL="0">
              <a:buNone/>
            </a:pPr>
            <a:r>
              <a:rPr lang="en-US" sz="1000" b="1" dirty="0">
                <a:solidFill>
                  <a:schemeClr val="tx1"/>
                </a:solidFill>
              </a:rPr>
              <a:t>5 Errors</a:t>
            </a:r>
            <a:endParaRPr lang="en-US" sz="1000" dirty="0"/>
          </a:p>
        </p:txBody>
      </p:sp>
      <p:sp>
        <p:nvSpPr>
          <p:cNvPr id="14" name="text-393"/>
          <p:cNvSpPr txBox="1"/>
          <p:nvPr/>
        </p:nvSpPr>
        <p:spPr>
          <a:xfrm>
            <a:off x="457200" y="1051560"/>
            <a:ext cx="8229600" cy="320040"/>
          </a:xfrm>
          <a:prstGeom prst="rect">
            <a:avLst/>
          </a:prstGeom>
          <a:noFill/>
          <a:ln/>
        </p:spPr>
        <p:txBody>
          <a:bodyPr wrap="square" lIns="0" tIns="0" rIns="0" bIns="0" rtlCol="0" anchor="t"/>
          <a:lstStyle/>
          <a:p>
            <a:pPr indent="0" marL="0">
              <a:buNone/>
            </a:pPr>
            <a:r>
              <a:rPr lang="en-US" sz="1300" b="1" dirty="0">
                <a:solidFill>
                  <a:schemeClr val="accent1"/>
                </a:solidFill>
                <a:latin typeface="Courier New" pitchFamily="34" charset="0"/>
                <a:ea typeface="Courier New" pitchFamily="34" charset="-122"/>
                <a:cs typeface="Courier New" pitchFamily="34" charset="-120"/>
              </a:rPr>
              <a:t>expectSemicolon()</a:t>
            </a:r>
            <a:pPr indent="0" marL="0">
              <a:buNone/>
            </a:pPr>
            <a:r>
              <a:rPr lang="en-US" sz="1300" dirty="0">
                <a:solidFill>
                  <a:schemeClr val="bg2"/>
                </a:solidFill>
              </a:rPr>
              <a:t>  the statement is over, but the next token is not ';'. What is it?</a:t>
            </a:r>
            <a:endParaRPr lang="en-US" sz="1300" dirty="0"/>
          </a:p>
        </p:txBody>
      </p:sp>
      <p:sp>
        <p:nvSpPr>
          <p:cNvPr id="15" name="panel-394"/>
          <p:cNvSpPr/>
          <p:nvPr/>
        </p:nvSpPr>
        <p:spPr>
          <a:xfrm>
            <a:off x="457200" y="1463040"/>
            <a:ext cx="2377440" cy="411480"/>
          </a:xfrm>
          <a:prstGeom prst="roundRect">
            <a:avLst>
              <a:gd name="adj" fmla="val 17778"/>
            </a:avLst>
          </a:prstGeom>
          <a:solidFill>
            <a:schemeClr val="tx2"/>
          </a:solidFill>
          <a:ln w="9525">
            <a:solidFill>
              <a:schemeClr val="accent5"/>
            </a:solidFill>
            <a:prstDash val="solid"/>
          </a:ln>
        </p:spPr>
      </p:sp>
      <p:sp>
        <p:nvSpPr>
          <p:cNvPr id="16" name="text-395"/>
          <p:cNvSpPr txBox="1"/>
          <p:nvPr/>
        </p:nvSpPr>
        <p:spPr>
          <a:xfrm>
            <a:off x="548640" y="1463040"/>
            <a:ext cx="2194560" cy="411480"/>
          </a:xfrm>
          <a:prstGeom prst="rect">
            <a:avLst/>
          </a:prstGeom>
          <a:noFill/>
          <a:ln/>
        </p:spPr>
        <p:txBody>
          <a:bodyPr wrap="square" lIns="0" tIns="0" rIns="0" bIns="0" rtlCol="0" anchor="ctr"/>
          <a:lstStyle/>
          <a:p>
            <a:pPr indent="0" marL="0">
              <a:buNone/>
            </a:pPr>
            <a:r>
              <a:rPr lang="en-US" sz="1300" b="1" dirty="0">
                <a:solidFill>
                  <a:schemeClr val="accent3"/>
                </a:solidFill>
                <a:latin typeface="Courier New" pitchFamily="34" charset="0"/>
                <a:ea typeface="Courier New" pitchFamily="34" charset="-122"/>
                <a:cs typeface="Courier New" pitchFamily="34" charset="-120"/>
              </a:rPr>
              <a:t>)</a:t>
            </a:r>
            <a:endParaRPr lang="en-US" sz="1300" dirty="0"/>
          </a:p>
        </p:txBody>
      </p:sp>
      <p:sp>
        <p:nvSpPr>
          <p:cNvPr id="17" name="arrow-396"/>
          <p:cNvSpPr/>
          <p:nvPr/>
        </p:nvSpPr>
        <p:spPr>
          <a:xfrm>
            <a:off x="2880360" y="1664208"/>
            <a:ext cx="365760" cy="0"/>
          </a:xfrm>
          <a:prstGeom prst="line">
            <a:avLst/>
          </a:prstGeom>
          <a:noFill/>
          <a:ln w="15875">
            <a:solidFill>
              <a:schemeClr val="bg2"/>
            </a:solidFill>
            <a:prstDash val="solid"/>
            <a:tailEnd type="triangle"/>
          </a:ln>
        </p:spPr>
      </p:sp>
      <p:sp>
        <p:nvSpPr>
          <p:cNvPr id="18" name="text-397"/>
          <p:cNvSpPr txBox="1"/>
          <p:nvPr/>
        </p:nvSpPr>
        <p:spPr>
          <a:xfrm>
            <a:off x="3337560" y="1463040"/>
            <a:ext cx="5349240" cy="411480"/>
          </a:xfrm>
          <a:prstGeom prst="rect">
            <a:avLst/>
          </a:prstGeom>
          <a:noFill/>
          <a:ln/>
        </p:spPr>
        <p:txBody>
          <a:bodyPr wrap="square" lIns="0" tIns="0" rIns="0" bIns="0" rtlCol="0" anchor="ctr"/>
          <a:lstStyle/>
          <a:p>
            <a:pPr indent="0" marL="0">
              <a:buNone/>
            </a:pPr>
            <a:r>
              <a:rPr lang="en-US" sz="1300" dirty="0">
                <a:solidFill>
                  <a:schemeClr val="bg1"/>
                </a:solidFill>
              </a:rPr>
              <a:t>Found an extra ')' that has no matching '('.</a:t>
            </a:r>
            <a:endParaRPr lang="en-US" sz="1300" dirty="0"/>
          </a:p>
        </p:txBody>
      </p:sp>
      <p:sp>
        <p:nvSpPr>
          <p:cNvPr id="19" name="panel-398"/>
          <p:cNvSpPr/>
          <p:nvPr/>
        </p:nvSpPr>
        <p:spPr>
          <a:xfrm>
            <a:off x="457200" y="1965960"/>
            <a:ext cx="2377440" cy="411480"/>
          </a:xfrm>
          <a:prstGeom prst="roundRect">
            <a:avLst>
              <a:gd name="adj" fmla="val 17778"/>
            </a:avLst>
          </a:prstGeom>
          <a:solidFill>
            <a:schemeClr val="tx2"/>
          </a:solidFill>
          <a:ln w="9525">
            <a:solidFill>
              <a:schemeClr val="accent5"/>
            </a:solidFill>
            <a:prstDash val="solid"/>
          </a:ln>
        </p:spPr>
      </p:sp>
      <p:sp>
        <p:nvSpPr>
          <p:cNvPr id="20" name="text-399"/>
          <p:cNvSpPr txBox="1"/>
          <p:nvPr/>
        </p:nvSpPr>
        <p:spPr>
          <a:xfrm>
            <a:off x="548640" y="1965960"/>
            <a:ext cx="2194560" cy="411480"/>
          </a:xfrm>
          <a:prstGeom prst="rect">
            <a:avLst/>
          </a:prstGeom>
          <a:noFill/>
          <a:ln/>
        </p:spPr>
        <p:txBody>
          <a:bodyPr wrap="square" lIns="0" tIns="0" rIns="0" bIns="0" rtlCol="0" anchor="ctr"/>
          <a:lstStyle/>
          <a:p>
            <a:pPr indent="0" marL="0">
              <a:buNone/>
            </a:pPr>
            <a:r>
              <a:rPr lang="en-US" sz="1300" b="1" dirty="0">
                <a:solidFill>
                  <a:schemeClr val="accent3"/>
                </a:solidFill>
                <a:latin typeface="Courier New" pitchFamily="34" charset="0"/>
                <a:ea typeface="Courier New" pitchFamily="34" charset="-122"/>
                <a:cs typeface="Courier New" pitchFamily="34" charset="-120"/>
              </a:rPr>
              <a:t>=</a:t>
            </a:r>
            <a:endParaRPr lang="en-US" sz="1300" dirty="0"/>
          </a:p>
        </p:txBody>
      </p:sp>
      <p:sp>
        <p:nvSpPr>
          <p:cNvPr id="21" name="arrow-400"/>
          <p:cNvSpPr/>
          <p:nvPr/>
        </p:nvSpPr>
        <p:spPr>
          <a:xfrm>
            <a:off x="2880360" y="2167128"/>
            <a:ext cx="365760" cy="0"/>
          </a:xfrm>
          <a:prstGeom prst="line">
            <a:avLst/>
          </a:prstGeom>
          <a:noFill/>
          <a:ln w="15875">
            <a:solidFill>
              <a:schemeClr val="bg2"/>
            </a:solidFill>
            <a:prstDash val="solid"/>
            <a:tailEnd type="triangle"/>
          </a:ln>
        </p:spPr>
      </p:sp>
      <p:sp>
        <p:nvSpPr>
          <p:cNvPr id="22" name="text-401"/>
          <p:cNvSpPr txBox="1"/>
          <p:nvPr/>
        </p:nvSpPr>
        <p:spPr>
          <a:xfrm>
            <a:off x="3337560" y="1965960"/>
            <a:ext cx="5349240" cy="411480"/>
          </a:xfrm>
          <a:prstGeom prst="rect">
            <a:avLst/>
          </a:prstGeom>
          <a:noFill/>
          <a:ln/>
        </p:spPr>
        <p:txBody>
          <a:bodyPr wrap="square" lIns="0" tIns="0" rIns="0" bIns="0" rtlCol="0" anchor="ctr"/>
          <a:lstStyle/>
          <a:p>
            <a:pPr indent="0" marL="0">
              <a:buNone/>
            </a:pPr>
            <a:r>
              <a:rPr lang="en-US" sz="1300" dirty="0">
                <a:solidFill>
                  <a:schemeClr val="bg1"/>
                </a:solidFill>
              </a:rPr>
              <a:t>Unexpected '='. A statement can contain only one '='.</a:t>
            </a:r>
            <a:endParaRPr lang="en-US" sz="1300" dirty="0"/>
          </a:p>
        </p:txBody>
      </p:sp>
      <p:sp>
        <p:nvSpPr>
          <p:cNvPr id="23" name="panel-402"/>
          <p:cNvSpPr/>
          <p:nvPr/>
        </p:nvSpPr>
        <p:spPr>
          <a:xfrm>
            <a:off x="457200" y="2468880"/>
            <a:ext cx="2377440" cy="411480"/>
          </a:xfrm>
          <a:prstGeom prst="roundRect">
            <a:avLst>
              <a:gd name="adj" fmla="val 17778"/>
            </a:avLst>
          </a:prstGeom>
          <a:solidFill>
            <a:schemeClr val="tx2"/>
          </a:solidFill>
          <a:ln w="9525">
            <a:solidFill>
              <a:schemeClr val="accent5"/>
            </a:solidFill>
            <a:prstDash val="solid"/>
          </a:ln>
        </p:spPr>
      </p:sp>
      <p:sp>
        <p:nvSpPr>
          <p:cNvPr id="24" name="text-403"/>
          <p:cNvSpPr txBox="1"/>
          <p:nvPr/>
        </p:nvSpPr>
        <p:spPr>
          <a:xfrm>
            <a:off x="548640" y="2468880"/>
            <a:ext cx="2194560" cy="411480"/>
          </a:xfrm>
          <a:prstGeom prst="rect">
            <a:avLst/>
          </a:prstGeom>
          <a:noFill/>
          <a:ln/>
        </p:spPr>
        <p:txBody>
          <a:bodyPr wrap="square" lIns="0" tIns="0" rIns="0" bIns="0" rtlCol="0" anchor="ctr"/>
          <a:lstStyle/>
          <a:p>
            <a:pPr indent="0" marL="0">
              <a:buNone/>
            </a:pPr>
            <a:r>
              <a:rPr lang="en-US" sz="1300" b="1" dirty="0">
                <a:solidFill>
                  <a:schemeClr val="accent3"/>
                </a:solidFill>
                <a:latin typeface="Courier New" pitchFamily="34" charset="0"/>
                <a:ea typeface="Courier New" pitchFamily="34" charset="-122"/>
                <a:cs typeface="Courier New" pitchFamily="34" charset="-120"/>
              </a:rPr>
              <a:t>x  5  (  same line</a:t>
            </a:r>
            <a:endParaRPr lang="en-US" sz="1300" dirty="0"/>
          </a:p>
        </p:txBody>
      </p:sp>
      <p:sp>
        <p:nvSpPr>
          <p:cNvPr id="25" name="arrow-404"/>
          <p:cNvSpPr/>
          <p:nvPr/>
        </p:nvSpPr>
        <p:spPr>
          <a:xfrm>
            <a:off x="2880360" y="2670048"/>
            <a:ext cx="365760" cy="0"/>
          </a:xfrm>
          <a:prstGeom prst="line">
            <a:avLst/>
          </a:prstGeom>
          <a:noFill/>
          <a:ln w="15875">
            <a:solidFill>
              <a:schemeClr val="bg2"/>
            </a:solidFill>
            <a:prstDash val="solid"/>
            <a:tailEnd type="triangle"/>
          </a:ln>
        </p:spPr>
      </p:sp>
      <p:sp>
        <p:nvSpPr>
          <p:cNvPr id="26" name="text-405"/>
          <p:cNvSpPr txBox="1"/>
          <p:nvPr/>
        </p:nvSpPr>
        <p:spPr>
          <a:xfrm>
            <a:off x="3337560" y="2468880"/>
            <a:ext cx="5349240" cy="411480"/>
          </a:xfrm>
          <a:prstGeom prst="rect">
            <a:avLst/>
          </a:prstGeom>
          <a:noFill/>
          <a:ln/>
        </p:spPr>
        <p:txBody>
          <a:bodyPr wrap="square" lIns="0" tIns="0" rIns="0" bIns="0" rtlCol="0" anchor="ctr"/>
          <a:lstStyle/>
          <a:p>
            <a:pPr indent="0" marL="0">
              <a:buNone/>
            </a:pPr>
            <a:r>
              <a:rPr lang="en-US" sz="1300" dirty="0">
                <a:solidFill>
                  <a:schemeClr val="bg1"/>
                </a:solidFill>
              </a:rPr>
              <a:t>Missing operator between the two values.</a:t>
            </a:r>
            <a:endParaRPr lang="en-US" sz="1300" dirty="0"/>
          </a:p>
        </p:txBody>
      </p:sp>
      <p:sp>
        <p:nvSpPr>
          <p:cNvPr id="27" name="panel-406"/>
          <p:cNvSpPr/>
          <p:nvPr/>
        </p:nvSpPr>
        <p:spPr>
          <a:xfrm>
            <a:off x="457200" y="2971800"/>
            <a:ext cx="2377440" cy="411480"/>
          </a:xfrm>
          <a:prstGeom prst="roundRect">
            <a:avLst>
              <a:gd name="adj" fmla="val 17778"/>
            </a:avLst>
          </a:prstGeom>
          <a:solidFill>
            <a:schemeClr val="tx2"/>
          </a:solidFill>
          <a:ln w="9525">
            <a:solidFill>
              <a:schemeClr val="accent5"/>
            </a:solidFill>
            <a:prstDash val="solid"/>
          </a:ln>
        </p:spPr>
      </p:sp>
      <p:sp>
        <p:nvSpPr>
          <p:cNvPr id="28" name="text-407"/>
          <p:cNvSpPr txBox="1"/>
          <p:nvPr/>
        </p:nvSpPr>
        <p:spPr>
          <a:xfrm>
            <a:off x="548640" y="2971800"/>
            <a:ext cx="2194560" cy="411480"/>
          </a:xfrm>
          <a:prstGeom prst="rect">
            <a:avLst/>
          </a:prstGeom>
          <a:noFill/>
          <a:ln/>
        </p:spPr>
        <p:txBody>
          <a:bodyPr wrap="square" lIns="0" tIns="0" rIns="0" bIns="0" rtlCol="0" anchor="ctr"/>
          <a:lstStyle/>
          <a:p>
            <a:pPr indent="0" marL="0">
              <a:buNone/>
            </a:pPr>
            <a:r>
              <a:rPr lang="en-US" sz="1300" b="1" dirty="0">
                <a:solidFill>
                  <a:schemeClr val="accent3"/>
                </a:solidFill>
                <a:latin typeface="Courier New" pitchFamily="34" charset="0"/>
                <a:ea typeface="Courier New" pitchFamily="34" charset="-122"/>
                <a:cs typeface="Courier New" pitchFamily="34" charset="-120"/>
              </a:rPr>
              <a:t>anything else</a:t>
            </a:r>
            <a:endParaRPr lang="en-US" sz="1300" dirty="0"/>
          </a:p>
        </p:txBody>
      </p:sp>
      <p:sp>
        <p:nvSpPr>
          <p:cNvPr id="29" name="arrow-408"/>
          <p:cNvSpPr/>
          <p:nvPr/>
        </p:nvSpPr>
        <p:spPr>
          <a:xfrm>
            <a:off x="2880360" y="3172968"/>
            <a:ext cx="365760" cy="0"/>
          </a:xfrm>
          <a:prstGeom prst="line">
            <a:avLst/>
          </a:prstGeom>
          <a:noFill/>
          <a:ln w="15875">
            <a:solidFill>
              <a:schemeClr val="bg2"/>
            </a:solidFill>
            <a:prstDash val="solid"/>
            <a:tailEnd type="triangle"/>
          </a:ln>
        </p:spPr>
      </p:sp>
      <p:sp>
        <p:nvSpPr>
          <p:cNvPr id="30" name="text-409"/>
          <p:cNvSpPr txBox="1"/>
          <p:nvPr/>
        </p:nvSpPr>
        <p:spPr>
          <a:xfrm>
            <a:off x="3337560" y="2971800"/>
            <a:ext cx="5349240" cy="411480"/>
          </a:xfrm>
          <a:prstGeom prst="rect">
            <a:avLst/>
          </a:prstGeom>
          <a:noFill/>
          <a:ln/>
        </p:spPr>
        <p:txBody>
          <a:bodyPr wrap="square" lIns="0" tIns="0" rIns="0" bIns="0" rtlCol="0" anchor="ctr"/>
          <a:lstStyle/>
          <a:p>
            <a:pPr indent="0" marL="0">
              <a:buNone/>
            </a:pPr>
            <a:r>
              <a:rPr lang="en-US" sz="1300" dirty="0">
                <a:solidFill>
                  <a:schemeClr val="bg1"/>
                </a:solidFill>
              </a:rPr>
              <a:t>Expected ';', reported on the line of the previous token.</a:t>
            </a:r>
            <a:endParaRPr lang="en-US" sz="1300" dirty="0"/>
          </a:p>
        </p:txBody>
      </p:sp>
      <p:sp>
        <p:nvSpPr>
          <p:cNvPr id="31" name="panel-410"/>
          <p:cNvSpPr/>
          <p:nvPr/>
        </p:nvSpPr>
        <p:spPr>
          <a:xfrm>
            <a:off x="457200" y="3566160"/>
            <a:ext cx="4023360" cy="960120"/>
          </a:xfrm>
          <a:prstGeom prst="roundRect">
            <a:avLst>
              <a:gd name="adj" fmla="val 7619"/>
            </a:avLst>
          </a:prstGeom>
          <a:solidFill>
            <a:schemeClr val="tx2"/>
          </a:solidFill>
          <a:ln w="9525">
            <a:solidFill>
              <a:schemeClr val="accent5"/>
            </a:solidFill>
            <a:prstDash val="solid"/>
          </a:ln>
        </p:spPr>
      </p:sp>
      <p:sp>
        <p:nvSpPr>
          <p:cNvPr id="32" name="text-411"/>
          <p:cNvSpPr txBox="1"/>
          <p:nvPr/>
        </p:nvSpPr>
        <p:spPr>
          <a:xfrm>
            <a:off x="640080" y="3566160"/>
            <a:ext cx="3657600" cy="960120"/>
          </a:xfrm>
          <a:prstGeom prst="rect">
            <a:avLst/>
          </a:prstGeom>
          <a:noFill/>
          <a:ln/>
        </p:spPr>
        <p:txBody>
          <a:bodyPr wrap="square" lIns="0" tIns="0" rIns="0" bIns="0" rtlCol="0" anchor="ct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factorError()</a:t>
            </a:r>
            <a:endParaRPr lang="en-US" sz="1300" dirty="0"/>
          </a:p>
          <a:p>
            <a:pPr indent="0" marL="0">
              <a:buNone/>
            </a:pPr>
            <a:r>
              <a:rPr lang="en-US" sz="1200" dirty="0">
                <a:solidFill>
                  <a:schemeClr val="bg2"/>
                </a:solidFill>
              </a:rPr>
              <a:t>a value was expected: two operators in a row, -5, empty ( ), keyword inside an expression, program ended mid-expression</a:t>
            </a:r>
            <a:endParaRPr lang="en-US" sz="1300" dirty="0"/>
          </a:p>
        </p:txBody>
      </p:sp>
      <p:sp>
        <p:nvSpPr>
          <p:cNvPr id="33" name="panel-412"/>
          <p:cNvSpPr/>
          <p:nvPr/>
        </p:nvSpPr>
        <p:spPr>
          <a:xfrm>
            <a:off x="4663440" y="3566160"/>
            <a:ext cx="4023360" cy="960120"/>
          </a:xfrm>
          <a:prstGeom prst="roundRect">
            <a:avLst>
              <a:gd name="adj" fmla="val 7619"/>
            </a:avLst>
          </a:prstGeom>
          <a:solidFill>
            <a:schemeClr val="tx2"/>
          </a:solidFill>
          <a:ln w="9525">
            <a:solidFill>
              <a:schemeClr val="accent5"/>
            </a:solidFill>
            <a:prstDash val="solid"/>
          </a:ln>
        </p:spPr>
      </p:sp>
      <p:sp>
        <p:nvSpPr>
          <p:cNvPr id="34" name="text-413"/>
          <p:cNvSpPr txBox="1"/>
          <p:nvPr/>
        </p:nvSpPr>
        <p:spPr>
          <a:xfrm>
            <a:off x="4846320" y="3566160"/>
            <a:ext cx="3657600" cy="960120"/>
          </a:xfrm>
          <a:prstGeom prst="rect">
            <a:avLst/>
          </a:prstGeom>
          <a:noFill/>
          <a:ln/>
        </p:spPr>
        <p:txBody>
          <a:bodyPr wrap="square" lIns="0" tIns="0" rIns="0" bIns="0" rtlCol="0" anchor="ct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unknownStatementError()</a:t>
            </a:r>
            <a:endParaRPr lang="en-US" sz="1300" dirty="0"/>
          </a:p>
          <a:p>
            <a:pPr indent="0" marL="0">
              <a:buNone/>
            </a:pPr>
            <a:r>
              <a:rPr lang="en-US" sz="1200" dirty="0">
                <a:solidFill>
                  <a:schemeClr val="bg2"/>
                </a:solidFill>
              </a:rPr>
              <a:t>a statement starts wrongly: misspelled or capitalised keyword, a name on its own, an extra ';', '=' with no name</a:t>
            </a:r>
            <a:endParaRPr lang="en-US" sz="1300" dirty="0"/>
          </a:p>
        </p:txBody>
      </p:sp>
      <p:sp>
        <p:nvSpPr>
          <p:cNvPr id="25" name="Slide Number Placeholder 0"/>
          <p:cNvSpPr>
            <a:spLocks noGrp="1"/>
          </p:cNvSpPr>
          <p:nvPr>
            <p:ph type="sldNum" sz="quarter" idx="4294967295"/>
          </p:nvPr>
        </p:nvSpPr>
        <p:spPr>
          <a:xfrm>
            <a:off x="8321040" y="473659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600" b="1" dirty="0">
                <a:solidFill>
                  <a:schemeClr val="bg1"/>
                </a:solidFill>
              </a:rPr>
              <a:t>Typo hints use edit distance</a:t>
            </a:r>
            <a:endParaRPr lang="en-US" sz="2600" dirty="0"/>
          </a:p>
        </p:txBody>
      </p:sp>
      <p:sp>
        <p:nvSpPr>
          <p:cNvPr id="4" name="phase-414"/>
          <p:cNvSpPr/>
          <p:nvPr/>
        </p:nvSpPr>
        <p:spPr>
          <a:xfrm>
            <a:off x="457200" y="4718304"/>
            <a:ext cx="868680" cy="256032"/>
          </a:xfrm>
          <a:prstGeom prst="roundRect">
            <a:avLst>
              <a:gd name="adj" fmla="val 17857"/>
            </a:avLst>
          </a:prstGeom>
          <a:solidFill>
            <a:schemeClr val="tx2"/>
          </a:solidFill>
          <a:ln w="9525">
            <a:solidFill>
              <a:schemeClr val="accent5"/>
            </a:solidFill>
            <a:prstDash val="solid"/>
          </a:ln>
        </p:spPr>
      </p:sp>
      <p:sp>
        <p:nvSpPr>
          <p:cNvPr id="5" name="text-415"/>
          <p:cNvSpPr txBox="1"/>
          <p:nvPr/>
        </p:nvSpPr>
        <p:spPr>
          <a:xfrm>
            <a:off x="457200" y="4718304"/>
            <a:ext cx="868680" cy="256032"/>
          </a:xfrm>
          <a:prstGeom prst="rect">
            <a:avLst/>
          </a:prstGeom>
          <a:noFill/>
          <a:ln/>
        </p:spPr>
        <p:txBody>
          <a:bodyPr wrap="square" lIns="0" tIns="0" rIns="0" bIns="0" rtlCol="0" anchor="ctr"/>
          <a:lstStyle/>
          <a:p>
            <a:pPr algn="ctr" indent="0" marL="0">
              <a:buNone/>
            </a:pPr>
            <a:r>
              <a:rPr lang="en-US" sz="1000" dirty="0">
                <a:solidFill>
                  <a:schemeClr val="bg2"/>
                </a:solidFill>
              </a:rPr>
              <a:t>1 Lexical</a:t>
            </a:r>
            <a:endParaRPr lang="en-US" sz="1000" dirty="0"/>
          </a:p>
        </p:txBody>
      </p:sp>
      <p:sp>
        <p:nvSpPr>
          <p:cNvPr id="6" name="phase-416"/>
          <p:cNvSpPr/>
          <p:nvPr/>
        </p:nvSpPr>
        <p:spPr>
          <a:xfrm>
            <a:off x="1389888" y="4718304"/>
            <a:ext cx="868680" cy="256032"/>
          </a:xfrm>
          <a:prstGeom prst="roundRect">
            <a:avLst>
              <a:gd name="adj" fmla="val 17857"/>
            </a:avLst>
          </a:prstGeom>
          <a:solidFill>
            <a:schemeClr val="tx2"/>
          </a:solidFill>
          <a:ln w="9525">
            <a:solidFill>
              <a:schemeClr val="accent5"/>
            </a:solidFill>
            <a:prstDash val="solid"/>
          </a:ln>
        </p:spPr>
      </p:sp>
      <p:sp>
        <p:nvSpPr>
          <p:cNvPr id="7" name="text-417"/>
          <p:cNvSpPr txBox="1"/>
          <p:nvPr/>
        </p:nvSpPr>
        <p:spPr>
          <a:xfrm>
            <a:off x="1389888" y="4718304"/>
            <a:ext cx="868680" cy="256032"/>
          </a:xfrm>
          <a:prstGeom prst="rect">
            <a:avLst/>
          </a:prstGeom>
          <a:noFill/>
          <a:ln/>
        </p:spPr>
        <p:txBody>
          <a:bodyPr wrap="square" lIns="0" tIns="0" rIns="0" bIns="0" rtlCol="0" anchor="ctr"/>
          <a:lstStyle/>
          <a:p>
            <a:pPr algn="ctr" indent="0" marL="0">
              <a:buNone/>
            </a:pPr>
            <a:r>
              <a:rPr lang="en-US" sz="1000" dirty="0">
                <a:solidFill>
                  <a:schemeClr val="bg2"/>
                </a:solidFill>
              </a:rPr>
              <a:t>2 Syntax</a:t>
            </a:r>
            <a:endParaRPr lang="en-US" sz="1000" dirty="0"/>
          </a:p>
        </p:txBody>
      </p:sp>
      <p:sp>
        <p:nvSpPr>
          <p:cNvPr id="8" name="phase-418"/>
          <p:cNvSpPr/>
          <p:nvPr/>
        </p:nvSpPr>
        <p:spPr>
          <a:xfrm>
            <a:off x="2322576" y="4718304"/>
            <a:ext cx="868680" cy="256032"/>
          </a:xfrm>
          <a:prstGeom prst="roundRect">
            <a:avLst>
              <a:gd name="adj" fmla="val 17857"/>
            </a:avLst>
          </a:prstGeom>
          <a:solidFill>
            <a:schemeClr val="tx2"/>
          </a:solidFill>
          <a:ln w="9525">
            <a:solidFill>
              <a:schemeClr val="accent5"/>
            </a:solidFill>
            <a:prstDash val="solid"/>
          </a:ln>
        </p:spPr>
      </p:sp>
      <p:sp>
        <p:nvSpPr>
          <p:cNvPr id="9" name="text-419"/>
          <p:cNvSpPr txBox="1"/>
          <p:nvPr/>
        </p:nvSpPr>
        <p:spPr>
          <a:xfrm>
            <a:off x="2322576" y="4718304"/>
            <a:ext cx="868680" cy="256032"/>
          </a:xfrm>
          <a:prstGeom prst="rect">
            <a:avLst/>
          </a:prstGeom>
          <a:noFill/>
          <a:ln/>
        </p:spPr>
        <p:txBody>
          <a:bodyPr wrap="square" lIns="0" tIns="0" rIns="0" bIns="0" rtlCol="0" anchor="ctr"/>
          <a:lstStyle/>
          <a:p>
            <a:pPr algn="ctr" indent="0" marL="0">
              <a:buNone/>
            </a:pPr>
            <a:r>
              <a:rPr lang="en-US" sz="1000" dirty="0">
                <a:solidFill>
                  <a:schemeClr val="bg2"/>
                </a:solidFill>
              </a:rPr>
              <a:t>3 Semantic</a:t>
            </a:r>
            <a:endParaRPr lang="en-US" sz="1000" dirty="0"/>
          </a:p>
        </p:txBody>
      </p:sp>
      <p:sp>
        <p:nvSpPr>
          <p:cNvPr id="10" name="phase-420"/>
          <p:cNvSpPr/>
          <p:nvPr/>
        </p:nvSpPr>
        <p:spPr>
          <a:xfrm>
            <a:off x="3255264" y="4718304"/>
            <a:ext cx="868680" cy="256032"/>
          </a:xfrm>
          <a:prstGeom prst="roundRect">
            <a:avLst>
              <a:gd name="adj" fmla="val 17857"/>
            </a:avLst>
          </a:prstGeom>
          <a:solidFill>
            <a:schemeClr val="tx2"/>
          </a:solidFill>
          <a:ln w="9525">
            <a:solidFill>
              <a:schemeClr val="accent5"/>
            </a:solidFill>
            <a:prstDash val="solid"/>
          </a:ln>
        </p:spPr>
      </p:sp>
      <p:sp>
        <p:nvSpPr>
          <p:cNvPr id="11" name="text-421"/>
          <p:cNvSpPr txBox="1"/>
          <p:nvPr/>
        </p:nvSpPr>
        <p:spPr>
          <a:xfrm>
            <a:off x="3255264" y="4718304"/>
            <a:ext cx="868680" cy="256032"/>
          </a:xfrm>
          <a:prstGeom prst="rect">
            <a:avLst/>
          </a:prstGeom>
          <a:noFill/>
          <a:ln/>
        </p:spPr>
        <p:txBody>
          <a:bodyPr wrap="square" lIns="0" tIns="0" rIns="0" bIns="0" rtlCol="0" anchor="ctr"/>
          <a:lstStyle/>
          <a:p>
            <a:pPr algn="ctr" indent="0" marL="0">
              <a:buNone/>
            </a:pPr>
            <a:r>
              <a:rPr lang="en-US" sz="1000" dirty="0">
                <a:solidFill>
                  <a:schemeClr val="bg2"/>
                </a:solidFill>
              </a:rPr>
              <a:t>4 TAC</a:t>
            </a:r>
            <a:endParaRPr lang="en-US" sz="1000" dirty="0"/>
          </a:p>
        </p:txBody>
      </p:sp>
      <p:sp>
        <p:nvSpPr>
          <p:cNvPr id="12" name="phase-422"/>
          <p:cNvSpPr/>
          <p:nvPr/>
        </p:nvSpPr>
        <p:spPr>
          <a:xfrm>
            <a:off x="4187952" y="4718304"/>
            <a:ext cx="868680" cy="256032"/>
          </a:xfrm>
          <a:prstGeom prst="roundRect">
            <a:avLst>
              <a:gd name="adj" fmla="val 17857"/>
            </a:avLst>
          </a:prstGeom>
          <a:solidFill>
            <a:schemeClr val="accent1"/>
          </a:solidFill>
          <a:ln w="9525">
            <a:solidFill>
              <a:schemeClr val="accent1"/>
            </a:solidFill>
            <a:prstDash val="solid"/>
          </a:ln>
        </p:spPr>
      </p:sp>
      <p:sp>
        <p:nvSpPr>
          <p:cNvPr id="13" name="text-423"/>
          <p:cNvSpPr txBox="1"/>
          <p:nvPr/>
        </p:nvSpPr>
        <p:spPr>
          <a:xfrm>
            <a:off x="4187952" y="4718304"/>
            <a:ext cx="868680" cy="256032"/>
          </a:xfrm>
          <a:prstGeom prst="rect">
            <a:avLst/>
          </a:prstGeom>
          <a:noFill/>
          <a:ln/>
        </p:spPr>
        <p:txBody>
          <a:bodyPr wrap="square" lIns="0" tIns="0" rIns="0" bIns="0" rtlCol="0" anchor="ctr"/>
          <a:lstStyle/>
          <a:p>
            <a:pPr algn="ctr" indent="0" marL="0">
              <a:buNone/>
            </a:pPr>
            <a:r>
              <a:rPr lang="en-US" sz="1000" b="1" dirty="0">
                <a:solidFill>
                  <a:schemeClr val="tx1"/>
                </a:solidFill>
              </a:rPr>
              <a:t>5 Errors</a:t>
            </a:r>
            <a:endParaRPr lang="en-US" sz="1000" dirty="0"/>
          </a:p>
        </p:txBody>
      </p:sp>
      <p:graphicFrame>
        <p:nvGraphicFramePr>
          <p:cNvPr id="14" name="chart-424" descr=""/>
          <p:cNvGraphicFramePr/>
          <p:nvPr/>
        </p:nvGraphicFramePr>
        <p:xfrm>
          <a:off x="457200" y="1051560"/>
          <a:ext cx="4754880" cy="3474720"/>
        </p:xfrm>
        <a:graphic xmlns:a="http://schemas.openxmlformats.org/drawingml/2006/main">
          <a:graphicData uri="http://schemas.openxmlformats.org/drawingml/2006/chart">
            <c:chart xmlns:c="http://schemas.openxmlformats.org/drawingml/2006/chart" r:id="rId1"/>
          </a:graphicData>
        </a:graphic>
      </p:graphicFrame>
      <p:sp>
        <p:nvSpPr>
          <p:cNvPr id="15" name="text-425"/>
          <p:cNvSpPr txBox="1"/>
          <p:nvPr/>
        </p:nvSpPr>
        <p:spPr>
          <a:xfrm>
            <a:off x="5486400" y="1051560"/>
            <a:ext cx="2743200" cy="228600"/>
          </a:xfrm>
          <a:prstGeom prst="rect">
            <a:avLst/>
          </a:prstGeom>
          <a:noFill/>
          <a:ln/>
        </p:spPr>
        <p:txBody>
          <a:bodyPr wrap="square" lIns="0" tIns="0" rIns="0" bIns="0" rtlCol="0" anchor="t"/>
          <a:lstStyle/>
          <a:p>
            <a:pPr indent="0" marL="0">
              <a:buNone/>
            </a:pPr>
            <a:r>
              <a:rPr lang="en-US" sz="1000" b="1" spc="150" kern="0" dirty="0">
                <a:solidFill>
                  <a:schemeClr val="bg2"/>
                </a:solidFill>
              </a:rPr>
              <a:t>EXAMPLES</a:t>
            </a:r>
            <a:endParaRPr lang="en-US" sz="1000" dirty="0"/>
          </a:p>
        </p:txBody>
      </p:sp>
      <p:sp>
        <p:nvSpPr>
          <p:cNvPr id="16" name="panel-426"/>
          <p:cNvSpPr/>
          <p:nvPr/>
        </p:nvSpPr>
        <p:spPr>
          <a:xfrm>
            <a:off x="5486400" y="1325880"/>
            <a:ext cx="3200400" cy="1051560"/>
          </a:xfrm>
          <a:prstGeom prst="roundRect">
            <a:avLst>
              <a:gd name="adj" fmla="val 6957"/>
            </a:avLst>
          </a:prstGeom>
          <a:solidFill>
            <a:schemeClr val="tx1"/>
          </a:solidFill>
          <a:ln w="9525">
            <a:solidFill>
              <a:schemeClr val="accent5"/>
            </a:solidFill>
            <a:prstDash val="solid"/>
          </a:ln>
        </p:spPr>
      </p:sp>
      <p:sp>
        <p:nvSpPr>
          <p:cNvPr id="17" name="text-427"/>
          <p:cNvSpPr txBox="1"/>
          <p:nvPr/>
        </p:nvSpPr>
        <p:spPr>
          <a:xfrm>
            <a:off x="5623560" y="1435608"/>
            <a:ext cx="2926080" cy="832104"/>
          </a:xfrm>
          <a:prstGeom prst="rect">
            <a:avLst/>
          </a:prstGeom>
          <a:noFill/>
          <a:ln/>
        </p:spPr>
        <p:txBody>
          <a:bodyPr wrap="square" lIns="0" tIns="0" rIns="0" bIns="0" rtlCol="0" anchor="t"/>
          <a:lstStyle/>
          <a:p>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scroe → score   2 edits</a:t>
            </a:r>
            <a:endParaRPr lang="en-US" sz="1200" dirty="0"/>
          </a:p>
          <a:p>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prnt  → print   1 edit</a:t>
            </a:r>
            <a:endParaRPr lang="en-US" sz="1200" dirty="0"/>
          </a:p>
          <a:p>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mx    → max     1 edit</a:t>
            </a:r>
            <a:endParaRPr lang="en-US" sz="1200" dirty="0"/>
          </a:p>
        </p:txBody>
      </p:sp>
      <p:sp>
        <p:nvSpPr>
          <p:cNvPr id="18" name="panel-428"/>
          <p:cNvSpPr/>
          <p:nvPr/>
        </p:nvSpPr>
        <p:spPr>
          <a:xfrm>
            <a:off x="5486400" y="2606040"/>
            <a:ext cx="3200400" cy="1920240"/>
          </a:xfrm>
          <a:prstGeom prst="roundRect">
            <a:avLst>
              <a:gd name="adj" fmla="val 3810"/>
            </a:avLst>
          </a:prstGeom>
          <a:solidFill>
            <a:schemeClr val="tx2"/>
          </a:solidFill>
          <a:ln w="9525">
            <a:solidFill>
              <a:schemeClr val="accent2"/>
            </a:solidFill>
            <a:prstDash val="solid"/>
          </a:ln>
        </p:spPr>
      </p:sp>
      <p:sp>
        <p:nvSpPr>
          <p:cNvPr id="19" name="text-429"/>
          <p:cNvSpPr txBox="1"/>
          <p:nvPr/>
        </p:nvSpPr>
        <p:spPr>
          <a:xfrm>
            <a:off x="5669280" y="2697480"/>
            <a:ext cx="2834640" cy="1737360"/>
          </a:xfrm>
          <a:prstGeom prst="rect">
            <a:avLst/>
          </a:prstGeom>
          <a:noFill/>
          <a:ln/>
        </p:spPr>
        <p:txBody>
          <a:bodyPr wrap="square" lIns="0" tIns="0" rIns="0" bIns="0" rtlCol="0" anchor="t"/>
          <a:lstStyle/>
          <a:p>
            <a:pPr indent="0" marL="0">
              <a:buNone/>
            </a:pPr>
            <a:r>
              <a:rPr lang="en-US" sz="1500" b="1" dirty="0">
                <a:solidFill>
                  <a:schemeClr val="accent2"/>
                </a:solidFill>
              </a:rPr>
              <a:t>Shipped rule</a:t>
            </a:r>
            <a:endParaRPr lang="en-US" sz="1500" dirty="0"/>
          </a:p>
          <a:p>
            <a:pPr indent="0" marL="0">
              <a:buNone/>
            </a:pPr>
            <a:r>
              <a:rPr lang="en-US" sz="1300" dirty="0">
                <a:solidFill>
                  <a:schemeClr val="bg1"/>
                </a:solidFill>
              </a:rPr>
              <a:t>1 edit for names of up to 3 letters, 2 for longer names. Never suggest the word itself. Fewest wrong hints (6) with 12 right.</a:t>
            </a:r>
            <a:endParaRPr lang="en-US" sz="1500" dirty="0"/>
          </a:p>
        </p:txBody>
      </p:sp>
      <p:sp>
        <p:nvSpPr>
          <p:cNvPr id="25" name="Slide Number Placeholder 0"/>
          <p:cNvSpPr>
            <a:spLocks noGrp="1"/>
          </p:cNvSpPr>
          <p:nvPr>
            <p:ph type="sldNum" sz="quarter" idx="4294967295"/>
          </p:nvPr>
        </p:nvSpPr>
        <p:spPr>
          <a:xfrm>
            <a:off x="8321040" y="473659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430"/>
          <p:cNvSpPr txBox="1"/>
          <p:nvPr/>
        </p:nvSpPr>
        <p:spPr>
          <a:xfrm>
            <a:off x="457200" y="1325880"/>
            <a:ext cx="1828800" cy="640080"/>
          </a:xfrm>
          <a:prstGeom prst="rect">
            <a:avLst/>
          </a:prstGeom>
          <a:noFill/>
          <a:ln/>
        </p:spPr>
        <p:txBody>
          <a:bodyPr wrap="square" lIns="0" tIns="0" rIns="0" bIns="0" rtlCol="0" anchor="t"/>
          <a:lstStyle/>
          <a:p>
            <a:pPr indent="0" marL="0">
              <a:buNone/>
            </a:pPr>
            <a:r>
              <a:rPr lang="en-US" sz="4000" b="1" dirty="0">
                <a:solidFill>
                  <a:schemeClr val="accent1"/>
                </a:solidFill>
                <a:latin typeface="Courier New" pitchFamily="34" charset="0"/>
                <a:ea typeface="Courier New" pitchFamily="34" charset="-122"/>
                <a:cs typeface="Courier New" pitchFamily="34" charset="-120"/>
              </a:rPr>
              <a:t>05</a:t>
            </a:r>
            <a:endParaRPr lang="en-US" sz="4000" dirty="0"/>
          </a:p>
        </p:txBody>
      </p:sp>
      <p:sp>
        <p:nvSpPr>
          <p:cNvPr id="3" name="Text 0"/>
          <p:cNvSpPr/>
          <p:nvPr>
            <p:ph idx="100" type="title" hasCustomPrompt="1"/>
          </p:nvPr>
        </p:nvSpPr>
        <p:spPr>
          <a:xfrm>
            <a:off x="457200" y="2011680"/>
            <a:ext cx="8229600" cy="822960"/>
          </a:xfrm>
          <a:prstGeom prst="rect">
            <a:avLst/>
          </a:prstGeom>
          <a:noFill/>
          <a:ln/>
        </p:spPr>
        <p:txBody>
          <a:bodyPr wrap="square" lIns="0" tIns="0" rIns="0" bIns="0" rtlCol="0" anchor="ctr"/>
          <a:lstStyle/>
          <a:p>
            <a:pPr algn="l" indent="0" marL="0">
              <a:buNone/>
            </a:pPr>
            <a:r>
              <a:rPr lang="en-US" sz="4000" b="1" dirty="0">
                <a:solidFill>
                  <a:schemeClr val="bg1"/>
                </a:solidFill>
              </a:rPr>
              <a:t>Tools and evaluation</a:t>
            </a:r>
            <a:endParaRPr lang="en-US" sz="4000" dirty="0"/>
          </a:p>
        </p:txBody>
      </p:sp>
      <p:sp>
        <p:nvSpPr>
          <p:cNvPr id="4" name="Text 0"/>
          <p:cNvSpPr/>
          <p:nvPr>
            <p:ph idx="101" type="body" hasCustomPrompt="1"/>
          </p:nvPr>
        </p:nvSpPr>
        <p:spPr>
          <a:xfrm>
            <a:off x="457200" y="2880360"/>
            <a:ext cx="7315200" cy="731520"/>
          </a:xfrm>
          <a:prstGeom prst="rect">
            <a:avLst/>
          </a:prstGeom>
          <a:noFill/>
          <a:ln/>
        </p:spPr>
        <p:txBody>
          <a:bodyPr wrap="square" lIns="0" tIns="0" rIns="0" bIns="0" rtlCol="0" anchor="t"/>
          <a:lstStyle/>
          <a:p>
            <a:pPr indent="0" marL="0">
              <a:buNone/>
            </a:pPr>
            <a:r>
              <a:rPr lang="en-US" sz="1600" dirty="0">
                <a:solidFill>
                  <a:schemeClr val="bg2"/>
                </a:solidFill>
              </a:rPr>
              <a:t>A browser playground, an automated test suite, and a case study against gcc.</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600" b="1" dirty="0">
                <a:solidFill>
                  <a:schemeClr val="bg1"/>
                </a:solidFill>
              </a:rPr>
              <a:t>Seeing it work: the web playground</a:t>
            </a:r>
            <a:endParaRPr lang="en-US" sz="2600" dirty="0"/>
          </a:p>
        </p:txBody>
      </p:sp>
      <p:pic>
        <p:nvPicPr>
          <p:cNvPr id="4" name="img-431" descr="ErrorBuddy web playground showing a missing-semicolon error on line 2 with the suggestion and the phase strip">    </p:cNvPr>
          <p:cNvPicPr>
            <a:picLocks noChangeAspect="1"/>
          </p:cNvPicPr>
          <p:nvPr/>
        </p:nvPicPr>
        <p:blipFill>
          <a:blip r:embed="rId1"/>
          <a:stretch>
            <a:fillRect/>
          </a:stretch>
        </p:blipFill>
        <p:spPr>
          <a:xfrm>
            <a:off x="457200" y="1051560"/>
            <a:ext cx="5120640" cy="3054096"/>
          </a:xfrm>
          <a:prstGeom prst="rect">
            <a:avLst/>
          </a:prstGeom>
        </p:spPr>
      </p:pic>
      <p:sp>
        <p:nvSpPr>
          <p:cNvPr id="5" name="text-432"/>
          <p:cNvSpPr txBox="1"/>
          <p:nvPr/>
        </p:nvSpPr>
        <p:spPr>
          <a:xfrm>
            <a:off x="457200" y="4206240"/>
            <a:ext cx="5120640" cy="274320"/>
          </a:xfrm>
          <a:prstGeom prst="rect">
            <a:avLst/>
          </a:prstGeom>
          <a:noFill/>
          <a:ln/>
        </p:spPr>
        <p:txBody>
          <a:bodyPr wrap="square" lIns="0" tIns="0" rIns="0" bIns="0" rtlCol="0" anchor="t"/>
          <a:lstStyle/>
          <a:p>
            <a:pPr indent="0" marL="0">
              <a:buNone/>
            </a:pPr>
            <a:r>
              <a:rPr lang="en-US" sz="1200" dirty="0">
                <a:solidFill>
                  <a:schemeClr val="accent2"/>
                </a:solidFill>
                <a:latin typeface="Courier New" pitchFamily="34" charset="0"/>
                <a:ea typeface="Courier New" pitchFamily="34" charset="-122"/>
                <a:cs typeface="Courier New" pitchFamily="34" charset="-120"/>
              </a:rPr>
              <a:t>make web  →  http://localhost:8795</a:t>
            </a:r>
            <a:endParaRPr lang="en-US" sz="1200" dirty="0"/>
          </a:p>
        </p:txBody>
      </p:sp>
      <p:sp>
        <p:nvSpPr>
          <p:cNvPr id="6" name="panel-433"/>
          <p:cNvSpPr/>
          <p:nvPr/>
        </p:nvSpPr>
        <p:spPr>
          <a:xfrm>
            <a:off x="5852160" y="1051560"/>
            <a:ext cx="2834640" cy="749808"/>
          </a:xfrm>
          <a:prstGeom prst="roundRect">
            <a:avLst>
              <a:gd name="adj" fmla="val 9756"/>
            </a:avLst>
          </a:prstGeom>
          <a:solidFill>
            <a:schemeClr val="tx2"/>
          </a:solidFill>
          <a:ln w="9525">
            <a:solidFill>
              <a:schemeClr val="accent5"/>
            </a:solidFill>
            <a:prstDash val="solid"/>
          </a:ln>
        </p:spPr>
      </p:sp>
      <p:sp>
        <p:nvSpPr>
          <p:cNvPr id="7" name="text-434"/>
          <p:cNvSpPr txBox="1"/>
          <p:nvPr/>
        </p:nvSpPr>
        <p:spPr>
          <a:xfrm>
            <a:off x="5989320" y="1051560"/>
            <a:ext cx="2606040" cy="749808"/>
          </a:xfrm>
          <a:prstGeom prst="rect">
            <a:avLst/>
          </a:prstGeom>
          <a:noFill/>
          <a:ln/>
        </p:spPr>
        <p:txBody>
          <a:bodyPr wrap="square" lIns="0" tIns="0" rIns="0" bIns="0" rtlCol="0" anchor="ct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Editor</a:t>
            </a:r>
            <a:endParaRPr lang="en-US" sz="1400" dirty="0"/>
          </a:p>
          <a:p>
            <a:pPr indent="0" marL="0">
              <a:buNone/>
            </a:pPr>
            <a:r>
              <a:rPr lang="en-US" sz="1200" dirty="0">
                <a:solidFill>
                  <a:schemeClr val="bg2"/>
                </a:solidFill>
              </a:rPr>
              <a:t>recompiles ~350 ms after typing stops</a:t>
            </a:r>
            <a:endParaRPr lang="en-US" sz="1400" dirty="0"/>
          </a:p>
        </p:txBody>
      </p:sp>
      <p:sp>
        <p:nvSpPr>
          <p:cNvPr id="8" name="arrow-435"/>
          <p:cNvSpPr/>
          <p:nvPr/>
        </p:nvSpPr>
        <p:spPr>
          <a:xfrm>
            <a:off x="7269480" y="1801368"/>
            <a:ext cx="0" cy="118872"/>
          </a:xfrm>
          <a:prstGeom prst="line">
            <a:avLst/>
          </a:prstGeom>
          <a:noFill/>
          <a:ln w="15875">
            <a:solidFill>
              <a:schemeClr val="bg2"/>
            </a:solidFill>
            <a:prstDash val="solid"/>
            <a:tailEnd type="triangle"/>
          </a:ln>
        </p:spPr>
      </p:sp>
      <p:sp>
        <p:nvSpPr>
          <p:cNvPr id="9" name="panel-436"/>
          <p:cNvSpPr/>
          <p:nvPr/>
        </p:nvSpPr>
        <p:spPr>
          <a:xfrm>
            <a:off x="5852160" y="1920240"/>
            <a:ext cx="2834640" cy="749808"/>
          </a:xfrm>
          <a:prstGeom prst="roundRect">
            <a:avLst>
              <a:gd name="adj" fmla="val 9756"/>
            </a:avLst>
          </a:prstGeom>
          <a:solidFill>
            <a:schemeClr val="tx2"/>
          </a:solidFill>
          <a:ln w="9525">
            <a:solidFill>
              <a:schemeClr val="accent5"/>
            </a:solidFill>
            <a:prstDash val="solid"/>
          </a:ln>
        </p:spPr>
      </p:sp>
      <p:sp>
        <p:nvSpPr>
          <p:cNvPr id="10" name="text-437"/>
          <p:cNvSpPr txBox="1"/>
          <p:nvPr/>
        </p:nvSpPr>
        <p:spPr>
          <a:xfrm>
            <a:off x="5989320" y="1920240"/>
            <a:ext cx="2606040" cy="749808"/>
          </a:xfrm>
          <a:prstGeom prst="rect">
            <a:avLst/>
          </a:prstGeom>
          <a:noFill/>
          <a:ln/>
        </p:spPr>
        <p:txBody>
          <a:bodyPr wrap="square" lIns="0" tIns="0" rIns="0" bIns="0" rtlCol="0" anchor="ct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POST /api/compile</a:t>
            </a:r>
            <a:endParaRPr lang="en-US" sz="1400" dirty="0"/>
          </a:p>
          <a:p>
            <a:pPr indent="0" marL="0">
              <a:buNone/>
            </a:pPr>
            <a:r>
              <a:rPr lang="en-US" sz="1200" dirty="0">
                <a:solidFill>
                  <a:schemeClr val="bg2"/>
                </a:solidFill>
              </a:rPr>
              <a:t>temp file → ./errorbuddy --tokens, 5 s timeout</a:t>
            </a:r>
            <a:endParaRPr lang="en-US" sz="1400" dirty="0"/>
          </a:p>
        </p:txBody>
      </p:sp>
      <p:sp>
        <p:nvSpPr>
          <p:cNvPr id="11" name="arrow-438"/>
          <p:cNvSpPr/>
          <p:nvPr/>
        </p:nvSpPr>
        <p:spPr>
          <a:xfrm>
            <a:off x="7269480" y="2670048"/>
            <a:ext cx="0" cy="118872"/>
          </a:xfrm>
          <a:prstGeom prst="line">
            <a:avLst/>
          </a:prstGeom>
          <a:noFill/>
          <a:ln w="15875">
            <a:solidFill>
              <a:schemeClr val="bg2"/>
            </a:solidFill>
            <a:prstDash val="solid"/>
            <a:tailEnd type="triangle"/>
          </a:ln>
        </p:spPr>
      </p:sp>
      <p:sp>
        <p:nvSpPr>
          <p:cNvPr id="12" name="panel-439"/>
          <p:cNvSpPr/>
          <p:nvPr/>
        </p:nvSpPr>
        <p:spPr>
          <a:xfrm>
            <a:off x="5852160" y="2788920"/>
            <a:ext cx="2834640" cy="749808"/>
          </a:xfrm>
          <a:prstGeom prst="roundRect">
            <a:avLst>
              <a:gd name="adj" fmla="val 9756"/>
            </a:avLst>
          </a:prstGeom>
          <a:solidFill>
            <a:schemeClr val="tx2"/>
          </a:solidFill>
          <a:ln w="9525">
            <a:solidFill>
              <a:schemeClr val="accent5"/>
            </a:solidFill>
            <a:prstDash val="solid"/>
          </a:ln>
        </p:spPr>
      </p:sp>
      <p:sp>
        <p:nvSpPr>
          <p:cNvPr id="13" name="text-440"/>
          <p:cNvSpPr txBox="1"/>
          <p:nvPr/>
        </p:nvSpPr>
        <p:spPr>
          <a:xfrm>
            <a:off x="5989320" y="2788920"/>
            <a:ext cx="2606040" cy="749808"/>
          </a:xfrm>
          <a:prstGeom prst="rect">
            <a:avLst/>
          </a:prstGeom>
          <a:noFill/>
          <a:ln/>
        </p:spPr>
        <p:txBody>
          <a:bodyPr wrap="square" lIns="0" tIns="0" rIns="0" bIns="0" rtlCol="0" anchor="ct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server.py</a:t>
            </a:r>
            <a:endParaRPr lang="en-US" sz="1400" dirty="0"/>
          </a:p>
          <a:p>
            <a:pPr indent="0" marL="0">
              <a:buNone/>
            </a:pPr>
            <a:r>
              <a:rPr lang="en-US" sz="1200" dirty="0">
                <a:solidFill>
                  <a:schemeClr val="bg2"/>
                </a:solidFill>
              </a:rPr>
              <a:t>regex turns stdout into JSON: tokens, error, TAC, symbols</a:t>
            </a:r>
            <a:endParaRPr lang="en-US" sz="1400" dirty="0"/>
          </a:p>
        </p:txBody>
      </p:sp>
      <p:sp>
        <p:nvSpPr>
          <p:cNvPr id="14" name="arrow-441"/>
          <p:cNvSpPr/>
          <p:nvPr/>
        </p:nvSpPr>
        <p:spPr>
          <a:xfrm>
            <a:off x="7269480" y="3538728"/>
            <a:ext cx="0" cy="118872"/>
          </a:xfrm>
          <a:prstGeom prst="line">
            <a:avLst/>
          </a:prstGeom>
          <a:noFill/>
          <a:ln w="15875">
            <a:solidFill>
              <a:schemeClr val="bg2"/>
            </a:solidFill>
            <a:prstDash val="solid"/>
            <a:tailEnd type="triangle"/>
          </a:ln>
        </p:spPr>
      </p:sp>
      <p:sp>
        <p:nvSpPr>
          <p:cNvPr id="15" name="panel-442"/>
          <p:cNvSpPr/>
          <p:nvPr/>
        </p:nvSpPr>
        <p:spPr>
          <a:xfrm>
            <a:off x="5852160" y="3657600"/>
            <a:ext cx="2834640" cy="749808"/>
          </a:xfrm>
          <a:prstGeom prst="roundRect">
            <a:avLst>
              <a:gd name="adj" fmla="val 9756"/>
            </a:avLst>
          </a:prstGeom>
          <a:solidFill>
            <a:schemeClr val="tx2"/>
          </a:solidFill>
          <a:ln w="9525">
            <a:solidFill>
              <a:schemeClr val="accent5"/>
            </a:solidFill>
            <a:prstDash val="solid"/>
          </a:ln>
        </p:spPr>
      </p:sp>
      <p:sp>
        <p:nvSpPr>
          <p:cNvPr id="16" name="text-443"/>
          <p:cNvSpPr txBox="1"/>
          <p:nvPr/>
        </p:nvSpPr>
        <p:spPr>
          <a:xfrm>
            <a:off x="5989320" y="3657600"/>
            <a:ext cx="2606040" cy="749808"/>
          </a:xfrm>
          <a:prstGeom prst="rect">
            <a:avLst/>
          </a:prstGeom>
          <a:noFill/>
          <a:ln/>
        </p:spPr>
        <p:txBody>
          <a:bodyPr wrap="square" lIns="0" tIns="0" rIns="0" bIns="0" rtlCol="0" anchor="ct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Page</a:t>
            </a:r>
            <a:endParaRPr lang="en-US" sz="1400" dirty="0"/>
          </a:p>
          <a:p>
            <a:pPr indent="0" marL="0">
              <a:buNone/>
            </a:pPr>
            <a:r>
              <a:rPr lang="en-US" sz="1200" dirty="0">
                <a:solidFill>
                  <a:schemeClr val="bg2"/>
                </a:solidFill>
              </a:rPr>
              <a:t>highlights the error line, lights the phase strip</a:t>
            </a:r>
            <a:endParaRPr lang="en-US" sz="1400" dirty="0"/>
          </a:p>
        </p:txBody>
      </p:sp>
      <p:sp>
        <p:nvSpPr>
          <p:cNvPr id="25" name="Slide Number Placeholder 0"/>
          <p:cNvSpPr>
            <a:spLocks noGrp="1"/>
          </p:cNvSpPr>
          <p:nvPr>
            <p:ph type="sldNum" sz="quarter" idx="4294967295"/>
          </p:nvPr>
        </p:nvSpPr>
        <p:spPr>
          <a:xfrm>
            <a:off x="8321040" y="473659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600" b="1" dirty="0">
                <a:solidFill>
                  <a:schemeClr val="bg1"/>
                </a:solidFill>
              </a:rPr>
              <a:t>Testing: make test</a:t>
            </a:r>
            <a:endParaRPr lang="en-US" sz="2600" dirty="0"/>
          </a:p>
        </p:txBody>
      </p:sp>
      <p:sp>
        <p:nvSpPr>
          <p:cNvPr id="4" name="panel-444"/>
          <p:cNvSpPr/>
          <p:nvPr/>
        </p:nvSpPr>
        <p:spPr>
          <a:xfrm>
            <a:off x="457200" y="1051560"/>
            <a:ext cx="2926080" cy="603504"/>
          </a:xfrm>
          <a:prstGeom prst="roundRect">
            <a:avLst>
              <a:gd name="adj" fmla="val 12121"/>
            </a:avLst>
          </a:prstGeom>
          <a:solidFill>
            <a:schemeClr val="tx2"/>
          </a:solidFill>
          <a:ln w="9525">
            <a:solidFill>
              <a:schemeClr val="accent5"/>
            </a:solidFill>
            <a:prstDash val="solid"/>
          </a:ln>
        </p:spPr>
      </p:sp>
      <p:sp>
        <p:nvSpPr>
          <p:cNvPr id="5" name="text-445"/>
          <p:cNvSpPr txBox="1"/>
          <p:nvPr/>
        </p:nvSpPr>
        <p:spPr>
          <a:xfrm>
            <a:off x="566928" y="1051560"/>
            <a:ext cx="457200" cy="603504"/>
          </a:xfrm>
          <a:prstGeom prst="rect">
            <a:avLst/>
          </a:prstGeom>
          <a:noFill/>
          <a:ln/>
        </p:spPr>
        <p:txBody>
          <a:bodyPr wrap="square" lIns="0" tIns="0" rIns="0" bIns="0" rtlCol="0" anchor="ctr"/>
          <a:lstStyle/>
          <a:p>
            <a:pPr indent="0" marL="0">
              <a:buNone/>
            </a:pPr>
            <a:r>
              <a:rPr lang="en-US" sz="1100" b="1" dirty="0">
                <a:solidFill>
                  <a:schemeClr val="accent2"/>
                </a:solidFill>
                <a:latin typeface="Courier New" pitchFamily="34" charset="0"/>
                <a:ea typeface="Courier New" pitchFamily="34" charset="-122"/>
                <a:cs typeface="Courier New" pitchFamily="34" charset="-120"/>
              </a:rPr>
              <a:t>PASS</a:t>
            </a:r>
            <a:endParaRPr lang="en-US" sz="1100" dirty="0"/>
          </a:p>
        </p:txBody>
      </p:sp>
      <p:sp>
        <p:nvSpPr>
          <p:cNvPr id="6" name="text-446"/>
          <p:cNvSpPr txBox="1"/>
          <p:nvPr/>
        </p:nvSpPr>
        <p:spPr>
          <a:xfrm>
            <a:off x="1078992" y="1051560"/>
            <a:ext cx="2240280" cy="603504"/>
          </a:xfrm>
          <a:prstGeom prst="rect">
            <a:avLst/>
          </a:prstGeom>
          <a:noFill/>
          <a:ln/>
        </p:spPr>
        <p:txBody>
          <a:bodyPr wrap="square" lIns="0" tIns="0" rIns="0" bIns="0" rtlCol="0" anchor="ctr"/>
          <a:lstStyle/>
          <a:p>
            <a:pPr indent="0" marL="0">
              <a:buNone/>
            </a:pPr>
            <a:r>
              <a:rPr lang="en-US" sz="1100" dirty="0">
                <a:solidFill>
                  <a:schemeClr val="bg1"/>
                </a:solidFill>
                <a:latin typeface="Courier New" pitchFamily="34" charset="0"/>
                <a:ea typeface="Courier New" pitchFamily="34" charset="-122"/>
                <a:cs typeface="Courier New" pitchFamily="34" charset="-120"/>
              </a:rPr>
              <a:t>valid</a:t>
            </a:r>
            <a:endParaRPr lang="en-US" sz="1400" dirty="0"/>
          </a:p>
          <a:p>
            <a:pPr indent="0" marL="0">
              <a:buNone/>
            </a:pPr>
            <a:r>
              <a:rPr lang="en-US" sz="1100" dirty="0">
                <a:solidFill>
                  <a:schemeClr val="bg2"/>
                </a:solidFill>
              </a:rPr>
              <a:t>full program, 12 TAC instructions</a:t>
            </a:r>
            <a:endParaRPr lang="en-US" sz="1400" dirty="0"/>
          </a:p>
        </p:txBody>
      </p:sp>
      <p:sp>
        <p:nvSpPr>
          <p:cNvPr id="7" name="panel-447"/>
          <p:cNvSpPr/>
          <p:nvPr/>
        </p:nvSpPr>
        <p:spPr>
          <a:xfrm>
            <a:off x="3520440" y="1051560"/>
            <a:ext cx="2926080" cy="603504"/>
          </a:xfrm>
          <a:prstGeom prst="roundRect">
            <a:avLst>
              <a:gd name="adj" fmla="val 12121"/>
            </a:avLst>
          </a:prstGeom>
          <a:solidFill>
            <a:schemeClr val="tx2"/>
          </a:solidFill>
          <a:ln w="9525">
            <a:solidFill>
              <a:schemeClr val="accent5"/>
            </a:solidFill>
            <a:prstDash val="solid"/>
          </a:ln>
        </p:spPr>
      </p:sp>
      <p:sp>
        <p:nvSpPr>
          <p:cNvPr id="8" name="text-448"/>
          <p:cNvSpPr txBox="1"/>
          <p:nvPr/>
        </p:nvSpPr>
        <p:spPr>
          <a:xfrm>
            <a:off x="3630168" y="1051560"/>
            <a:ext cx="457200" cy="603504"/>
          </a:xfrm>
          <a:prstGeom prst="rect">
            <a:avLst/>
          </a:prstGeom>
          <a:noFill/>
          <a:ln/>
        </p:spPr>
        <p:txBody>
          <a:bodyPr wrap="square" lIns="0" tIns="0" rIns="0" bIns="0" rtlCol="0" anchor="ctr"/>
          <a:lstStyle/>
          <a:p>
            <a:pPr indent="0" marL="0">
              <a:buNone/>
            </a:pPr>
            <a:r>
              <a:rPr lang="en-US" sz="1100" b="1" dirty="0">
                <a:solidFill>
                  <a:schemeClr val="accent2"/>
                </a:solidFill>
                <a:latin typeface="Courier New" pitchFamily="34" charset="0"/>
                <a:ea typeface="Courier New" pitchFamily="34" charset="-122"/>
                <a:cs typeface="Courier New" pitchFamily="34" charset="-120"/>
              </a:rPr>
              <a:t>PASS</a:t>
            </a:r>
            <a:endParaRPr lang="en-US" sz="1100" dirty="0"/>
          </a:p>
        </p:txBody>
      </p:sp>
      <p:sp>
        <p:nvSpPr>
          <p:cNvPr id="9" name="text-449"/>
          <p:cNvSpPr txBox="1"/>
          <p:nvPr/>
        </p:nvSpPr>
        <p:spPr>
          <a:xfrm>
            <a:off x="4142232" y="1051560"/>
            <a:ext cx="2240280" cy="603504"/>
          </a:xfrm>
          <a:prstGeom prst="rect">
            <a:avLst/>
          </a:prstGeom>
          <a:noFill/>
          <a:ln/>
        </p:spPr>
        <p:txBody>
          <a:bodyPr wrap="square" lIns="0" tIns="0" rIns="0" bIns="0" rtlCol="0" anchor="ctr"/>
          <a:lstStyle/>
          <a:p>
            <a:pPr indent="0" marL="0">
              <a:buNone/>
            </a:pPr>
            <a:r>
              <a:rPr lang="en-US" sz="1100" dirty="0">
                <a:solidFill>
                  <a:schemeClr val="bg1"/>
                </a:solidFill>
                <a:latin typeface="Courier New" pitchFamily="34" charset="0"/>
                <a:ea typeface="Courier New" pitchFamily="34" charset="-122"/>
                <a:cs typeface="Courier New" pitchFamily="34" charset="-120"/>
              </a:rPr>
              <a:t>precedence</a:t>
            </a:r>
            <a:endParaRPr lang="en-US" sz="1400" dirty="0"/>
          </a:p>
          <a:p>
            <a:pPr indent="0" marL="0">
              <a:buNone/>
            </a:pPr>
            <a:r>
              <a:rPr lang="en-US" sz="1100" dirty="0">
                <a:solidFill>
                  <a:schemeClr val="bg2"/>
                </a:solidFill>
              </a:rPr>
              <a:t>b * 2 computed before +</a:t>
            </a:r>
            <a:endParaRPr lang="en-US" sz="1400" dirty="0"/>
          </a:p>
        </p:txBody>
      </p:sp>
      <p:sp>
        <p:nvSpPr>
          <p:cNvPr id="10" name="panel-450"/>
          <p:cNvSpPr/>
          <p:nvPr/>
        </p:nvSpPr>
        <p:spPr>
          <a:xfrm>
            <a:off x="457200" y="1746504"/>
            <a:ext cx="2926080" cy="603504"/>
          </a:xfrm>
          <a:prstGeom prst="roundRect">
            <a:avLst>
              <a:gd name="adj" fmla="val 12121"/>
            </a:avLst>
          </a:prstGeom>
          <a:solidFill>
            <a:schemeClr val="tx2"/>
          </a:solidFill>
          <a:ln w="9525">
            <a:solidFill>
              <a:schemeClr val="accent5"/>
            </a:solidFill>
            <a:prstDash val="solid"/>
          </a:ln>
        </p:spPr>
      </p:sp>
      <p:sp>
        <p:nvSpPr>
          <p:cNvPr id="11" name="text-451"/>
          <p:cNvSpPr txBox="1"/>
          <p:nvPr/>
        </p:nvSpPr>
        <p:spPr>
          <a:xfrm>
            <a:off x="566928" y="1746504"/>
            <a:ext cx="457200" cy="603504"/>
          </a:xfrm>
          <a:prstGeom prst="rect">
            <a:avLst/>
          </a:prstGeom>
          <a:noFill/>
          <a:ln/>
        </p:spPr>
        <p:txBody>
          <a:bodyPr wrap="square" lIns="0" tIns="0" rIns="0" bIns="0" rtlCol="0" anchor="ctr"/>
          <a:lstStyle/>
          <a:p>
            <a:pPr indent="0" marL="0">
              <a:buNone/>
            </a:pPr>
            <a:r>
              <a:rPr lang="en-US" sz="1100" b="1" dirty="0">
                <a:solidFill>
                  <a:schemeClr val="accent2"/>
                </a:solidFill>
                <a:latin typeface="Courier New" pitchFamily="34" charset="0"/>
                <a:ea typeface="Courier New" pitchFamily="34" charset="-122"/>
                <a:cs typeface="Courier New" pitchFamily="34" charset="-120"/>
              </a:rPr>
              <a:t>PASS</a:t>
            </a:r>
            <a:endParaRPr lang="en-US" sz="1100" dirty="0"/>
          </a:p>
        </p:txBody>
      </p:sp>
      <p:sp>
        <p:nvSpPr>
          <p:cNvPr id="12" name="text-452"/>
          <p:cNvSpPr txBox="1"/>
          <p:nvPr/>
        </p:nvSpPr>
        <p:spPr>
          <a:xfrm>
            <a:off x="1078992" y="1746504"/>
            <a:ext cx="2240280" cy="603504"/>
          </a:xfrm>
          <a:prstGeom prst="rect">
            <a:avLst/>
          </a:prstGeom>
          <a:noFill/>
          <a:ln/>
        </p:spPr>
        <p:txBody>
          <a:bodyPr wrap="square" lIns="0" tIns="0" rIns="0" bIns="0" rtlCol="0" anchor="ctr"/>
          <a:lstStyle/>
          <a:p>
            <a:pPr indent="0" marL="0">
              <a:buNone/>
            </a:pPr>
            <a:r>
              <a:rPr lang="en-US" sz="1100" dirty="0">
                <a:solidFill>
                  <a:schemeClr val="bg1"/>
                </a:solidFill>
                <a:latin typeface="Courier New" pitchFamily="34" charset="0"/>
                <a:ea typeface="Courier New" pitchFamily="34" charset="-122"/>
                <a:cs typeface="Courier New" pitchFamily="34" charset="-120"/>
              </a:rPr>
              <a:t>missing_semicolon</a:t>
            </a:r>
            <a:endParaRPr lang="en-US" sz="1400" dirty="0"/>
          </a:p>
          <a:p>
            <a:pPr indent="0" marL="0">
              <a:buNone/>
            </a:pPr>
            <a:r>
              <a:rPr lang="en-US" sz="1100" dirty="0">
                <a:solidFill>
                  <a:schemeClr val="bg2"/>
                </a:solidFill>
              </a:rPr>
              <a:t>reported on line 2, not 3</a:t>
            </a:r>
            <a:endParaRPr lang="en-US" sz="1400" dirty="0"/>
          </a:p>
        </p:txBody>
      </p:sp>
      <p:sp>
        <p:nvSpPr>
          <p:cNvPr id="13" name="panel-453"/>
          <p:cNvSpPr/>
          <p:nvPr/>
        </p:nvSpPr>
        <p:spPr>
          <a:xfrm>
            <a:off x="3520440" y="1746504"/>
            <a:ext cx="2926080" cy="603504"/>
          </a:xfrm>
          <a:prstGeom prst="roundRect">
            <a:avLst>
              <a:gd name="adj" fmla="val 12121"/>
            </a:avLst>
          </a:prstGeom>
          <a:solidFill>
            <a:schemeClr val="tx2"/>
          </a:solidFill>
          <a:ln w="9525">
            <a:solidFill>
              <a:schemeClr val="accent5"/>
            </a:solidFill>
            <a:prstDash val="solid"/>
          </a:ln>
        </p:spPr>
      </p:sp>
      <p:sp>
        <p:nvSpPr>
          <p:cNvPr id="14" name="text-454"/>
          <p:cNvSpPr txBox="1"/>
          <p:nvPr/>
        </p:nvSpPr>
        <p:spPr>
          <a:xfrm>
            <a:off x="3630168" y="1746504"/>
            <a:ext cx="457200" cy="603504"/>
          </a:xfrm>
          <a:prstGeom prst="rect">
            <a:avLst/>
          </a:prstGeom>
          <a:noFill/>
          <a:ln/>
        </p:spPr>
        <p:txBody>
          <a:bodyPr wrap="square" lIns="0" tIns="0" rIns="0" bIns="0" rtlCol="0" anchor="ctr"/>
          <a:lstStyle/>
          <a:p>
            <a:pPr indent="0" marL="0">
              <a:buNone/>
            </a:pPr>
            <a:r>
              <a:rPr lang="en-US" sz="1100" b="1" dirty="0">
                <a:solidFill>
                  <a:schemeClr val="accent2"/>
                </a:solidFill>
                <a:latin typeface="Courier New" pitchFamily="34" charset="0"/>
                <a:ea typeface="Courier New" pitchFamily="34" charset="-122"/>
                <a:cs typeface="Courier New" pitchFamily="34" charset="-120"/>
              </a:rPr>
              <a:t>PASS</a:t>
            </a:r>
            <a:endParaRPr lang="en-US" sz="1100" dirty="0"/>
          </a:p>
        </p:txBody>
      </p:sp>
      <p:sp>
        <p:nvSpPr>
          <p:cNvPr id="15" name="text-455"/>
          <p:cNvSpPr txBox="1"/>
          <p:nvPr/>
        </p:nvSpPr>
        <p:spPr>
          <a:xfrm>
            <a:off x="4142232" y="1746504"/>
            <a:ext cx="2240280" cy="603504"/>
          </a:xfrm>
          <a:prstGeom prst="rect">
            <a:avLst/>
          </a:prstGeom>
          <a:noFill/>
          <a:ln/>
        </p:spPr>
        <p:txBody>
          <a:bodyPr wrap="square" lIns="0" tIns="0" rIns="0" bIns="0" rtlCol="0" anchor="ctr"/>
          <a:lstStyle/>
          <a:p>
            <a:pPr indent="0" marL="0">
              <a:buNone/>
            </a:pPr>
            <a:r>
              <a:rPr lang="en-US" sz="1100" dirty="0">
                <a:solidFill>
                  <a:schemeClr val="bg1"/>
                </a:solidFill>
                <a:latin typeface="Courier New" pitchFamily="34" charset="0"/>
                <a:ea typeface="Courier New" pitchFamily="34" charset="-122"/>
                <a:cs typeface="Courier New" pitchFamily="34" charset="-120"/>
              </a:rPr>
              <a:t>undeclared_variable</a:t>
            </a:r>
            <a:endParaRPr lang="en-US" sz="1400" dirty="0"/>
          </a:p>
          <a:p>
            <a:pPr indent="0" marL="0">
              <a:buNone/>
            </a:pPr>
            <a:r>
              <a:rPr lang="en-US" sz="1100" dirty="0">
                <a:solidFill>
                  <a:schemeClr val="bg2"/>
                </a:solidFill>
              </a:rPr>
              <a:t>'marks' has not been declared</a:t>
            </a:r>
            <a:endParaRPr lang="en-US" sz="1400" dirty="0"/>
          </a:p>
        </p:txBody>
      </p:sp>
      <p:sp>
        <p:nvSpPr>
          <p:cNvPr id="16" name="panel-456"/>
          <p:cNvSpPr/>
          <p:nvPr/>
        </p:nvSpPr>
        <p:spPr>
          <a:xfrm>
            <a:off x="457200" y="2441448"/>
            <a:ext cx="2926080" cy="603504"/>
          </a:xfrm>
          <a:prstGeom prst="roundRect">
            <a:avLst>
              <a:gd name="adj" fmla="val 12121"/>
            </a:avLst>
          </a:prstGeom>
          <a:solidFill>
            <a:schemeClr val="tx2"/>
          </a:solidFill>
          <a:ln w="9525">
            <a:solidFill>
              <a:schemeClr val="accent5"/>
            </a:solidFill>
            <a:prstDash val="solid"/>
          </a:ln>
        </p:spPr>
      </p:sp>
      <p:sp>
        <p:nvSpPr>
          <p:cNvPr id="17" name="text-457"/>
          <p:cNvSpPr txBox="1"/>
          <p:nvPr/>
        </p:nvSpPr>
        <p:spPr>
          <a:xfrm>
            <a:off x="566928" y="2441448"/>
            <a:ext cx="457200" cy="603504"/>
          </a:xfrm>
          <a:prstGeom prst="rect">
            <a:avLst/>
          </a:prstGeom>
          <a:noFill/>
          <a:ln/>
        </p:spPr>
        <p:txBody>
          <a:bodyPr wrap="square" lIns="0" tIns="0" rIns="0" bIns="0" rtlCol="0" anchor="ctr"/>
          <a:lstStyle/>
          <a:p>
            <a:pPr indent="0" marL="0">
              <a:buNone/>
            </a:pPr>
            <a:r>
              <a:rPr lang="en-US" sz="1100" b="1" dirty="0">
                <a:solidFill>
                  <a:schemeClr val="accent2"/>
                </a:solidFill>
                <a:latin typeface="Courier New" pitchFamily="34" charset="0"/>
                <a:ea typeface="Courier New" pitchFamily="34" charset="-122"/>
                <a:cs typeface="Courier New" pitchFamily="34" charset="-120"/>
              </a:rPr>
              <a:t>PASS</a:t>
            </a:r>
            <a:endParaRPr lang="en-US" sz="1100" dirty="0"/>
          </a:p>
        </p:txBody>
      </p:sp>
      <p:sp>
        <p:nvSpPr>
          <p:cNvPr id="18" name="text-458"/>
          <p:cNvSpPr txBox="1"/>
          <p:nvPr/>
        </p:nvSpPr>
        <p:spPr>
          <a:xfrm>
            <a:off x="1078992" y="2441448"/>
            <a:ext cx="2240280" cy="603504"/>
          </a:xfrm>
          <a:prstGeom prst="rect">
            <a:avLst/>
          </a:prstGeom>
          <a:noFill/>
          <a:ln/>
        </p:spPr>
        <p:txBody>
          <a:bodyPr wrap="square" lIns="0" tIns="0" rIns="0" bIns="0" rtlCol="0" anchor="ctr"/>
          <a:lstStyle/>
          <a:p>
            <a:pPr indent="0" marL="0">
              <a:buNone/>
            </a:pPr>
            <a:r>
              <a:rPr lang="en-US" sz="1100" dirty="0">
                <a:solidFill>
                  <a:schemeClr val="bg1"/>
                </a:solidFill>
                <a:latin typeface="Courier New" pitchFamily="34" charset="0"/>
                <a:ea typeface="Courier New" pitchFamily="34" charset="-122"/>
                <a:cs typeface="Courier New" pitchFamily="34" charset="-120"/>
              </a:rPr>
              <a:t>duplicate_declaration</a:t>
            </a:r>
            <a:endParaRPr lang="en-US" sz="1400" dirty="0"/>
          </a:p>
          <a:p>
            <a:pPr indent="0" marL="0">
              <a:buNone/>
            </a:pPr>
            <a:r>
              <a:rPr lang="en-US" sz="1100" dirty="0">
                <a:solidFill>
                  <a:schemeClr val="bg2"/>
                </a:solidFill>
              </a:rPr>
              <a:t>'age' already declared on line 1</a:t>
            </a:r>
            <a:endParaRPr lang="en-US" sz="1400" dirty="0"/>
          </a:p>
        </p:txBody>
      </p:sp>
      <p:sp>
        <p:nvSpPr>
          <p:cNvPr id="19" name="panel-459"/>
          <p:cNvSpPr/>
          <p:nvPr/>
        </p:nvSpPr>
        <p:spPr>
          <a:xfrm>
            <a:off x="3520440" y="2441448"/>
            <a:ext cx="2926080" cy="603504"/>
          </a:xfrm>
          <a:prstGeom prst="roundRect">
            <a:avLst>
              <a:gd name="adj" fmla="val 12121"/>
            </a:avLst>
          </a:prstGeom>
          <a:solidFill>
            <a:schemeClr val="tx2"/>
          </a:solidFill>
          <a:ln w="9525">
            <a:solidFill>
              <a:schemeClr val="accent5"/>
            </a:solidFill>
            <a:prstDash val="solid"/>
          </a:ln>
        </p:spPr>
      </p:sp>
      <p:sp>
        <p:nvSpPr>
          <p:cNvPr id="20" name="text-460"/>
          <p:cNvSpPr txBox="1"/>
          <p:nvPr/>
        </p:nvSpPr>
        <p:spPr>
          <a:xfrm>
            <a:off x="3630168" y="2441448"/>
            <a:ext cx="457200" cy="603504"/>
          </a:xfrm>
          <a:prstGeom prst="rect">
            <a:avLst/>
          </a:prstGeom>
          <a:noFill/>
          <a:ln/>
        </p:spPr>
        <p:txBody>
          <a:bodyPr wrap="square" lIns="0" tIns="0" rIns="0" bIns="0" rtlCol="0" anchor="ctr"/>
          <a:lstStyle/>
          <a:p>
            <a:pPr indent="0" marL="0">
              <a:buNone/>
            </a:pPr>
            <a:r>
              <a:rPr lang="en-US" sz="1100" b="1" dirty="0">
                <a:solidFill>
                  <a:schemeClr val="accent2"/>
                </a:solidFill>
                <a:latin typeface="Courier New" pitchFamily="34" charset="0"/>
                <a:ea typeface="Courier New" pitchFamily="34" charset="-122"/>
                <a:cs typeface="Courier New" pitchFamily="34" charset="-120"/>
              </a:rPr>
              <a:t>PASS</a:t>
            </a:r>
            <a:endParaRPr lang="en-US" sz="1100" dirty="0"/>
          </a:p>
        </p:txBody>
      </p:sp>
      <p:sp>
        <p:nvSpPr>
          <p:cNvPr id="21" name="text-461"/>
          <p:cNvSpPr txBox="1"/>
          <p:nvPr/>
        </p:nvSpPr>
        <p:spPr>
          <a:xfrm>
            <a:off x="4142232" y="2441448"/>
            <a:ext cx="2240280" cy="603504"/>
          </a:xfrm>
          <a:prstGeom prst="rect">
            <a:avLst/>
          </a:prstGeom>
          <a:noFill/>
          <a:ln/>
        </p:spPr>
        <p:txBody>
          <a:bodyPr wrap="square" lIns="0" tIns="0" rIns="0" bIns="0" rtlCol="0" anchor="ctr"/>
          <a:lstStyle/>
          <a:p>
            <a:pPr indent="0" marL="0">
              <a:buNone/>
            </a:pPr>
            <a:r>
              <a:rPr lang="en-US" sz="1100" dirty="0">
                <a:solidFill>
                  <a:schemeClr val="bg1"/>
                </a:solidFill>
                <a:latin typeface="Courier New" pitchFamily="34" charset="0"/>
                <a:ea typeface="Courier New" pitchFamily="34" charset="-122"/>
                <a:cs typeface="Courier New" pitchFamily="34" charset="-120"/>
              </a:rPr>
              <a:t>invalid_expression</a:t>
            </a:r>
            <a:endParaRPr lang="en-US" sz="1400" dirty="0"/>
          </a:p>
          <a:p>
            <a:pPr indent="0" marL="0">
              <a:buNone/>
            </a:pPr>
            <a:r>
              <a:rPr lang="en-US" sz="1100" dirty="0">
                <a:solidFill>
                  <a:schemeClr val="bg2"/>
                </a:solidFill>
              </a:rPr>
              <a:t>two operators in a row</a:t>
            </a:r>
            <a:endParaRPr lang="en-US" sz="1400" dirty="0"/>
          </a:p>
        </p:txBody>
      </p:sp>
      <p:sp>
        <p:nvSpPr>
          <p:cNvPr id="22" name="panel-462"/>
          <p:cNvSpPr/>
          <p:nvPr/>
        </p:nvSpPr>
        <p:spPr>
          <a:xfrm>
            <a:off x="457200" y="3136392"/>
            <a:ext cx="2926080" cy="603504"/>
          </a:xfrm>
          <a:prstGeom prst="roundRect">
            <a:avLst>
              <a:gd name="adj" fmla="val 12121"/>
            </a:avLst>
          </a:prstGeom>
          <a:solidFill>
            <a:schemeClr val="tx2"/>
          </a:solidFill>
          <a:ln w="9525">
            <a:solidFill>
              <a:schemeClr val="accent5"/>
            </a:solidFill>
            <a:prstDash val="solid"/>
          </a:ln>
        </p:spPr>
      </p:sp>
      <p:sp>
        <p:nvSpPr>
          <p:cNvPr id="23" name="text-463"/>
          <p:cNvSpPr txBox="1"/>
          <p:nvPr/>
        </p:nvSpPr>
        <p:spPr>
          <a:xfrm>
            <a:off x="566928" y="3136392"/>
            <a:ext cx="457200" cy="603504"/>
          </a:xfrm>
          <a:prstGeom prst="rect">
            <a:avLst/>
          </a:prstGeom>
          <a:noFill/>
          <a:ln/>
        </p:spPr>
        <p:txBody>
          <a:bodyPr wrap="square" lIns="0" tIns="0" rIns="0" bIns="0" rtlCol="0" anchor="ctr"/>
          <a:lstStyle/>
          <a:p>
            <a:pPr indent="0" marL="0">
              <a:buNone/>
            </a:pPr>
            <a:r>
              <a:rPr lang="en-US" sz="1100" b="1" dirty="0">
                <a:solidFill>
                  <a:schemeClr val="accent2"/>
                </a:solidFill>
                <a:latin typeface="Courier New" pitchFamily="34" charset="0"/>
                <a:ea typeface="Courier New" pitchFamily="34" charset="-122"/>
                <a:cs typeface="Courier New" pitchFamily="34" charset="-120"/>
              </a:rPr>
              <a:t>PASS</a:t>
            </a:r>
            <a:endParaRPr lang="en-US" sz="1100" dirty="0"/>
          </a:p>
        </p:txBody>
      </p:sp>
      <p:sp>
        <p:nvSpPr>
          <p:cNvPr id="24" name="text-464"/>
          <p:cNvSpPr txBox="1"/>
          <p:nvPr/>
        </p:nvSpPr>
        <p:spPr>
          <a:xfrm>
            <a:off x="1078992" y="3136392"/>
            <a:ext cx="2240280" cy="603504"/>
          </a:xfrm>
          <a:prstGeom prst="rect">
            <a:avLst/>
          </a:prstGeom>
          <a:noFill/>
          <a:ln/>
        </p:spPr>
        <p:txBody>
          <a:bodyPr wrap="square" lIns="0" tIns="0" rIns="0" bIns="0" rtlCol="0" anchor="ctr"/>
          <a:lstStyle/>
          <a:p>
            <a:pPr indent="0" marL="0">
              <a:buNone/>
            </a:pPr>
            <a:r>
              <a:rPr lang="en-US" sz="1100" dirty="0">
                <a:solidFill>
                  <a:schemeClr val="bg1"/>
                </a:solidFill>
                <a:latin typeface="Courier New" pitchFamily="34" charset="0"/>
                <a:ea typeface="Courier New" pitchFamily="34" charset="-122"/>
                <a:cs typeface="Courier New" pitchFamily="34" charset="-120"/>
              </a:rPr>
              <a:t>incorrect_parentheses</a:t>
            </a:r>
            <a:endParaRPr lang="en-US" sz="1400" dirty="0"/>
          </a:p>
          <a:p>
            <a:pPr indent="0" marL="0">
              <a:buNone/>
            </a:pPr>
            <a:r>
              <a:rPr lang="en-US" sz="1100" dirty="0">
                <a:solidFill>
                  <a:schemeClr val="bg2"/>
                </a:solidFill>
              </a:rPr>
              <a:t>missing ')' for '(' on line 2</a:t>
            </a:r>
            <a:endParaRPr lang="en-US" sz="1400" dirty="0"/>
          </a:p>
        </p:txBody>
      </p:sp>
      <p:sp>
        <p:nvSpPr>
          <p:cNvPr id="25" name="panel-465"/>
          <p:cNvSpPr/>
          <p:nvPr/>
        </p:nvSpPr>
        <p:spPr>
          <a:xfrm>
            <a:off x="3520440" y="3136392"/>
            <a:ext cx="2926080" cy="603504"/>
          </a:xfrm>
          <a:prstGeom prst="roundRect">
            <a:avLst>
              <a:gd name="adj" fmla="val 12121"/>
            </a:avLst>
          </a:prstGeom>
          <a:solidFill>
            <a:schemeClr val="tx2"/>
          </a:solidFill>
          <a:ln w="9525">
            <a:solidFill>
              <a:schemeClr val="accent5"/>
            </a:solidFill>
            <a:prstDash val="solid"/>
          </a:ln>
        </p:spPr>
      </p:sp>
      <p:sp>
        <p:nvSpPr>
          <p:cNvPr id="26" name="text-466"/>
          <p:cNvSpPr txBox="1"/>
          <p:nvPr/>
        </p:nvSpPr>
        <p:spPr>
          <a:xfrm>
            <a:off x="3630168" y="3136392"/>
            <a:ext cx="457200" cy="603504"/>
          </a:xfrm>
          <a:prstGeom prst="rect">
            <a:avLst/>
          </a:prstGeom>
          <a:noFill/>
          <a:ln/>
        </p:spPr>
        <p:txBody>
          <a:bodyPr wrap="square" lIns="0" tIns="0" rIns="0" bIns="0" rtlCol="0" anchor="ctr"/>
          <a:lstStyle/>
          <a:p>
            <a:pPr indent="0" marL="0">
              <a:buNone/>
            </a:pPr>
            <a:r>
              <a:rPr lang="en-US" sz="1100" b="1" dirty="0">
                <a:solidFill>
                  <a:schemeClr val="accent2"/>
                </a:solidFill>
                <a:latin typeface="Courier New" pitchFamily="34" charset="0"/>
                <a:ea typeface="Courier New" pitchFamily="34" charset="-122"/>
                <a:cs typeface="Courier New" pitchFamily="34" charset="-120"/>
              </a:rPr>
              <a:t>PASS</a:t>
            </a:r>
            <a:endParaRPr lang="en-US" sz="1100" dirty="0"/>
          </a:p>
        </p:txBody>
      </p:sp>
      <p:sp>
        <p:nvSpPr>
          <p:cNvPr id="27" name="text-467"/>
          <p:cNvSpPr txBox="1"/>
          <p:nvPr/>
        </p:nvSpPr>
        <p:spPr>
          <a:xfrm>
            <a:off x="4142232" y="3136392"/>
            <a:ext cx="2240280" cy="603504"/>
          </a:xfrm>
          <a:prstGeom prst="rect">
            <a:avLst/>
          </a:prstGeom>
          <a:noFill/>
          <a:ln/>
        </p:spPr>
        <p:txBody>
          <a:bodyPr wrap="square" lIns="0" tIns="0" rIns="0" bIns="0" rtlCol="0" anchor="ctr"/>
          <a:lstStyle/>
          <a:p>
            <a:pPr indent="0" marL="0">
              <a:buNone/>
            </a:pPr>
            <a:r>
              <a:rPr lang="en-US" sz="1100" dirty="0">
                <a:solidFill>
                  <a:schemeClr val="bg1"/>
                </a:solidFill>
                <a:latin typeface="Courier New" pitchFamily="34" charset="0"/>
                <a:ea typeface="Courier New" pitchFamily="34" charset="-122"/>
                <a:cs typeface="Courier New" pitchFamily="34" charset="-120"/>
              </a:rPr>
              <a:t>extra_parenthesis</a:t>
            </a:r>
            <a:endParaRPr lang="en-US" sz="1400" dirty="0"/>
          </a:p>
          <a:p>
            <a:pPr indent="0" marL="0">
              <a:buNone/>
            </a:pPr>
            <a:r>
              <a:rPr lang="en-US" sz="1100" dirty="0">
                <a:solidFill>
                  <a:schemeClr val="bg2"/>
                </a:solidFill>
              </a:rPr>
              <a:t>extra ')' with no '('</a:t>
            </a:r>
            <a:endParaRPr lang="en-US" sz="1400" dirty="0"/>
          </a:p>
        </p:txBody>
      </p:sp>
      <p:sp>
        <p:nvSpPr>
          <p:cNvPr id="28" name="panel-468"/>
          <p:cNvSpPr/>
          <p:nvPr/>
        </p:nvSpPr>
        <p:spPr>
          <a:xfrm>
            <a:off x="457200" y="3831336"/>
            <a:ext cx="2926080" cy="603504"/>
          </a:xfrm>
          <a:prstGeom prst="roundRect">
            <a:avLst>
              <a:gd name="adj" fmla="val 12121"/>
            </a:avLst>
          </a:prstGeom>
          <a:solidFill>
            <a:schemeClr val="tx2"/>
          </a:solidFill>
          <a:ln w="9525">
            <a:solidFill>
              <a:schemeClr val="accent5"/>
            </a:solidFill>
            <a:prstDash val="solid"/>
          </a:ln>
        </p:spPr>
      </p:sp>
      <p:sp>
        <p:nvSpPr>
          <p:cNvPr id="29" name="text-469"/>
          <p:cNvSpPr txBox="1"/>
          <p:nvPr/>
        </p:nvSpPr>
        <p:spPr>
          <a:xfrm>
            <a:off x="566928" y="3831336"/>
            <a:ext cx="457200" cy="603504"/>
          </a:xfrm>
          <a:prstGeom prst="rect">
            <a:avLst/>
          </a:prstGeom>
          <a:noFill/>
          <a:ln/>
        </p:spPr>
        <p:txBody>
          <a:bodyPr wrap="square" lIns="0" tIns="0" rIns="0" bIns="0" rtlCol="0" anchor="ctr"/>
          <a:lstStyle/>
          <a:p>
            <a:pPr indent="0" marL="0">
              <a:buNone/>
            </a:pPr>
            <a:r>
              <a:rPr lang="en-US" sz="1100" b="1" dirty="0">
                <a:solidFill>
                  <a:schemeClr val="accent2"/>
                </a:solidFill>
                <a:latin typeface="Courier New" pitchFamily="34" charset="0"/>
                <a:ea typeface="Courier New" pitchFamily="34" charset="-122"/>
                <a:cs typeface="Courier New" pitchFamily="34" charset="-120"/>
              </a:rPr>
              <a:t>PASS</a:t>
            </a:r>
            <a:endParaRPr lang="en-US" sz="1100" dirty="0"/>
          </a:p>
        </p:txBody>
      </p:sp>
      <p:sp>
        <p:nvSpPr>
          <p:cNvPr id="30" name="text-470"/>
          <p:cNvSpPr txBox="1"/>
          <p:nvPr/>
        </p:nvSpPr>
        <p:spPr>
          <a:xfrm>
            <a:off x="1078992" y="3831336"/>
            <a:ext cx="2240280" cy="603504"/>
          </a:xfrm>
          <a:prstGeom prst="rect">
            <a:avLst/>
          </a:prstGeom>
          <a:noFill/>
          <a:ln/>
        </p:spPr>
        <p:txBody>
          <a:bodyPr wrap="square" lIns="0" tIns="0" rIns="0" bIns="0" rtlCol="0" anchor="ctr"/>
          <a:lstStyle/>
          <a:p>
            <a:pPr indent="0" marL="0">
              <a:buNone/>
            </a:pPr>
            <a:r>
              <a:rPr lang="en-US" sz="1100" dirty="0">
                <a:solidFill>
                  <a:schemeClr val="bg1"/>
                </a:solidFill>
                <a:latin typeface="Courier New" pitchFamily="34" charset="0"/>
                <a:ea typeface="Courier New" pitchFamily="34" charset="-122"/>
                <a:cs typeface="Courier New" pitchFamily="34" charset="-120"/>
              </a:rPr>
              <a:t>division_by_zero</a:t>
            </a:r>
            <a:endParaRPr lang="en-US" sz="1400" dirty="0"/>
          </a:p>
          <a:p>
            <a:pPr indent="0" marL="0">
              <a:buNone/>
            </a:pPr>
            <a:r>
              <a:rPr lang="en-US" sz="1100" dirty="0">
                <a:solidFill>
                  <a:schemeClr val="bg2"/>
                </a:solidFill>
              </a:rPr>
              <a:t>variable 'zero' is 0</a:t>
            </a:r>
            <a:endParaRPr lang="en-US" sz="1400" dirty="0"/>
          </a:p>
        </p:txBody>
      </p:sp>
      <p:sp>
        <p:nvSpPr>
          <p:cNvPr id="31" name="panel-471"/>
          <p:cNvSpPr/>
          <p:nvPr/>
        </p:nvSpPr>
        <p:spPr>
          <a:xfrm>
            <a:off x="3520440" y="3831336"/>
            <a:ext cx="2926080" cy="603504"/>
          </a:xfrm>
          <a:prstGeom prst="roundRect">
            <a:avLst>
              <a:gd name="adj" fmla="val 12121"/>
            </a:avLst>
          </a:prstGeom>
          <a:solidFill>
            <a:schemeClr val="tx2"/>
          </a:solidFill>
          <a:ln w="9525">
            <a:solidFill>
              <a:schemeClr val="accent5"/>
            </a:solidFill>
            <a:prstDash val="solid"/>
          </a:ln>
        </p:spPr>
      </p:sp>
      <p:sp>
        <p:nvSpPr>
          <p:cNvPr id="32" name="text-472"/>
          <p:cNvSpPr txBox="1"/>
          <p:nvPr/>
        </p:nvSpPr>
        <p:spPr>
          <a:xfrm>
            <a:off x="3630168" y="3831336"/>
            <a:ext cx="457200" cy="603504"/>
          </a:xfrm>
          <a:prstGeom prst="rect">
            <a:avLst/>
          </a:prstGeom>
          <a:noFill/>
          <a:ln/>
        </p:spPr>
        <p:txBody>
          <a:bodyPr wrap="square" lIns="0" tIns="0" rIns="0" bIns="0" rtlCol="0" anchor="ctr"/>
          <a:lstStyle/>
          <a:p>
            <a:pPr indent="0" marL="0">
              <a:buNone/>
            </a:pPr>
            <a:r>
              <a:rPr lang="en-US" sz="1100" b="1" dirty="0">
                <a:solidFill>
                  <a:schemeClr val="accent2"/>
                </a:solidFill>
                <a:latin typeface="Courier New" pitchFamily="34" charset="0"/>
                <a:ea typeface="Courier New" pitchFamily="34" charset="-122"/>
                <a:cs typeface="Courier New" pitchFamily="34" charset="-120"/>
              </a:rPr>
              <a:t>PASS</a:t>
            </a:r>
            <a:endParaRPr lang="en-US" sz="1100" dirty="0"/>
          </a:p>
        </p:txBody>
      </p:sp>
      <p:sp>
        <p:nvSpPr>
          <p:cNvPr id="33" name="text-473"/>
          <p:cNvSpPr txBox="1"/>
          <p:nvPr/>
        </p:nvSpPr>
        <p:spPr>
          <a:xfrm>
            <a:off x="4142232" y="3831336"/>
            <a:ext cx="2240280" cy="603504"/>
          </a:xfrm>
          <a:prstGeom prst="rect">
            <a:avLst/>
          </a:prstGeom>
          <a:noFill/>
          <a:ln/>
        </p:spPr>
        <p:txBody>
          <a:bodyPr wrap="square" lIns="0" tIns="0" rIns="0" bIns="0" rtlCol="0" anchor="ctr"/>
          <a:lstStyle/>
          <a:p>
            <a:pPr indent="0" marL="0">
              <a:buNone/>
            </a:pPr>
            <a:r>
              <a:rPr lang="en-US" sz="1100" dirty="0">
                <a:solidFill>
                  <a:schemeClr val="bg1"/>
                </a:solidFill>
                <a:latin typeface="Courier New" pitchFamily="34" charset="0"/>
                <a:ea typeface="Courier New" pitchFamily="34" charset="-122"/>
                <a:cs typeface="Courier New" pitchFamily="34" charset="-120"/>
              </a:rPr>
              <a:t>empty</a:t>
            </a:r>
            <a:endParaRPr lang="en-US" sz="1400" dirty="0"/>
          </a:p>
          <a:p>
            <a:pPr indent="0" marL="0">
              <a:buNone/>
            </a:pPr>
            <a:r>
              <a:rPr lang="en-US" sz="1100" dirty="0">
                <a:solidFill>
                  <a:schemeClr val="bg2"/>
                </a:solidFill>
              </a:rPr>
              <a:t>nothing to compile</a:t>
            </a:r>
            <a:endParaRPr lang="en-US" sz="1400" dirty="0"/>
          </a:p>
        </p:txBody>
      </p:sp>
      <p:sp>
        <p:nvSpPr>
          <p:cNvPr id="34" name="panel-474"/>
          <p:cNvSpPr/>
          <p:nvPr/>
        </p:nvSpPr>
        <p:spPr>
          <a:xfrm>
            <a:off x="6675120" y="1051560"/>
            <a:ext cx="2011680" cy="3383280"/>
          </a:xfrm>
          <a:prstGeom prst="roundRect">
            <a:avLst>
              <a:gd name="adj" fmla="val 3636"/>
            </a:avLst>
          </a:prstGeom>
          <a:solidFill>
            <a:schemeClr val="tx2"/>
          </a:solidFill>
          <a:ln w="9525">
            <a:solidFill>
              <a:schemeClr val="accent5"/>
            </a:solidFill>
            <a:prstDash val="solid"/>
          </a:ln>
        </p:spPr>
      </p:sp>
      <p:sp>
        <p:nvSpPr>
          <p:cNvPr id="35" name="text-475"/>
          <p:cNvSpPr txBox="1"/>
          <p:nvPr/>
        </p:nvSpPr>
        <p:spPr>
          <a:xfrm>
            <a:off x="6675120" y="1371600"/>
            <a:ext cx="2011680" cy="731520"/>
          </a:xfrm>
          <a:prstGeom prst="rect">
            <a:avLst/>
          </a:prstGeom>
          <a:noFill/>
          <a:ln/>
        </p:spPr>
        <p:txBody>
          <a:bodyPr wrap="square" lIns="0" tIns="0" rIns="0" bIns="0" rtlCol="0" anchor="t"/>
          <a:lstStyle/>
          <a:p>
            <a:pPr algn="ctr" indent="0" marL="0">
              <a:buNone/>
            </a:pPr>
            <a:r>
              <a:rPr lang="en-US" sz="3600" b="1" dirty="0">
                <a:solidFill>
                  <a:schemeClr val="accent2"/>
                </a:solidFill>
                <a:latin typeface="Courier New" pitchFamily="34" charset="0"/>
                <a:ea typeface="Courier New" pitchFamily="34" charset="-122"/>
                <a:cs typeface="Courier New" pitchFamily="34" charset="-120"/>
              </a:rPr>
              <a:t>10/10</a:t>
            </a:r>
            <a:endParaRPr lang="en-US" sz="3600" dirty="0"/>
          </a:p>
        </p:txBody>
      </p:sp>
      <p:sp>
        <p:nvSpPr>
          <p:cNvPr id="36" name="text-476"/>
          <p:cNvSpPr txBox="1"/>
          <p:nvPr/>
        </p:nvSpPr>
        <p:spPr>
          <a:xfrm>
            <a:off x="6812280" y="2148840"/>
            <a:ext cx="1737360" cy="685800"/>
          </a:xfrm>
          <a:prstGeom prst="rect">
            <a:avLst/>
          </a:prstGeom>
          <a:noFill/>
          <a:ln/>
        </p:spPr>
        <p:txBody>
          <a:bodyPr wrap="square" lIns="0" tIns="0" rIns="0" bIns="0" rtlCol="0" anchor="t"/>
          <a:lstStyle/>
          <a:p>
            <a:pPr algn="ctr" indent="0" marL="0">
              <a:buNone/>
            </a:pPr>
            <a:r>
              <a:rPr lang="en-US" sz="1200" dirty="0">
                <a:solidFill>
                  <a:schemeClr val="bg2"/>
                </a:solidFill>
              </a:rPr>
              <a:t>example programs match their expected output</a:t>
            </a:r>
            <a:endParaRPr lang="en-US" sz="1200" dirty="0"/>
          </a:p>
        </p:txBody>
      </p:sp>
      <p:sp>
        <p:nvSpPr>
          <p:cNvPr id="37" name="text-477"/>
          <p:cNvSpPr txBox="1"/>
          <p:nvPr/>
        </p:nvSpPr>
        <p:spPr>
          <a:xfrm>
            <a:off x="6812280" y="3108960"/>
            <a:ext cx="1737360" cy="822960"/>
          </a:xfrm>
          <a:prstGeom prst="rect">
            <a:avLst/>
          </a:prstGeom>
          <a:noFill/>
          <a:ln/>
        </p:spPr>
        <p:txBody>
          <a:bodyPr wrap="square" lIns="0" tIns="0" rIns="0" bIns="0" rtlCol="0" anchor="t"/>
          <a:lstStyle/>
          <a:p>
            <a:pPr algn="ctr" indent="0" marL="0">
              <a:buNone/>
            </a:pPr>
            <a:r>
              <a:rPr lang="en-US" sz="1100" dirty="0">
                <a:solidFill>
                  <a:schemeClr val="bg1"/>
                </a:solidFill>
                <a:latin typeface="Courier New" pitchFamily="34" charset="0"/>
                <a:ea typeface="Courier New" pitchFamily="34" charset="-122"/>
                <a:cs typeface="Courier New" pitchFamily="34" charset="-120"/>
              </a:rPr>
              <a:t>g++ -std=c++17</a:t>
            </a:r>
            <a:endParaRPr lang="en-US" sz="1100" dirty="0"/>
          </a:p>
          <a:p>
            <a:pPr algn="ctr" indent="0" marL="0">
              <a:buNone/>
            </a:pPr>
            <a:r>
              <a:rPr lang="en-US" sz="1100" dirty="0">
                <a:solidFill>
                  <a:schemeClr val="bg1"/>
                </a:solidFill>
                <a:latin typeface="Courier New" pitchFamily="34" charset="0"/>
                <a:ea typeface="Courier New" pitchFamily="34" charset="-122"/>
                <a:cs typeface="Courier New" pitchFamily="34" charset="-120"/>
              </a:rPr>
              <a:t>-Wall -Wextra</a:t>
            </a:r>
            <a:endParaRPr lang="en-US" sz="1100" dirty="0"/>
          </a:p>
          <a:p>
            <a:pPr algn="ctr" indent="0" marL="0">
              <a:buNone/>
            </a:pPr>
            <a:r>
              <a:rPr lang="en-US" sz="1100" dirty="0">
                <a:solidFill>
                  <a:schemeClr val="bg1"/>
                </a:solidFill>
                <a:latin typeface="Courier New" pitchFamily="34" charset="0"/>
                <a:ea typeface="Courier New" pitchFamily="34" charset="-122"/>
                <a:cs typeface="Courier New" pitchFamily="34" charset="-120"/>
              </a:rPr>
              <a:t>-pedantic -O2</a:t>
            </a:r>
            <a:endParaRPr lang="en-US" sz="1100" dirty="0"/>
          </a:p>
        </p:txBody>
      </p:sp>
      <p:sp>
        <p:nvSpPr>
          <p:cNvPr id="25" name="Slide Number Placeholder 0"/>
          <p:cNvSpPr>
            <a:spLocks noGrp="1"/>
          </p:cNvSpPr>
          <p:nvPr>
            <p:ph type="sldNum" sz="quarter" idx="4294967295"/>
          </p:nvPr>
        </p:nvSpPr>
        <p:spPr>
          <a:xfrm>
            <a:off x="8321040" y="473659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600" b="1" dirty="0">
                <a:solidFill>
                  <a:schemeClr val="bg1"/>
                </a:solidFill>
              </a:rPr>
              <a:t>Case study: reporting the fix line</a:t>
            </a:r>
            <a:endParaRPr lang="en-US" sz="2600" dirty="0"/>
          </a:p>
        </p:txBody>
      </p:sp>
      <p:graphicFrame>
        <p:nvGraphicFramePr>
          <p:cNvPr id="4" name="chart-478" descr=""/>
          <p:cNvGraphicFramePr/>
          <p:nvPr/>
        </p:nvGraphicFramePr>
        <p:xfrm>
          <a:off x="457200" y="1051560"/>
          <a:ext cx="5120640" cy="3474720"/>
        </p:xfrm>
        <a:graphic xmlns:a="http://schemas.openxmlformats.org/drawingml/2006/main">
          <a:graphicData uri="http://schemas.openxmlformats.org/drawingml/2006/chart">
            <c:chart xmlns:c="http://schemas.openxmlformats.org/drawingml/2006/chart" r:id="rId1"/>
          </a:graphicData>
        </a:graphic>
      </p:graphicFrame>
      <p:sp>
        <p:nvSpPr>
          <p:cNvPr id="5" name="panel-479"/>
          <p:cNvSpPr/>
          <p:nvPr/>
        </p:nvSpPr>
        <p:spPr>
          <a:xfrm>
            <a:off x="5852160" y="1051560"/>
            <a:ext cx="2834640" cy="1051560"/>
          </a:xfrm>
          <a:prstGeom prst="roundRect">
            <a:avLst>
              <a:gd name="adj" fmla="val 6957"/>
            </a:avLst>
          </a:prstGeom>
          <a:solidFill>
            <a:schemeClr val="tx2"/>
          </a:solidFill>
          <a:ln w="9525">
            <a:solidFill>
              <a:schemeClr val="accent5"/>
            </a:solidFill>
            <a:prstDash val="solid"/>
          </a:ln>
        </p:spPr>
      </p:sp>
      <p:sp>
        <p:nvSpPr>
          <p:cNvPr id="6" name="text-480"/>
          <p:cNvSpPr txBox="1"/>
          <p:nvPr/>
        </p:nvSpPr>
        <p:spPr>
          <a:xfrm>
            <a:off x="5989320" y="1161288"/>
            <a:ext cx="1234440" cy="822960"/>
          </a:xfrm>
          <a:prstGeom prst="rect">
            <a:avLst/>
          </a:prstGeom>
          <a:noFill/>
          <a:ln/>
        </p:spPr>
        <p:txBody>
          <a:bodyPr wrap="square" lIns="0" tIns="0" rIns="0" bIns="0" rtlCol="0" anchor="ctr"/>
          <a:lstStyle/>
          <a:p>
            <a:pPr indent="0" marL="0">
              <a:buNone/>
            </a:pPr>
            <a:r>
              <a:rPr lang="en-US" sz="2400" b="1" dirty="0">
                <a:solidFill>
                  <a:schemeClr val="accent2"/>
                </a:solidFill>
                <a:latin typeface="Courier New" pitchFamily="34" charset="0"/>
                <a:ea typeface="Courier New" pitchFamily="34" charset="-122"/>
                <a:cs typeface="Courier New" pitchFamily="34" charset="-120"/>
              </a:rPr>
              <a:t>24/24</a:t>
            </a:r>
            <a:endParaRPr lang="en-US" sz="2400" dirty="0"/>
          </a:p>
        </p:txBody>
      </p:sp>
      <p:sp>
        <p:nvSpPr>
          <p:cNvPr id="7" name="text-481"/>
          <p:cNvSpPr txBox="1"/>
          <p:nvPr/>
        </p:nvSpPr>
        <p:spPr>
          <a:xfrm>
            <a:off x="7269480" y="1161288"/>
            <a:ext cx="1325880" cy="822960"/>
          </a:xfrm>
          <a:prstGeom prst="rect">
            <a:avLst/>
          </a:prstGeom>
          <a:noFill/>
          <a:ln/>
        </p:spPr>
        <p:txBody>
          <a:bodyPr wrap="square" lIns="0" tIns="0" rIns="0" bIns="0" rtlCol="0" anchor="ctr"/>
          <a:lstStyle/>
          <a:p>
            <a:pPr indent="0" marL="0">
              <a:buNone/>
            </a:pPr>
            <a:r>
              <a:rPr lang="en-US" sz="1200" dirty="0">
                <a:solidFill>
                  <a:schemeClr val="bg2"/>
                </a:solidFill>
              </a:rPr>
              <a:t>mistakes caught by ErrorBuddy (gcc: 23)</a:t>
            </a:r>
            <a:endParaRPr lang="en-US" sz="1200" dirty="0"/>
          </a:p>
        </p:txBody>
      </p:sp>
      <p:sp>
        <p:nvSpPr>
          <p:cNvPr id="8" name="panel-482"/>
          <p:cNvSpPr/>
          <p:nvPr/>
        </p:nvSpPr>
        <p:spPr>
          <a:xfrm>
            <a:off x="5852160" y="2240280"/>
            <a:ext cx="2834640" cy="1051560"/>
          </a:xfrm>
          <a:prstGeom prst="roundRect">
            <a:avLst>
              <a:gd name="adj" fmla="val 6957"/>
            </a:avLst>
          </a:prstGeom>
          <a:solidFill>
            <a:schemeClr val="tx2"/>
          </a:solidFill>
          <a:ln w="9525">
            <a:solidFill>
              <a:schemeClr val="accent5"/>
            </a:solidFill>
            <a:prstDash val="solid"/>
          </a:ln>
        </p:spPr>
      </p:sp>
      <p:sp>
        <p:nvSpPr>
          <p:cNvPr id="9" name="text-483"/>
          <p:cNvSpPr txBox="1"/>
          <p:nvPr/>
        </p:nvSpPr>
        <p:spPr>
          <a:xfrm>
            <a:off x="5989320" y="2350008"/>
            <a:ext cx="1234440" cy="822960"/>
          </a:xfrm>
          <a:prstGeom prst="rect">
            <a:avLst/>
          </a:prstGeom>
          <a:noFill/>
          <a:ln/>
        </p:spPr>
        <p:txBody>
          <a:bodyPr wrap="square" lIns="0" tIns="0" rIns="0" bIns="0" rtlCol="0" anchor="ctr"/>
          <a:lstStyle/>
          <a:p>
            <a:pPr indent="0" marL="0">
              <a:buNone/>
            </a:pPr>
            <a:r>
              <a:rPr lang="en-US" sz="2400" b="1" dirty="0">
                <a:solidFill>
                  <a:schemeClr val="accent2"/>
                </a:solidFill>
                <a:latin typeface="Courier New" pitchFamily="34" charset="0"/>
                <a:ea typeface="Courier New" pitchFamily="34" charset="-122"/>
                <a:cs typeface="Courier New" pitchFamily="34" charset="-120"/>
              </a:rPr>
              <a:t>0</a:t>
            </a:r>
            <a:endParaRPr lang="en-US" sz="2400" dirty="0"/>
          </a:p>
        </p:txBody>
      </p:sp>
      <p:sp>
        <p:nvSpPr>
          <p:cNvPr id="10" name="text-484"/>
          <p:cNvSpPr txBox="1"/>
          <p:nvPr/>
        </p:nvSpPr>
        <p:spPr>
          <a:xfrm>
            <a:off x="7269480" y="2350008"/>
            <a:ext cx="1325880" cy="822960"/>
          </a:xfrm>
          <a:prstGeom prst="rect">
            <a:avLst/>
          </a:prstGeom>
          <a:noFill/>
          <a:ln/>
        </p:spPr>
        <p:txBody>
          <a:bodyPr wrap="square" lIns="0" tIns="0" rIns="0" bIns="0" rtlCol="0" anchor="ctr"/>
          <a:lstStyle/>
          <a:p>
            <a:pPr indent="0" marL="0">
              <a:buNone/>
            </a:pPr>
            <a:r>
              <a:rPr lang="en-US" sz="1200" dirty="0">
                <a:solidFill>
                  <a:schemeClr val="bg2"/>
                </a:solidFill>
              </a:rPr>
              <a:t>reports later than the fix line (gcc: 3)</a:t>
            </a:r>
            <a:endParaRPr lang="en-US" sz="1200" dirty="0"/>
          </a:p>
        </p:txBody>
      </p:sp>
      <p:sp>
        <p:nvSpPr>
          <p:cNvPr id="11" name="panel-485"/>
          <p:cNvSpPr/>
          <p:nvPr/>
        </p:nvSpPr>
        <p:spPr>
          <a:xfrm>
            <a:off x="5852160" y="3429000"/>
            <a:ext cx="2834640" cy="1051560"/>
          </a:xfrm>
          <a:prstGeom prst="roundRect">
            <a:avLst>
              <a:gd name="adj" fmla="val 6957"/>
            </a:avLst>
          </a:prstGeom>
          <a:solidFill>
            <a:schemeClr val="tx2"/>
          </a:solidFill>
          <a:ln w="9525">
            <a:solidFill>
              <a:schemeClr val="accent5"/>
            </a:solidFill>
            <a:prstDash val="solid"/>
          </a:ln>
        </p:spPr>
      </p:sp>
      <p:sp>
        <p:nvSpPr>
          <p:cNvPr id="12" name="text-486"/>
          <p:cNvSpPr txBox="1"/>
          <p:nvPr/>
        </p:nvSpPr>
        <p:spPr>
          <a:xfrm>
            <a:off x="5989320" y="3538728"/>
            <a:ext cx="1234440" cy="822960"/>
          </a:xfrm>
          <a:prstGeom prst="rect">
            <a:avLst/>
          </a:prstGeom>
          <a:noFill/>
          <a:ln/>
        </p:spPr>
        <p:txBody>
          <a:bodyPr wrap="square" lIns="0" tIns="0" rIns="0" bIns="0" rtlCol="0" anchor="ctr"/>
          <a:lstStyle/>
          <a:p>
            <a:pPr indent="0" marL="0">
              <a:buNone/>
            </a:pPr>
            <a:r>
              <a:rPr lang="en-US" sz="2400" b="1" dirty="0">
                <a:solidFill>
                  <a:schemeClr val="accent1"/>
                </a:solidFill>
                <a:latin typeface="Courier New" pitchFamily="34" charset="0"/>
                <a:ea typeface="Courier New" pitchFamily="34" charset="-122"/>
                <a:cs typeface="Courier New" pitchFamily="34" charset="-120"/>
              </a:rPr>
              <a:t>3</a:t>
            </a:r>
            <a:endParaRPr lang="en-US" sz="2400" dirty="0"/>
          </a:p>
        </p:txBody>
      </p:sp>
      <p:sp>
        <p:nvSpPr>
          <p:cNvPr id="13" name="text-487"/>
          <p:cNvSpPr txBox="1"/>
          <p:nvPr/>
        </p:nvSpPr>
        <p:spPr>
          <a:xfrm>
            <a:off x="7269480" y="3538728"/>
            <a:ext cx="1325880" cy="822960"/>
          </a:xfrm>
          <a:prstGeom prst="rect">
            <a:avLst/>
          </a:prstGeom>
          <a:noFill/>
          <a:ln/>
        </p:spPr>
        <p:txBody>
          <a:bodyPr wrap="square" lIns="0" tIns="0" rIns="0" bIns="0" rtlCol="0" anchor="ctr"/>
          <a:lstStyle/>
          <a:p>
            <a:pPr indent="0" marL="0">
              <a:buNone/>
            </a:pPr>
            <a:r>
              <a:rPr lang="en-US" sz="1200" dirty="0">
                <a:solidFill>
                  <a:schemeClr val="bg2"/>
                </a:solidFill>
              </a:rPr>
              <a:t>late gcc cases, all a missing ';'</a:t>
            </a:r>
            <a:endParaRPr lang="en-US" sz="1200" dirty="0"/>
          </a:p>
        </p:txBody>
      </p:sp>
      <p:sp>
        <p:nvSpPr>
          <p:cNvPr id="25" name="Slide Number Placeholder 0"/>
          <p:cNvSpPr>
            <a:spLocks noGrp="1"/>
          </p:cNvSpPr>
          <p:nvPr>
            <p:ph type="sldNum" sz="quarter" idx="4294967295"/>
          </p:nvPr>
        </p:nvSpPr>
        <p:spPr>
          <a:xfrm>
            <a:off x="8321040" y="473659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600" b="1" dirty="0">
                <a:solidFill>
                  <a:schemeClr val="bg1"/>
                </a:solidFill>
              </a:rPr>
              <a:t>Lexer rules, tested by removal</a:t>
            </a:r>
            <a:endParaRPr lang="en-US" sz="2600" dirty="0"/>
          </a:p>
        </p:txBody>
      </p:sp>
      <p:sp>
        <p:nvSpPr>
          <p:cNvPr id="4" name="panel-488"/>
          <p:cNvSpPr/>
          <p:nvPr/>
        </p:nvSpPr>
        <p:spPr>
          <a:xfrm>
            <a:off x="457200" y="1097280"/>
            <a:ext cx="2651760" cy="3429000"/>
          </a:xfrm>
          <a:prstGeom prst="roundRect">
            <a:avLst>
              <a:gd name="adj" fmla="val 2759"/>
            </a:avLst>
          </a:prstGeom>
          <a:solidFill>
            <a:schemeClr val="tx2"/>
          </a:solidFill>
          <a:ln w="9525">
            <a:solidFill>
              <a:schemeClr val="accent5"/>
            </a:solidFill>
            <a:prstDash val="solid"/>
          </a:ln>
        </p:spPr>
      </p:sp>
      <p:sp>
        <p:nvSpPr>
          <p:cNvPr id="5" name="text-489"/>
          <p:cNvSpPr txBox="1"/>
          <p:nvPr/>
        </p:nvSpPr>
        <p:spPr>
          <a:xfrm>
            <a:off x="640080" y="1207008"/>
            <a:ext cx="2331720" cy="320040"/>
          </a:xfrm>
          <a:prstGeom prst="rect">
            <a:avLst/>
          </a:prstGeom>
          <a:noFill/>
          <a:ln/>
        </p:spPr>
        <p:txBody>
          <a:bodyPr wrap="square" lIns="0" tIns="0" rIns="0" bIns="0" rtlCol="0" anchor="t"/>
          <a:lstStyle/>
          <a:p>
            <a:pPr indent="0" marL="0">
              <a:buNone/>
            </a:pPr>
            <a:r>
              <a:rPr lang="en-US" sz="1300" b="1" dirty="0">
                <a:solidFill>
                  <a:schemeClr val="bg1"/>
                </a:solidFill>
              </a:rPr>
              <a:t>// comments after '/'</a:t>
            </a:r>
            <a:endParaRPr lang="en-US" sz="1300" dirty="0"/>
          </a:p>
        </p:txBody>
      </p:sp>
      <p:sp>
        <p:nvSpPr>
          <p:cNvPr id="6" name="panel-490"/>
          <p:cNvSpPr/>
          <p:nvPr/>
        </p:nvSpPr>
        <p:spPr>
          <a:xfrm>
            <a:off x="594360" y="1600200"/>
            <a:ext cx="2377440" cy="457200"/>
          </a:xfrm>
          <a:prstGeom prst="roundRect">
            <a:avLst>
              <a:gd name="adj" fmla="val 16000"/>
            </a:avLst>
          </a:prstGeom>
          <a:solidFill>
            <a:schemeClr val="tx1"/>
          </a:solidFill>
          <a:ln w="9525">
            <a:solidFill>
              <a:schemeClr val="accent5"/>
            </a:solidFill>
            <a:prstDash val="solid"/>
          </a:ln>
        </p:spPr>
      </p:sp>
      <p:sp>
        <p:nvSpPr>
          <p:cNvPr id="7" name="text-491"/>
          <p:cNvSpPr txBox="1"/>
          <p:nvPr/>
        </p:nvSpPr>
        <p:spPr>
          <a:xfrm>
            <a:off x="731520" y="1709928"/>
            <a:ext cx="2103120" cy="237744"/>
          </a:xfrm>
          <a:prstGeom prst="rect">
            <a:avLst/>
          </a:prstGeom>
          <a:noFill/>
          <a:ln/>
        </p:spPr>
        <p:txBody>
          <a:bodyPr wrap="square" lIns="0" tIns="0" rIns="0" bIns="0" rtlCol="0" anchor="t"/>
          <a:lstStyle/>
          <a:p>
            <a:pPr indent="0" marL="0">
              <a:lnSpc>
                <a:spcPct val="110000"/>
              </a:lnSpc>
              <a:buNone/>
            </a:pPr>
            <a:r>
              <a:rPr lang="en-US" sz="1100" dirty="0">
                <a:solidFill>
                  <a:schemeClr val="bg1"/>
                </a:solidFill>
                <a:latin typeface="Courier New" pitchFamily="34" charset="0"/>
                <a:ea typeface="Courier New" pitchFamily="34" charset="-122"/>
                <a:cs typeface="Courier New" pitchFamily="34" charset="-120"/>
              </a:rPr>
              <a:t>int a = 10 / 2; // half</a:t>
            </a:r>
            <a:endParaRPr lang="en-US" sz="1100" dirty="0"/>
          </a:p>
        </p:txBody>
      </p:sp>
      <p:sp>
        <p:nvSpPr>
          <p:cNvPr id="8" name="text-492"/>
          <p:cNvSpPr txBox="1"/>
          <p:nvPr/>
        </p:nvSpPr>
        <p:spPr>
          <a:xfrm>
            <a:off x="640080" y="2194560"/>
            <a:ext cx="2286000" cy="228600"/>
          </a:xfrm>
          <a:prstGeom prst="rect">
            <a:avLst/>
          </a:prstGeom>
          <a:noFill/>
          <a:ln/>
        </p:spPr>
        <p:txBody>
          <a:bodyPr wrap="square" lIns="0" tIns="0" rIns="0" bIns="0" rtlCol="0" anchor="t"/>
          <a:lstStyle/>
          <a:p>
            <a:pPr indent="0" marL="0">
              <a:buNone/>
            </a:pPr>
            <a:r>
              <a:rPr lang="en-US" sz="1000" b="1" spc="150" kern="0" dirty="0">
                <a:solidFill>
                  <a:schemeClr val="accent2"/>
                </a:solidFill>
              </a:rPr>
              <a:t>SHIPPED</a:t>
            </a:r>
            <a:endParaRPr lang="en-US" sz="1000" dirty="0"/>
          </a:p>
        </p:txBody>
      </p:sp>
      <p:sp>
        <p:nvSpPr>
          <p:cNvPr id="9" name="text-493"/>
          <p:cNvSpPr txBox="1"/>
          <p:nvPr/>
        </p:nvSpPr>
        <p:spPr>
          <a:xfrm>
            <a:off x="640080" y="2423160"/>
            <a:ext cx="2286000" cy="777240"/>
          </a:xfrm>
          <a:prstGeom prst="rect">
            <a:avLst/>
          </a:prstGeom>
          <a:noFill/>
          <a:ln/>
        </p:spPr>
        <p:txBody>
          <a:bodyPr wrap="square" lIns="0" tIns="0" rIns="0" bIns="0" rtlCol="0" anchor="t"/>
          <a:lstStyle/>
          <a:p>
            <a:pPr indent="0" marL="0">
              <a:buNone/>
            </a:pPr>
            <a:r>
              <a:rPr lang="en-US" sz="1200" dirty="0">
                <a:solidFill>
                  <a:schemeClr val="bg1"/>
                </a:solidFill>
              </a:rPr>
              <a:t>OK</a:t>
            </a:r>
            <a:endParaRPr lang="en-US" sz="1200" dirty="0"/>
          </a:p>
        </p:txBody>
      </p:sp>
      <p:sp>
        <p:nvSpPr>
          <p:cNvPr id="10" name="text-494"/>
          <p:cNvSpPr txBox="1"/>
          <p:nvPr/>
        </p:nvSpPr>
        <p:spPr>
          <a:xfrm>
            <a:off x="640080" y="3246120"/>
            <a:ext cx="2286000" cy="228600"/>
          </a:xfrm>
          <a:prstGeom prst="rect">
            <a:avLst/>
          </a:prstGeom>
          <a:noFill/>
          <a:ln/>
        </p:spPr>
        <p:txBody>
          <a:bodyPr wrap="square" lIns="0" tIns="0" rIns="0" bIns="0" rtlCol="0" anchor="t"/>
          <a:lstStyle/>
          <a:p>
            <a:pPr indent="0" marL="0">
              <a:buNone/>
            </a:pPr>
            <a:r>
              <a:rPr lang="en-US" sz="1000" b="1" spc="150" kern="0" dirty="0">
                <a:solidFill>
                  <a:schemeClr val="accent1"/>
                </a:solidFill>
              </a:rPr>
              <a:t>RULE REMOVED</a:t>
            </a:r>
            <a:endParaRPr lang="en-US" sz="1000" dirty="0"/>
          </a:p>
        </p:txBody>
      </p:sp>
      <p:sp>
        <p:nvSpPr>
          <p:cNvPr id="11" name="text-495"/>
          <p:cNvSpPr txBox="1"/>
          <p:nvPr/>
        </p:nvSpPr>
        <p:spPr>
          <a:xfrm>
            <a:off x="640080" y="3474720"/>
            <a:ext cx="2286000" cy="914400"/>
          </a:xfrm>
          <a:prstGeom prst="rect">
            <a:avLst/>
          </a:prstGeom>
          <a:noFill/>
          <a:ln/>
        </p:spPr>
        <p:txBody>
          <a:bodyPr wrap="square" lIns="0" tIns="0" rIns="0" bIns="0" rtlCol="0" anchor="t"/>
          <a:lstStyle/>
          <a:p>
            <a:pPr indent="0" marL="0">
              <a:buNone/>
            </a:pPr>
            <a:r>
              <a:rPr lang="en-US" sz="1200" dirty="0">
                <a:solidFill>
                  <a:schemeClr val="bg2"/>
                </a:solidFill>
              </a:rPr>
              <a:t>A statement cannot start with '/'.</a:t>
            </a:r>
            <a:endParaRPr lang="en-US" sz="1200" dirty="0"/>
          </a:p>
        </p:txBody>
      </p:sp>
      <p:sp>
        <p:nvSpPr>
          <p:cNvPr id="12" name="panel-496"/>
          <p:cNvSpPr/>
          <p:nvPr/>
        </p:nvSpPr>
        <p:spPr>
          <a:xfrm>
            <a:off x="3264408" y="1097280"/>
            <a:ext cx="2651760" cy="3429000"/>
          </a:xfrm>
          <a:prstGeom prst="roundRect">
            <a:avLst>
              <a:gd name="adj" fmla="val 2759"/>
            </a:avLst>
          </a:prstGeom>
          <a:solidFill>
            <a:schemeClr val="tx2"/>
          </a:solidFill>
          <a:ln w="9525">
            <a:solidFill>
              <a:schemeClr val="accent5"/>
            </a:solidFill>
            <a:prstDash val="solid"/>
          </a:ln>
        </p:spPr>
      </p:sp>
      <p:sp>
        <p:nvSpPr>
          <p:cNvPr id="13" name="text-497"/>
          <p:cNvSpPr txBox="1"/>
          <p:nvPr/>
        </p:nvSpPr>
        <p:spPr>
          <a:xfrm>
            <a:off x="3447288" y="1207008"/>
            <a:ext cx="2331720" cy="320040"/>
          </a:xfrm>
          <a:prstGeom prst="rect">
            <a:avLst/>
          </a:prstGeom>
          <a:noFill/>
          <a:ln/>
        </p:spPr>
        <p:txBody>
          <a:bodyPr wrap="square" lIns="0" tIns="0" rIns="0" bIns="0" rtlCol="0" anchor="t"/>
          <a:lstStyle/>
          <a:p>
            <a:pPr indent="0" marL="0">
              <a:buNone/>
            </a:pPr>
            <a:r>
              <a:rPr lang="en-US" sz="1300" b="1" dirty="0">
                <a:solidFill>
                  <a:schemeClr val="bg1"/>
                </a:solidFill>
              </a:rPr>
              <a:t>No leading digit</a:t>
            </a:r>
            <a:endParaRPr lang="en-US" sz="1300" dirty="0"/>
          </a:p>
        </p:txBody>
      </p:sp>
      <p:sp>
        <p:nvSpPr>
          <p:cNvPr id="14" name="panel-498"/>
          <p:cNvSpPr/>
          <p:nvPr/>
        </p:nvSpPr>
        <p:spPr>
          <a:xfrm>
            <a:off x="3401568" y="1600200"/>
            <a:ext cx="2377440" cy="457200"/>
          </a:xfrm>
          <a:prstGeom prst="roundRect">
            <a:avLst>
              <a:gd name="adj" fmla="val 16000"/>
            </a:avLst>
          </a:prstGeom>
          <a:solidFill>
            <a:schemeClr val="tx1"/>
          </a:solidFill>
          <a:ln w="9525">
            <a:solidFill>
              <a:schemeClr val="accent5"/>
            </a:solidFill>
            <a:prstDash val="solid"/>
          </a:ln>
        </p:spPr>
      </p:sp>
      <p:sp>
        <p:nvSpPr>
          <p:cNvPr id="15" name="text-499"/>
          <p:cNvSpPr txBox="1"/>
          <p:nvPr/>
        </p:nvSpPr>
        <p:spPr>
          <a:xfrm>
            <a:off x="3538728" y="1709928"/>
            <a:ext cx="2103120" cy="237744"/>
          </a:xfrm>
          <a:prstGeom prst="rect">
            <a:avLst/>
          </a:prstGeom>
          <a:noFill/>
          <a:ln/>
        </p:spPr>
        <p:txBody>
          <a:bodyPr wrap="square" lIns="0" tIns="0" rIns="0" bIns="0" rtlCol="0" anchor="t"/>
          <a:lstStyle/>
          <a:p>
            <a:pPr indent="0" marL="0">
              <a:lnSpc>
                <a:spcPct val="110000"/>
              </a:lnSpc>
              <a:buNone/>
            </a:pPr>
            <a:r>
              <a:rPr lang="en-US" sz="1100" dirty="0">
                <a:solidFill>
                  <a:schemeClr val="bg1"/>
                </a:solidFill>
                <a:latin typeface="Courier New" pitchFamily="34" charset="0"/>
                <a:ea typeface="Courier New" pitchFamily="34" charset="-122"/>
                <a:cs typeface="Courier New" pitchFamily="34" charset="-120"/>
              </a:rPr>
              <a:t>int 2nd = 5;</a:t>
            </a:r>
            <a:endParaRPr lang="en-US" sz="1100" dirty="0"/>
          </a:p>
        </p:txBody>
      </p:sp>
      <p:sp>
        <p:nvSpPr>
          <p:cNvPr id="16" name="text-500"/>
          <p:cNvSpPr txBox="1"/>
          <p:nvPr/>
        </p:nvSpPr>
        <p:spPr>
          <a:xfrm>
            <a:off x="3447288" y="2194560"/>
            <a:ext cx="2286000" cy="228600"/>
          </a:xfrm>
          <a:prstGeom prst="rect">
            <a:avLst/>
          </a:prstGeom>
          <a:noFill/>
          <a:ln/>
        </p:spPr>
        <p:txBody>
          <a:bodyPr wrap="square" lIns="0" tIns="0" rIns="0" bIns="0" rtlCol="0" anchor="t"/>
          <a:lstStyle/>
          <a:p>
            <a:pPr indent="0" marL="0">
              <a:buNone/>
            </a:pPr>
            <a:r>
              <a:rPr lang="en-US" sz="1000" b="1" spc="150" kern="0" dirty="0">
                <a:solidFill>
                  <a:schemeClr val="accent2"/>
                </a:solidFill>
              </a:rPr>
              <a:t>SHIPPED</a:t>
            </a:r>
            <a:endParaRPr lang="en-US" sz="1000" dirty="0"/>
          </a:p>
        </p:txBody>
      </p:sp>
      <p:sp>
        <p:nvSpPr>
          <p:cNvPr id="17" name="text-501"/>
          <p:cNvSpPr txBox="1"/>
          <p:nvPr/>
        </p:nvSpPr>
        <p:spPr>
          <a:xfrm>
            <a:off x="3447288" y="2423160"/>
            <a:ext cx="2286000" cy="777240"/>
          </a:xfrm>
          <a:prstGeom prst="rect">
            <a:avLst/>
          </a:prstGeom>
          <a:noFill/>
          <a:ln/>
        </p:spPr>
        <p:txBody>
          <a:bodyPr wrap="square" lIns="0" tIns="0" rIns="0" bIns="0" rtlCol="0" anchor="t"/>
          <a:lstStyle/>
          <a:p>
            <a:pPr indent="0" marL="0">
              <a:buNone/>
            </a:pPr>
            <a:r>
              <a:rPr lang="en-US" sz="1200" dirty="0">
                <a:solidFill>
                  <a:schemeClr val="bg1"/>
                </a:solidFill>
              </a:rPr>
              <a:t>'2nd' is not a valid name. Names cannot start with a digit.</a:t>
            </a:r>
            <a:endParaRPr lang="en-US" sz="1200" dirty="0"/>
          </a:p>
        </p:txBody>
      </p:sp>
      <p:sp>
        <p:nvSpPr>
          <p:cNvPr id="18" name="text-502"/>
          <p:cNvSpPr txBox="1"/>
          <p:nvPr/>
        </p:nvSpPr>
        <p:spPr>
          <a:xfrm>
            <a:off x="3447288" y="3246120"/>
            <a:ext cx="2286000" cy="228600"/>
          </a:xfrm>
          <a:prstGeom prst="rect">
            <a:avLst/>
          </a:prstGeom>
          <a:noFill/>
          <a:ln/>
        </p:spPr>
        <p:txBody>
          <a:bodyPr wrap="square" lIns="0" tIns="0" rIns="0" bIns="0" rtlCol="0" anchor="t"/>
          <a:lstStyle/>
          <a:p>
            <a:pPr indent="0" marL="0">
              <a:buNone/>
            </a:pPr>
            <a:r>
              <a:rPr lang="en-US" sz="1000" b="1" spc="150" kern="0" dirty="0">
                <a:solidFill>
                  <a:schemeClr val="accent1"/>
                </a:solidFill>
              </a:rPr>
              <a:t>RULE REMOVED</a:t>
            </a:r>
            <a:endParaRPr lang="en-US" sz="1000" dirty="0"/>
          </a:p>
        </p:txBody>
      </p:sp>
      <p:sp>
        <p:nvSpPr>
          <p:cNvPr id="19" name="text-503"/>
          <p:cNvSpPr txBox="1"/>
          <p:nvPr/>
        </p:nvSpPr>
        <p:spPr>
          <a:xfrm>
            <a:off x="3447288" y="3474720"/>
            <a:ext cx="2286000" cy="914400"/>
          </a:xfrm>
          <a:prstGeom prst="rect">
            <a:avLst/>
          </a:prstGeom>
          <a:noFill/>
          <a:ln/>
        </p:spPr>
        <p:txBody>
          <a:bodyPr wrap="square" lIns="0" tIns="0" rIns="0" bIns="0" rtlCol="0" anchor="t"/>
          <a:lstStyle/>
          <a:p>
            <a:pPr indent="0" marL="0">
              <a:buNone/>
            </a:pPr>
            <a:r>
              <a:rPr lang="en-US" sz="1200" dirty="0">
                <a:solidFill>
                  <a:schemeClr val="bg2"/>
                </a:solidFill>
              </a:rPr>
              <a:t>Expected a variable name after 'int', but found '2'.</a:t>
            </a:r>
            <a:endParaRPr lang="en-US" sz="1200" dirty="0"/>
          </a:p>
        </p:txBody>
      </p:sp>
      <p:sp>
        <p:nvSpPr>
          <p:cNvPr id="20" name="panel-504"/>
          <p:cNvSpPr/>
          <p:nvPr/>
        </p:nvSpPr>
        <p:spPr>
          <a:xfrm>
            <a:off x="6071616" y="1097280"/>
            <a:ext cx="2651760" cy="3429000"/>
          </a:xfrm>
          <a:prstGeom prst="roundRect">
            <a:avLst>
              <a:gd name="adj" fmla="val 2759"/>
            </a:avLst>
          </a:prstGeom>
          <a:solidFill>
            <a:schemeClr val="tx2"/>
          </a:solidFill>
          <a:ln w="9525">
            <a:solidFill>
              <a:schemeClr val="accent5"/>
            </a:solidFill>
            <a:prstDash val="solid"/>
          </a:ln>
        </p:spPr>
      </p:sp>
      <p:sp>
        <p:nvSpPr>
          <p:cNvPr id="21" name="text-505"/>
          <p:cNvSpPr txBox="1"/>
          <p:nvPr/>
        </p:nvSpPr>
        <p:spPr>
          <a:xfrm>
            <a:off x="6254496" y="1207008"/>
            <a:ext cx="2331720" cy="320040"/>
          </a:xfrm>
          <a:prstGeom prst="rect">
            <a:avLst/>
          </a:prstGeom>
          <a:noFill/>
          <a:ln/>
        </p:spPr>
        <p:txBody>
          <a:bodyPr wrap="square" lIns="0" tIns="0" rIns="0" bIns="0" rtlCol="0" anchor="t"/>
          <a:lstStyle/>
          <a:p>
            <a:pPr indent="0" marL="0">
              <a:buNone/>
            </a:pPr>
            <a:r>
              <a:rPr lang="en-US" sz="1300" b="1" dirty="0">
                <a:solidFill>
                  <a:schemeClr val="bg1"/>
                </a:solidFill>
              </a:rPr>
              <a:t>Whole-word keywords</a:t>
            </a:r>
            <a:endParaRPr lang="en-US" sz="1300" dirty="0"/>
          </a:p>
        </p:txBody>
      </p:sp>
      <p:sp>
        <p:nvSpPr>
          <p:cNvPr id="22" name="panel-506"/>
          <p:cNvSpPr/>
          <p:nvPr/>
        </p:nvSpPr>
        <p:spPr>
          <a:xfrm>
            <a:off x="6208776" y="1600200"/>
            <a:ext cx="2377440" cy="457200"/>
          </a:xfrm>
          <a:prstGeom prst="roundRect">
            <a:avLst>
              <a:gd name="adj" fmla="val 16000"/>
            </a:avLst>
          </a:prstGeom>
          <a:solidFill>
            <a:schemeClr val="tx1"/>
          </a:solidFill>
          <a:ln w="9525">
            <a:solidFill>
              <a:schemeClr val="accent5"/>
            </a:solidFill>
            <a:prstDash val="solid"/>
          </a:ln>
        </p:spPr>
      </p:sp>
      <p:sp>
        <p:nvSpPr>
          <p:cNvPr id="23" name="text-507"/>
          <p:cNvSpPr txBox="1"/>
          <p:nvPr/>
        </p:nvSpPr>
        <p:spPr>
          <a:xfrm>
            <a:off x="6345936" y="1709928"/>
            <a:ext cx="2103120" cy="237744"/>
          </a:xfrm>
          <a:prstGeom prst="rect">
            <a:avLst/>
          </a:prstGeom>
          <a:noFill/>
          <a:ln/>
        </p:spPr>
        <p:txBody>
          <a:bodyPr wrap="square" lIns="0" tIns="0" rIns="0" bIns="0" rtlCol="0" anchor="t"/>
          <a:lstStyle/>
          <a:p>
            <a:pPr indent="0" marL="0">
              <a:lnSpc>
                <a:spcPct val="110000"/>
              </a:lnSpc>
              <a:buNone/>
            </a:pPr>
            <a:r>
              <a:rPr lang="en-US" sz="1100" dirty="0">
                <a:solidFill>
                  <a:schemeClr val="bg1"/>
                </a:solidFill>
                <a:latin typeface="Courier New" pitchFamily="34" charset="0"/>
                <a:ea typeface="Courier New" pitchFamily="34" charset="-122"/>
                <a:cs typeface="Courier New" pitchFamily="34" charset="-120"/>
              </a:rPr>
              <a:t>int interest = 5;</a:t>
            </a:r>
            <a:endParaRPr lang="en-US" sz="1100" dirty="0"/>
          </a:p>
        </p:txBody>
      </p:sp>
      <p:sp>
        <p:nvSpPr>
          <p:cNvPr id="24" name="text-508"/>
          <p:cNvSpPr txBox="1"/>
          <p:nvPr/>
        </p:nvSpPr>
        <p:spPr>
          <a:xfrm>
            <a:off x="6254496" y="2194560"/>
            <a:ext cx="2286000" cy="228600"/>
          </a:xfrm>
          <a:prstGeom prst="rect">
            <a:avLst/>
          </a:prstGeom>
          <a:noFill/>
          <a:ln/>
        </p:spPr>
        <p:txBody>
          <a:bodyPr wrap="square" lIns="0" tIns="0" rIns="0" bIns="0" rtlCol="0" anchor="t"/>
          <a:lstStyle/>
          <a:p>
            <a:pPr indent="0" marL="0">
              <a:buNone/>
            </a:pPr>
            <a:r>
              <a:rPr lang="en-US" sz="1000" b="1" spc="150" kern="0" dirty="0">
                <a:solidFill>
                  <a:schemeClr val="accent2"/>
                </a:solidFill>
              </a:rPr>
              <a:t>SHIPPED</a:t>
            </a:r>
            <a:endParaRPr lang="en-US" sz="1000" dirty="0"/>
          </a:p>
        </p:txBody>
      </p:sp>
      <p:sp>
        <p:nvSpPr>
          <p:cNvPr id="25" name="text-509"/>
          <p:cNvSpPr txBox="1"/>
          <p:nvPr/>
        </p:nvSpPr>
        <p:spPr>
          <a:xfrm>
            <a:off x="6254496" y="2423160"/>
            <a:ext cx="2286000" cy="777240"/>
          </a:xfrm>
          <a:prstGeom prst="rect">
            <a:avLst/>
          </a:prstGeom>
          <a:noFill/>
          <a:ln/>
        </p:spPr>
        <p:txBody>
          <a:bodyPr wrap="square" lIns="0" tIns="0" rIns="0" bIns="0" rtlCol="0" anchor="t"/>
          <a:lstStyle/>
          <a:p>
            <a:pPr indent="0" marL="0">
              <a:buNone/>
            </a:pPr>
            <a:r>
              <a:rPr lang="en-US" sz="1200" dirty="0">
                <a:solidFill>
                  <a:schemeClr val="bg1"/>
                </a:solidFill>
              </a:rPr>
              <a:t>OK</a:t>
            </a:r>
            <a:endParaRPr lang="en-US" sz="1200" dirty="0"/>
          </a:p>
        </p:txBody>
      </p:sp>
      <p:sp>
        <p:nvSpPr>
          <p:cNvPr id="26" name="text-510"/>
          <p:cNvSpPr txBox="1"/>
          <p:nvPr/>
        </p:nvSpPr>
        <p:spPr>
          <a:xfrm>
            <a:off x="6254496" y="3246120"/>
            <a:ext cx="2286000" cy="228600"/>
          </a:xfrm>
          <a:prstGeom prst="rect">
            <a:avLst/>
          </a:prstGeom>
          <a:noFill/>
          <a:ln/>
        </p:spPr>
        <p:txBody>
          <a:bodyPr wrap="square" lIns="0" tIns="0" rIns="0" bIns="0" rtlCol="0" anchor="t"/>
          <a:lstStyle/>
          <a:p>
            <a:pPr indent="0" marL="0">
              <a:buNone/>
            </a:pPr>
            <a:r>
              <a:rPr lang="en-US" sz="1000" b="1" spc="150" kern="0" dirty="0">
                <a:solidFill>
                  <a:schemeClr val="accent1"/>
                </a:solidFill>
              </a:rPr>
              <a:t>RULE REMOVED</a:t>
            </a:r>
            <a:endParaRPr lang="en-US" sz="1000" dirty="0"/>
          </a:p>
        </p:txBody>
      </p:sp>
      <p:sp>
        <p:nvSpPr>
          <p:cNvPr id="27" name="text-511"/>
          <p:cNvSpPr txBox="1"/>
          <p:nvPr/>
        </p:nvSpPr>
        <p:spPr>
          <a:xfrm>
            <a:off x="6254496" y="3474720"/>
            <a:ext cx="2286000" cy="914400"/>
          </a:xfrm>
          <a:prstGeom prst="rect">
            <a:avLst/>
          </a:prstGeom>
          <a:noFill/>
          <a:ln/>
        </p:spPr>
        <p:txBody>
          <a:bodyPr wrap="square" lIns="0" tIns="0" rIns="0" bIns="0" rtlCol="0" anchor="t"/>
          <a:lstStyle/>
          <a:p>
            <a:pPr indent="0" marL="0">
              <a:buNone/>
            </a:pPr>
            <a:r>
              <a:rPr lang="en-US" sz="1200" dirty="0">
                <a:solidFill>
                  <a:schemeClr val="bg2"/>
                </a:solidFill>
              </a:rPr>
              <a:t>'int' is a reserved keyword and cannot be used as a variable name.</a:t>
            </a:r>
            <a:endParaRPr lang="en-US" sz="1200" dirty="0"/>
          </a:p>
        </p:txBody>
      </p:sp>
      <p:sp>
        <p:nvSpPr>
          <p:cNvPr id="25" name="Slide Number Placeholder 0"/>
          <p:cNvSpPr>
            <a:spLocks noGrp="1"/>
          </p:cNvSpPr>
          <p:nvPr>
            <p:ph type="sldNum" sz="quarter" idx="4294967295"/>
          </p:nvPr>
        </p:nvSpPr>
        <p:spPr>
          <a:xfrm>
            <a:off x="8321040" y="473659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512"/>
          <p:cNvSpPr txBox="1"/>
          <p:nvPr/>
        </p:nvSpPr>
        <p:spPr>
          <a:xfrm>
            <a:off x="457200" y="1325880"/>
            <a:ext cx="1828800" cy="640080"/>
          </a:xfrm>
          <a:prstGeom prst="rect">
            <a:avLst/>
          </a:prstGeom>
          <a:noFill/>
          <a:ln/>
        </p:spPr>
        <p:txBody>
          <a:bodyPr wrap="square" lIns="0" tIns="0" rIns="0" bIns="0" rtlCol="0" anchor="t"/>
          <a:lstStyle/>
          <a:p>
            <a:pPr indent="0" marL="0">
              <a:buNone/>
            </a:pPr>
            <a:r>
              <a:rPr lang="en-US" sz="4000" b="1" dirty="0">
                <a:solidFill>
                  <a:schemeClr val="accent1"/>
                </a:solidFill>
                <a:latin typeface="Courier New" pitchFamily="34" charset="0"/>
                <a:ea typeface="Courier New" pitchFamily="34" charset="-122"/>
                <a:cs typeface="Courier New" pitchFamily="34" charset="-120"/>
              </a:rPr>
              <a:t>06</a:t>
            </a:r>
            <a:endParaRPr lang="en-US" sz="4000" dirty="0"/>
          </a:p>
        </p:txBody>
      </p:sp>
      <p:sp>
        <p:nvSpPr>
          <p:cNvPr id="3" name="Text 0"/>
          <p:cNvSpPr/>
          <p:nvPr>
            <p:ph idx="100" type="title" hasCustomPrompt="1"/>
          </p:nvPr>
        </p:nvSpPr>
        <p:spPr>
          <a:xfrm>
            <a:off x="457200" y="2011680"/>
            <a:ext cx="8229600" cy="822960"/>
          </a:xfrm>
          <a:prstGeom prst="rect">
            <a:avLst/>
          </a:prstGeom>
          <a:noFill/>
          <a:ln/>
        </p:spPr>
        <p:txBody>
          <a:bodyPr wrap="square" lIns="0" tIns="0" rIns="0" bIns="0" rtlCol="0" anchor="ctr"/>
          <a:lstStyle/>
          <a:p>
            <a:pPr algn="l" indent="0" marL="0">
              <a:buNone/>
            </a:pPr>
            <a:r>
              <a:rPr lang="en-US" sz="4000" b="1" dirty="0">
                <a:solidFill>
                  <a:schemeClr val="bg1"/>
                </a:solidFill>
              </a:rPr>
              <a:t>Scope and conclusion</a:t>
            </a:r>
            <a:endParaRPr lang="en-US" sz="4000" dirty="0"/>
          </a:p>
        </p:txBody>
      </p:sp>
      <p:sp>
        <p:nvSpPr>
          <p:cNvPr id="4" name="Text 0"/>
          <p:cNvSpPr/>
          <p:nvPr>
            <p:ph idx="101" type="body" hasCustomPrompt="1"/>
          </p:nvPr>
        </p:nvSpPr>
        <p:spPr>
          <a:xfrm>
            <a:off x="457200" y="2880360"/>
            <a:ext cx="7315200" cy="731520"/>
          </a:xfrm>
          <a:prstGeom prst="rect">
            <a:avLst/>
          </a:prstGeom>
          <a:noFill/>
          <a:ln/>
        </p:spPr>
        <p:txBody>
          <a:bodyPr wrap="square" lIns="0" tIns="0" rIns="0" bIns="0" rtlCol="0" anchor="t"/>
          <a:lstStyle/>
          <a:p>
            <a:pPr indent="0" marL="0">
              <a:buNone/>
            </a:pPr>
            <a:r>
              <a:rPr lang="en-US" sz="1600" dirty="0">
                <a:solidFill>
                  <a:schemeClr val="bg2"/>
                </a:solidFill>
              </a:rPr>
              <a:t>What is built and tested today, and what the original proposal planned next.</a:t>
            </a:r>
            <a:endParaRPr lang="en-US"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algn="l" indent="0" marL="0">
              <a:buNone/>
            </a:pPr>
            <a:r>
              <a:rPr lang="en-US" sz="2600" b="1" dirty="0">
                <a:solidFill>
                  <a:schemeClr val="bg1"/>
                </a:solidFill>
              </a:rPr>
              <a:t>Built today, and what comes next</a:t>
            </a:r>
            <a:endParaRPr lang="en-US" sz="2600" dirty="0"/>
          </a:p>
        </p:txBody>
      </p:sp>
      <p:sp>
        <p:nvSpPr>
          <p:cNvPr id="4" name="panel-513"/>
          <p:cNvSpPr/>
          <p:nvPr/>
        </p:nvSpPr>
        <p:spPr>
          <a:xfrm>
            <a:off x="457200" y="1051560"/>
            <a:ext cx="4023360" cy="3474720"/>
          </a:xfrm>
          <a:prstGeom prst="roundRect">
            <a:avLst>
              <a:gd name="adj" fmla="val 2105"/>
            </a:avLst>
          </a:prstGeom>
          <a:solidFill>
            <a:schemeClr val="tx2"/>
          </a:solidFill>
          <a:ln w="9525">
            <a:solidFill>
              <a:schemeClr val="accent2"/>
            </a:solidFill>
            <a:prstDash val="solid"/>
          </a:ln>
        </p:spPr>
      </p:sp>
      <p:sp>
        <p:nvSpPr>
          <p:cNvPr id="5" name="text-514"/>
          <p:cNvSpPr txBox="1"/>
          <p:nvPr/>
        </p:nvSpPr>
        <p:spPr>
          <a:xfrm>
            <a:off x="685800" y="1188720"/>
            <a:ext cx="2743200" cy="228600"/>
          </a:xfrm>
          <a:prstGeom prst="rect">
            <a:avLst/>
          </a:prstGeom>
          <a:noFill/>
          <a:ln/>
        </p:spPr>
        <p:txBody>
          <a:bodyPr wrap="square" lIns="0" tIns="0" rIns="0" bIns="0" rtlCol="0" anchor="t"/>
          <a:lstStyle/>
          <a:p>
            <a:pPr indent="0" marL="0">
              <a:buNone/>
            </a:pPr>
            <a:r>
              <a:rPr lang="en-US" sz="1000" b="1" spc="150" kern="0" dirty="0">
                <a:solidFill>
                  <a:schemeClr val="accent2"/>
                </a:solidFill>
              </a:rPr>
              <a:t>BUILT AND TESTED</a:t>
            </a:r>
            <a:endParaRPr lang="en-US" sz="1000" dirty="0"/>
          </a:p>
        </p:txBody>
      </p:sp>
      <p:sp>
        <p:nvSpPr>
          <p:cNvPr id="6" name="text-515"/>
          <p:cNvSpPr txBox="1"/>
          <p:nvPr/>
        </p:nvSpPr>
        <p:spPr>
          <a:xfrm>
            <a:off x="685800" y="1508760"/>
            <a:ext cx="3657600" cy="29260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1"/>
                </a:solidFill>
              </a:rPr>
              <a:t>int variables with a required starting value</a:t>
            </a:r>
            <a:endParaRPr lang="en-US" sz="1400" dirty="0"/>
          </a:p>
          <a:p>
            <a:pPr marL="342900" indent="-342900">
              <a:spcAft>
                <a:spcPts val="600"/>
              </a:spcAft>
              <a:buSzPct val="100000"/>
              <a:buChar char="•"/>
            </a:pPr>
            <a:r>
              <a:rPr lang="en-US" sz="1400" dirty="0">
                <a:solidFill>
                  <a:schemeClr val="bg1"/>
                </a:solidFill>
              </a:rPr>
              <a:t>+ - * / with precedence and parentheses</a:t>
            </a:r>
            <a:endParaRPr lang="en-US" sz="1400" dirty="0"/>
          </a:p>
          <a:p>
            <a:pPr marL="342900" indent="-342900">
              <a:spcAft>
                <a:spcPts val="600"/>
              </a:spcAft>
              <a:buSzPct val="100000"/>
              <a:buChar char="•"/>
            </a:pPr>
            <a:r>
              <a:rPr lang="en-US" sz="1400" dirty="0">
                <a:solidFill>
                  <a:schemeClr val="bg1"/>
                </a:solidFill>
              </a:rPr>
              <a:t>print any expression; // comments</a:t>
            </a:r>
            <a:endParaRPr lang="en-US" sz="1400" dirty="0"/>
          </a:p>
          <a:p>
            <a:pPr marL="342900" indent="-342900">
              <a:spcAft>
                <a:spcPts val="600"/>
              </a:spcAft>
              <a:buSzPct val="100000"/>
              <a:buChar char="•"/>
            </a:pPr>
            <a:r>
              <a:rPr lang="en-US" sz="1400" dirty="0">
                <a:solidFill>
                  <a:schemeClr val="bg1"/>
                </a:solidFill>
              </a:rPr>
              <a:t>TAC, symbol table and phase summary</a:t>
            </a:r>
            <a:endParaRPr lang="en-US" sz="1400" dirty="0"/>
          </a:p>
          <a:p>
            <a:pPr marL="342900" indent="-342900">
              <a:spcAft>
                <a:spcPts val="600"/>
              </a:spcAft>
              <a:buSzPct val="100000"/>
              <a:buChar char="•"/>
            </a:pPr>
            <a:r>
              <a:rPr lang="en-US" sz="1400" dirty="0">
                <a:solidFill>
                  <a:schemeClr val="bg1"/>
                </a:solidFill>
              </a:rPr>
              <a:t>Four-field errors with line-accurate hints</a:t>
            </a:r>
            <a:endParaRPr lang="en-US" sz="1400" dirty="0"/>
          </a:p>
          <a:p>
            <a:pPr marL="342900" indent="-342900">
              <a:spcAft>
                <a:spcPts val="600"/>
              </a:spcAft>
              <a:buSzPct val="100000"/>
              <a:buChar char="•"/>
            </a:pPr>
            <a:r>
              <a:rPr lang="en-US" sz="1400" dirty="0">
                <a:solidFill>
                  <a:schemeClr val="bg1"/>
                </a:solidFill>
              </a:rPr>
              <a:t>Web playground and make test (10/10)</a:t>
            </a:r>
            <a:endParaRPr lang="en-US" sz="1400" dirty="0"/>
          </a:p>
        </p:txBody>
      </p:sp>
      <p:sp>
        <p:nvSpPr>
          <p:cNvPr id="7" name="panel-516"/>
          <p:cNvSpPr/>
          <p:nvPr/>
        </p:nvSpPr>
        <p:spPr>
          <a:xfrm>
            <a:off x="4663440" y="1051560"/>
            <a:ext cx="4023360" cy="3474720"/>
          </a:xfrm>
          <a:prstGeom prst="roundRect">
            <a:avLst>
              <a:gd name="adj" fmla="val 2105"/>
            </a:avLst>
          </a:prstGeom>
          <a:solidFill>
            <a:schemeClr val="tx2"/>
          </a:solidFill>
          <a:ln w="9525">
            <a:solidFill>
              <a:schemeClr val="accent5"/>
            </a:solidFill>
            <a:prstDash val="solid"/>
          </a:ln>
        </p:spPr>
      </p:sp>
      <p:sp>
        <p:nvSpPr>
          <p:cNvPr id="8" name="text-517"/>
          <p:cNvSpPr txBox="1"/>
          <p:nvPr/>
        </p:nvSpPr>
        <p:spPr>
          <a:xfrm>
            <a:off x="4892040" y="1188720"/>
            <a:ext cx="3657600" cy="228600"/>
          </a:xfrm>
          <a:prstGeom prst="rect">
            <a:avLst/>
          </a:prstGeom>
          <a:noFill/>
          <a:ln/>
        </p:spPr>
        <p:txBody>
          <a:bodyPr wrap="square" lIns="0" tIns="0" rIns="0" bIns="0" rtlCol="0" anchor="t"/>
          <a:lstStyle/>
          <a:p>
            <a:pPr indent="0" marL="0">
              <a:buNone/>
            </a:pPr>
            <a:r>
              <a:rPr lang="en-US" sz="1000" b="1" spc="150" kern="0" dirty="0">
                <a:solidFill>
                  <a:schemeClr val="accent3"/>
                </a:solidFill>
              </a:rPr>
              <a:t>NEXT, FROM THE PROPOSAL (NOT BUILT)</a:t>
            </a:r>
            <a:endParaRPr lang="en-US" sz="1000" dirty="0"/>
          </a:p>
        </p:txBody>
      </p:sp>
      <p:sp>
        <p:nvSpPr>
          <p:cNvPr id="9" name="text-518"/>
          <p:cNvSpPr txBox="1"/>
          <p:nvPr/>
        </p:nvSpPr>
        <p:spPr>
          <a:xfrm>
            <a:off x="4892040" y="1508760"/>
            <a:ext cx="3657600" cy="29260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2"/>
                </a:solidFill>
              </a:rPr>
              <a:t>if / else, while and for loops</a:t>
            </a:r>
            <a:endParaRPr lang="en-US" sz="1400" dirty="0"/>
          </a:p>
          <a:p>
            <a:pPr marL="342900" indent="-342900">
              <a:spcAft>
                <a:spcPts val="600"/>
              </a:spcAft>
              <a:buSzPct val="100000"/>
              <a:buChar char="•"/>
            </a:pPr>
            <a:r>
              <a:rPr lang="en-US" sz="1400" dirty="0">
                <a:solidFill>
                  <a:schemeClr val="bg2"/>
                </a:solidFill>
              </a:rPr>
              <a:t>Comparison and logical operators, printf</a:t>
            </a:r>
            <a:endParaRPr lang="en-US" sz="1400" dirty="0"/>
          </a:p>
          <a:p>
            <a:pPr marL="342900" indent="-342900">
              <a:spcAft>
                <a:spcPts val="600"/>
              </a:spcAft>
              <a:buSzPct val="100000"/>
              <a:buChar char="•"/>
            </a:pPr>
            <a:r>
              <a:rPr lang="en-US" sz="1400" dirty="0">
                <a:solidFill>
                  <a:schemeClr val="bg2"/>
                </a:solidFill>
              </a:rPr>
              <a:t>Error recovery: several errors per run</a:t>
            </a:r>
            <a:endParaRPr lang="en-US" sz="1400" dirty="0"/>
          </a:p>
          <a:p>
            <a:pPr marL="342900" indent="-342900">
              <a:spcAft>
                <a:spcPts val="600"/>
              </a:spcAft>
              <a:buSzPct val="100000"/>
              <a:buChar char="•"/>
            </a:pPr>
            <a:r>
              <a:rPr lang="en-US" sz="1400" dirty="0">
                <a:solidFill>
                  <a:schemeClr val="bg2"/>
                </a:solidFill>
              </a:rPr>
              <a:t>Functions and arrays; char and float</a:t>
            </a:r>
            <a:endParaRPr lang="en-US" sz="1400" dirty="0"/>
          </a:p>
          <a:p>
            <a:pPr marL="342900" indent="-342900">
              <a:spcAft>
                <a:spcPts val="600"/>
              </a:spcAft>
              <a:buSzPct val="100000"/>
              <a:buChar char="•"/>
            </a:pPr>
            <a:r>
              <a:rPr lang="en-US" sz="1400" dirty="0">
                <a:solidFill>
                  <a:schemeClr val="bg2"/>
                </a:solidFill>
              </a:rPr>
              <a:t>Constant folding and other optimisations</a:t>
            </a:r>
            <a:endParaRPr lang="en-US" sz="1400" dirty="0"/>
          </a:p>
          <a:p>
            <a:pPr marL="342900" indent="-342900">
              <a:spcAft>
                <a:spcPts val="600"/>
              </a:spcAft>
              <a:buSzPct val="100000"/>
              <a:buChar char="•"/>
            </a:pPr>
            <a:r>
              <a:rPr lang="en-US" sz="1400" dirty="0">
                <a:solidFill>
                  <a:schemeClr val="bg2"/>
                </a:solidFill>
              </a:rPr>
              <a:t>Assembly backend from TAC</a:t>
            </a:r>
            <a:endParaRPr lang="en-US" sz="1400" dirty="0"/>
          </a:p>
        </p:txBody>
      </p:sp>
      <p:sp>
        <p:nvSpPr>
          <p:cNvPr id="25" name="Slide Number Placeholder 0"/>
          <p:cNvSpPr>
            <a:spLocks noGrp="1"/>
          </p:cNvSpPr>
          <p:nvPr>
            <p:ph type="sldNum" sz="quarter" idx="4294967295"/>
          </p:nvPr>
        </p:nvSpPr>
        <p:spPr>
          <a:xfrm>
            <a:off x="8321040" y="4736592"/>
            <a:ext cx="36576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bg2"/>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457200" y="1097280"/>
            <a:ext cx="4389120" cy="914400"/>
          </a:xfrm>
          <a:prstGeom prst="rect">
            <a:avLst/>
          </a:prstGeom>
          <a:noFill/>
          <a:ln/>
        </p:spPr>
        <p:txBody>
          <a:bodyPr wrap="square" lIns="0" tIns="0" rIns="0" bIns="0" rtlCol="0" anchor="ctr"/>
          <a:lstStyle/>
          <a:p>
            <a:pPr algn="l" indent="0" marL="0">
              <a:buNone/>
            </a:pPr>
            <a:r>
              <a:rPr lang="en-US" sz="4600" b="1" dirty="0">
                <a:solidFill>
                  <a:schemeClr val="bg1"/>
                </a:solidFill>
              </a:rPr>
              <a:t>Error</a:t>
            </a:r>
            <a:pPr algn="l" indent="0" marL="0">
              <a:buNone/>
            </a:pPr>
            <a:r>
              <a:rPr lang="en-US" sz="4600" b="1" dirty="0">
                <a:solidFill>
                  <a:schemeClr val="accent1"/>
                </a:solidFill>
              </a:rPr>
              <a:t>Buddy</a:t>
            </a:r>
            <a:endParaRPr lang="en-US" sz="4600" dirty="0"/>
          </a:p>
        </p:txBody>
      </p:sp>
      <p:sp>
        <p:nvSpPr>
          <p:cNvPr id="3" name="Text 0"/>
          <p:cNvSpPr/>
          <p:nvPr>
            <p:ph idx="101" type="body" hasCustomPrompt="1"/>
          </p:nvPr>
        </p:nvSpPr>
        <p:spPr>
          <a:xfrm>
            <a:off x="457200" y="2148840"/>
            <a:ext cx="4114800" cy="1097280"/>
          </a:xfrm>
          <a:prstGeom prst="rect">
            <a:avLst/>
          </a:prstGeom>
          <a:noFill/>
          <a:ln/>
        </p:spPr>
        <p:txBody>
          <a:bodyPr wrap="square" lIns="0" tIns="0" rIns="0" bIns="0" rtlCol="0" anchor="t"/>
          <a:lstStyle/>
          <a:p>
            <a:pPr indent="0" marL="0">
              <a:buNone/>
            </a:pPr>
            <a:r>
              <a:rPr lang="en-US" sz="1800" dirty="0">
                <a:solidFill>
                  <a:schemeClr val="bg2"/>
                </a:solidFill>
              </a:rPr>
              <a:t>A complete small compiler, lexer to three-address code, whose main contribution is errors that teach: the right line, plain words, and a concrete fix.</a:t>
            </a:r>
            <a:endParaRPr lang="en-US" sz="1800" dirty="0"/>
          </a:p>
        </p:txBody>
      </p:sp>
      <p:sp>
        <p:nvSpPr>
          <p:cNvPr id="4" name="text-519"/>
          <p:cNvSpPr txBox="1"/>
          <p:nvPr/>
        </p:nvSpPr>
        <p:spPr>
          <a:xfrm>
            <a:off x="457200" y="3611880"/>
            <a:ext cx="4023360" cy="365760"/>
          </a:xfrm>
          <a:prstGeom prst="rect">
            <a:avLst/>
          </a:prstGeom>
          <a:noFill/>
          <a:ln/>
        </p:spPr>
        <p:txBody>
          <a:bodyPr wrap="square" lIns="0" tIns="0" rIns="0" bIns="0" rtlCol="0" anchor="t"/>
          <a:lstStyle/>
          <a:p>
            <a:pPr indent="0" marL="0">
              <a:buNone/>
            </a:pPr>
            <a:r>
              <a:rPr lang="en-US" sz="1800" i="1" dirty="0">
                <a:solidFill>
                  <a:schemeClr val="bg2"/>
                </a:solidFill>
              </a:rPr>
              <a:t>Thank you</a:t>
            </a:r>
            <a:endParaRPr lang="en-US" sz="1800" dirty="0"/>
          </a:p>
        </p:txBody>
      </p:sp>
      <p:sp>
        <p:nvSpPr>
          <p:cNvPr id="5" name="text-520"/>
          <p:cNvSpPr txBox="1"/>
          <p:nvPr/>
        </p:nvSpPr>
        <p:spPr>
          <a:xfrm>
            <a:off x="4937760" y="1234440"/>
            <a:ext cx="2743200" cy="228600"/>
          </a:xfrm>
          <a:prstGeom prst="rect">
            <a:avLst/>
          </a:prstGeom>
          <a:noFill/>
          <a:ln/>
        </p:spPr>
        <p:txBody>
          <a:bodyPr wrap="square" lIns="0" tIns="0" rIns="0" bIns="0" rtlCol="0" anchor="t"/>
          <a:lstStyle/>
          <a:p>
            <a:pPr indent="0" marL="0">
              <a:buNone/>
            </a:pPr>
            <a:r>
              <a:rPr lang="en-US" sz="1000" b="1" spc="150" kern="0" dirty="0">
                <a:solidFill>
                  <a:schemeClr val="bg2"/>
                </a:solidFill>
              </a:rPr>
              <a:t>TRY IT</a:t>
            </a:r>
            <a:endParaRPr lang="en-US" sz="1000" dirty="0"/>
          </a:p>
        </p:txBody>
      </p:sp>
      <p:sp>
        <p:nvSpPr>
          <p:cNvPr id="6" name="panel-521"/>
          <p:cNvSpPr/>
          <p:nvPr/>
        </p:nvSpPr>
        <p:spPr>
          <a:xfrm>
            <a:off x="4937760" y="1508760"/>
            <a:ext cx="3749040" cy="1920240"/>
          </a:xfrm>
          <a:prstGeom prst="roundRect">
            <a:avLst>
              <a:gd name="adj" fmla="val 3810"/>
            </a:avLst>
          </a:prstGeom>
          <a:solidFill>
            <a:schemeClr val="tx1"/>
          </a:solidFill>
          <a:ln w="9525">
            <a:solidFill>
              <a:schemeClr val="accent5"/>
            </a:solidFill>
            <a:prstDash val="solid"/>
          </a:ln>
        </p:spPr>
      </p:sp>
      <p:sp>
        <p:nvSpPr>
          <p:cNvPr id="7" name="text-522"/>
          <p:cNvSpPr txBox="1"/>
          <p:nvPr/>
        </p:nvSpPr>
        <p:spPr>
          <a:xfrm>
            <a:off x="5074920" y="1618488"/>
            <a:ext cx="3474720" cy="1700784"/>
          </a:xfrm>
          <a:prstGeom prst="rect">
            <a:avLst/>
          </a:prstGeom>
          <a:noFill/>
          <a:ln/>
        </p:spPr>
        <p:txBody>
          <a:bodyPr wrap="square" lIns="0" tIns="0" rIns="0" bIns="0" rtlCol="0" anchor="t"/>
          <a:lstStyle/>
          <a:p>
            <a:pPr indent="0" marL="0">
              <a:lnSpc>
                <a:spcPct val="110000"/>
              </a:lnSpc>
              <a:buNone/>
            </a:pPr>
            <a:r>
              <a:rPr lang="en-US" sz="1200" dirty="0">
                <a:solidFill>
                  <a:srgbClr val="4CC38A"/>
                </a:solidFill>
                <a:latin typeface="Courier New" pitchFamily="34" charset="0"/>
                <a:ea typeface="Courier New" pitchFamily="34" charset="-122"/>
                <a:cs typeface="Courier New" pitchFamily="34" charset="-120"/>
              </a:rPr>
              <a:t>$ </a:t>
            </a:r>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make test</a:t>
            </a:r>
            <a:endParaRPr lang="en-US" sz="1200" dirty="0"/>
          </a:p>
          <a:p>
            <a:pPr indent="0" marL="0">
              <a:lnSpc>
                <a:spcPct val="110000"/>
              </a:lnSpc>
              <a:buNone/>
            </a:pPr>
            <a:r>
              <a:rPr lang="en-US" sz="1200" dirty="0">
                <a:solidFill>
                  <a:srgbClr val="4CC38A"/>
                </a:solidFill>
                <a:latin typeface="Courier New" pitchFamily="34" charset="0"/>
                <a:ea typeface="Courier New" pitchFamily="34" charset="-122"/>
                <a:cs typeface="Courier New" pitchFamily="34" charset="-120"/>
              </a:rPr>
              <a:t>$ </a:t>
            </a:r>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make run FILE=examples/valid.txt</a:t>
            </a:r>
            <a:endParaRPr lang="en-US" sz="1200" dirty="0"/>
          </a:p>
          <a:p>
            <a:pPr indent="0" marL="0">
              <a:lnSpc>
                <a:spcPct val="110000"/>
              </a:lnSpc>
              <a:buNone/>
            </a:pPr>
            <a:r>
              <a:rPr lang="en-US" sz="1200" dirty="0">
                <a:solidFill>
                  <a:srgbClr val="4CC38A"/>
                </a:solidFill>
                <a:latin typeface="Courier New" pitchFamily="34" charset="0"/>
                <a:ea typeface="Courier New" pitchFamily="34" charset="-122"/>
                <a:cs typeface="Courier New" pitchFamily="34" charset="-120"/>
              </a:rPr>
              <a:t>$ </a:t>
            </a:r>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make web</a:t>
            </a:r>
            <a:endParaRPr lang="en-US" sz="1200" dirty="0"/>
          </a:p>
          <a:p>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  → http://localhost:8795</a:t>
            </a:r>
            <a:endParaRPr lang="en-US" sz="1200" dirty="0"/>
          </a:p>
          <a:p>
            <a:pPr indent="0" marL="0">
              <a:lnSpc>
                <a:spcPct val="110000"/>
              </a:lnSpc>
              <a:buNone/>
            </a:pPr>
            <a:r>
              <a:rPr lang="en-US" sz="1200" dirty="0">
                <a:solidFill>
                  <a:srgbClr val="4CC38A"/>
                </a:solidFill>
                <a:latin typeface="Courier New" pitchFamily="34" charset="0"/>
                <a:ea typeface="Courier New" pitchFamily="34" charset="-122"/>
                <a:cs typeface="Courier New" pitchFamily="34" charset="-120"/>
              </a:rPr>
              <a:t>$ </a:t>
            </a:r>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python3 case_study/run_study.py</a:t>
            </a:r>
            <a:endParaRPr lang="en-US" sz="1200" dirty="0"/>
          </a:p>
        </p:txBody>
      </p:sp>
    </p:spTree>
  </p:cSld>
  <p:clrMapOvr>
    <a:masterClrMapping/>
  </p:clrMapOvr>
</p:sld>
</file>

<file path=ppt/theme/theme1.xml><?xml version="1.0" encoding="utf-8"?>
<a:theme xmlns:a="http://schemas.openxmlformats.org/drawingml/2006/main" name="ErrorBuddy Terminal">
  <a:themeElements>
    <a:clrScheme name="ErrorBuddy Terminal">
      <a:dk1>
        <a:srgbClr val="101318"/>
      </a:dk1>
      <a:lt1>
        <a:srgbClr val="ECE8E1"/>
      </a:lt1>
      <a:dk2>
        <a:srgbClr val="1A1E25"/>
      </a:dk2>
      <a:lt2>
        <a:srgbClr val="9AA2AD"/>
      </a:lt2>
      <a:accent1>
        <a:srgbClr val="F2775F"/>
      </a:accent1>
      <a:accent2>
        <a:srgbClr val="4CC38A"/>
      </a:accent2>
      <a:accent3>
        <a:srgbClr val="E2B451"/>
      </a:accent3>
      <a:accent4>
        <a:srgbClr val="7FA8F5"/>
      </a:accent4>
      <a:accent5>
        <a:srgbClr val="2D333D"/>
      </a:accent5>
      <a:accent6>
        <a:srgbClr val="C39BF0"/>
      </a:accent6>
      <a:hlink>
        <a:srgbClr val="7FA8F5"/>
      </a:hlink>
      <a:folHlink>
        <a:srgbClr val="C39BF0"/>
      </a:folHlink>
    </a:clrScheme>
    <a:fontScheme name="ErrorBuddy Termin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ErrorBuddy: complete architecture and explanation</dc:title>
  <dc:subject>PptxGenJS Presentation</dc:subject>
  <dc:creator>Vardan Pandya</dc:creator>
  <cp:lastModifiedBy>Vardan Pandya</cp:lastModifiedBy>
  <cp:revision>1</cp:revision>
  <dcterms:created xsi:type="dcterms:W3CDTF">2026-10-26T16:21:46Z</dcterms:created>
  <dcterms:modified xsi:type="dcterms:W3CDTF">2026-10-26T16:21:46Z</dcterms:modified>
</cp:coreProperties>
</file>